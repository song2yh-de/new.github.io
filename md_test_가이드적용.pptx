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92" r:id="rId2"/>
    <p:sldId id="323" r:id="rId3"/>
    <p:sldId id="293" r:id="rId4"/>
    <p:sldId id="381" r:id="rId5"/>
    <p:sldId id="382" r:id="rId6"/>
    <p:sldId id="383" r:id="rId7"/>
    <p:sldId id="294" r:id="rId8"/>
    <p:sldId id="385" r:id="rId9"/>
  </p:sldIdLst>
  <p:sldSz cx="17820000" cy="12347999" type="A4"/>
  <p:notesSz cx="6797675" cy="9926638"/>
  <p:defaultTextStyle>
    <a:defPPr>
      <a:defRPr lang="ko-KR"/>
    </a:defPPr>
    <a:lvl1pPr marL="0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7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3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0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47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33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20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07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94" algn="l" defTabSz="914373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4133" userDrawn="1">
          <p15:clr>
            <a:srgbClr val="A4A3A4"/>
          </p15:clr>
        </p15:guide>
        <p15:guide id="5" pos="104" userDrawn="1">
          <p15:clr>
            <a:srgbClr val="A4A3A4"/>
          </p15:clr>
        </p15:guide>
        <p15:guide id="6" pos="3211" userDrawn="1">
          <p15:clr>
            <a:srgbClr val="A4A3A4"/>
          </p15:clr>
        </p15:guide>
        <p15:guide id="7" pos="6136" userDrawn="1">
          <p15:clr>
            <a:srgbClr val="A4A3A4"/>
          </p15:clr>
        </p15:guide>
        <p15:guide id="8" pos="3029" userDrawn="1">
          <p15:clr>
            <a:srgbClr val="A4A3A4"/>
          </p15:clr>
        </p15:guide>
        <p15:guide id="9" orient="horz" pos="3090" userDrawn="1">
          <p15:clr>
            <a:srgbClr val="A4A3A4"/>
          </p15:clr>
        </p15:guide>
        <p15:guide id="10" orient="horz" pos="3906" userDrawn="1">
          <p15:clr>
            <a:srgbClr val="A4A3A4"/>
          </p15:clr>
        </p15:guide>
        <p15:guide id="11" orient="horz" pos="3566" userDrawn="1">
          <p15:clr>
            <a:srgbClr val="A4A3A4"/>
          </p15:clr>
        </p15:guide>
        <p15:guide id="12" orient="horz" pos="1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E21"/>
    <a:srgbClr val="FDF3F1"/>
    <a:srgbClr val="003366"/>
    <a:srgbClr val="D05400"/>
    <a:srgbClr val="FF6600"/>
    <a:srgbClr val="FFCCCC"/>
    <a:srgbClr val="FBE5D6"/>
    <a:srgbClr val="C00000"/>
    <a:srgbClr val="FF9999"/>
    <a:srgbClr val="A6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7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076" y="150"/>
      </p:cViewPr>
      <p:guideLst>
        <p:guide orient="horz" pos="2160"/>
        <p:guide pos="3120"/>
        <p:guide orient="horz" pos="935"/>
        <p:guide orient="horz" pos="4133"/>
        <p:guide pos="104"/>
        <p:guide pos="3211"/>
        <p:guide pos="6136"/>
        <p:guide pos="3029"/>
        <p:guide orient="horz" pos="3090"/>
        <p:guide orient="horz" pos="3906"/>
        <p:guide orient="horz" pos="3566"/>
        <p:guide orient="horz" pos="1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gen-dedup-adcba4826aabe296a1f5ac9595906fab.png">
            <a:extLst>
              <a:ext uri="{FF2B5EF4-FFF2-40B4-BE49-F238E27FC236}">
                <a16:creationId xmlns:a16="http://schemas.microsoft.com/office/drawing/2014/main" id="{343AA3DA-BE77-9A1A-21DA-C387AD3540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4" b="-4"/>
          <a:stretch/>
        </p:blipFill>
        <p:spPr>
          <a:xfrm>
            <a:off x="1" y="0"/>
            <a:ext cx="5689789" cy="12347999"/>
          </a:xfrm>
          <a:prstGeom prst="rect">
            <a:avLst/>
          </a:prstGeom>
        </p:spPr>
      </p:pic>
      <p:sp>
        <p:nvSpPr>
          <p:cNvPr id="6" name="Text 34">
            <a:extLst>
              <a:ext uri="{FF2B5EF4-FFF2-40B4-BE49-F238E27FC236}">
                <a16:creationId xmlns:a16="http://schemas.microsoft.com/office/drawing/2014/main" id="{4283B8E5-549D-836C-3170-6D3783B9647D}"/>
              </a:ext>
            </a:extLst>
          </p:cNvPr>
          <p:cNvSpPr txBox="1"/>
          <p:nvPr userDrawn="1"/>
        </p:nvSpPr>
        <p:spPr>
          <a:xfrm>
            <a:off x="685933" y="1063573"/>
            <a:ext cx="5140384" cy="25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19" b="1" kern="0" spc="225" dirty="0">
                <a:solidFill>
                  <a:srgbClr val="B52C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 OF CONTENTS</a:t>
            </a:r>
            <a:endParaRPr lang="en-US" sz="900" dirty="0">
              <a:solidFill>
                <a:srgbClr val="B52C16"/>
              </a:solidFill>
            </a:endParaRPr>
          </a:p>
        </p:txBody>
      </p:sp>
      <p:sp>
        <p:nvSpPr>
          <p:cNvPr id="7" name="Text 35">
            <a:extLst>
              <a:ext uri="{FF2B5EF4-FFF2-40B4-BE49-F238E27FC236}">
                <a16:creationId xmlns:a16="http://schemas.microsoft.com/office/drawing/2014/main" id="{F93A92FF-9432-CBD0-1892-43BCD8F0DF3F}"/>
              </a:ext>
            </a:extLst>
          </p:cNvPr>
          <p:cNvSpPr txBox="1"/>
          <p:nvPr userDrawn="1"/>
        </p:nvSpPr>
        <p:spPr>
          <a:xfrm>
            <a:off x="685933" y="2031658"/>
            <a:ext cx="5140384" cy="943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56" b="1" kern="0" spc="-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700" dirty="0"/>
          </a:p>
        </p:txBody>
      </p:sp>
      <p:sp>
        <p:nvSpPr>
          <p:cNvPr id="9" name="Text 36">
            <a:extLst>
              <a:ext uri="{FF2B5EF4-FFF2-40B4-BE49-F238E27FC236}">
                <a16:creationId xmlns:a16="http://schemas.microsoft.com/office/drawing/2014/main" id="{6A3495CD-531C-8B4A-BF3C-49FDBD0E9321}"/>
              </a:ext>
            </a:extLst>
          </p:cNvPr>
          <p:cNvSpPr txBox="1"/>
          <p:nvPr userDrawn="1"/>
        </p:nvSpPr>
        <p:spPr>
          <a:xfrm>
            <a:off x="685931" y="3754402"/>
            <a:ext cx="4882357" cy="823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kai-M 3.0 UI </a:t>
            </a:r>
            <a:r>
              <a:rPr lang="ko-KR" altLang="en-US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및 공통 </a:t>
            </a:r>
            <a:r>
              <a:rPr lang="en-US" altLang="ko-KR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Framework </a:t>
            </a:r>
            <a:br>
              <a:rPr lang="en-US" altLang="ko-KR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기술전환을 위한 </a:t>
            </a:r>
            <a:r>
              <a:rPr lang="en-US" sz="1979" dirty="0" err="1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</a:t>
            </a:r>
            <a:r>
              <a:rPr lang="en-US" sz="1979" dirty="0">
                <a:solidFill>
                  <a:srgbClr val="E7E6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목차입니다.</a:t>
            </a:r>
            <a:endParaRPr lang="en-US" sz="1100" dirty="0"/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7D854036-1702-CACA-8D18-6B58C6E360B4}"/>
              </a:ext>
            </a:extLst>
          </p:cNvPr>
          <p:cNvSpPr/>
          <p:nvPr userDrawn="1"/>
        </p:nvSpPr>
        <p:spPr>
          <a:xfrm>
            <a:off x="685933" y="10632449"/>
            <a:ext cx="5140384" cy="16463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38">
            <a:extLst>
              <a:ext uri="{FF2B5EF4-FFF2-40B4-BE49-F238E27FC236}">
                <a16:creationId xmlns:a16="http://schemas.microsoft.com/office/drawing/2014/main" id="{EC5438B2-6D98-4B97-F45C-1709F164D4F4}"/>
              </a:ext>
            </a:extLst>
          </p:cNvPr>
          <p:cNvSpPr txBox="1"/>
          <p:nvPr userDrawn="1"/>
        </p:nvSpPr>
        <p:spPr>
          <a:xfrm>
            <a:off x="685933" y="10993012"/>
            <a:ext cx="875099" cy="498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38" b="1" kern="0" spc="-75" dirty="0">
                <a:solidFill>
                  <a:srgbClr val="B52C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KCB</a:t>
            </a:r>
            <a:endParaRPr lang="en-US" sz="1800" dirty="0">
              <a:solidFill>
                <a:srgbClr val="B52C16"/>
              </a:solidFill>
            </a:endParaRPr>
          </a:p>
        </p:txBody>
      </p:sp>
      <p:sp>
        <p:nvSpPr>
          <p:cNvPr id="12" name="Text 39">
            <a:extLst>
              <a:ext uri="{FF2B5EF4-FFF2-40B4-BE49-F238E27FC236}">
                <a16:creationId xmlns:a16="http://schemas.microsoft.com/office/drawing/2014/main" id="{556F9816-D23B-97CC-5C5B-536B8E99BC40}"/>
              </a:ext>
            </a:extLst>
          </p:cNvPr>
          <p:cNvSpPr txBox="1"/>
          <p:nvPr userDrawn="1"/>
        </p:nvSpPr>
        <p:spPr>
          <a:xfrm>
            <a:off x="1654791" y="11139540"/>
            <a:ext cx="1421214" cy="27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39" kern="0" spc="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한국크레딧뷰로</a:t>
            </a:r>
            <a:endParaRPr lang="en-US" sz="800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685931" y="3367269"/>
            <a:ext cx="857006" cy="74835"/>
          </a:xfrm>
          <a:prstGeom prst="rect">
            <a:avLst/>
          </a:prstGeom>
          <a:solidFill>
            <a:srgbClr val="B52C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1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662" y="595795"/>
            <a:ext cx="1675765" cy="4115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9150" y="621521"/>
            <a:ext cx="986953" cy="36014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662" y="2863543"/>
            <a:ext cx="7391873" cy="3817589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558913" y="7091354"/>
            <a:ext cx="2535311" cy="720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98">
                <a:solidFill>
                  <a:srgbClr val="FBFAF7"/>
                </a:solidFill>
              </a:rPr>
              <a:t>2026. 05.06</a:t>
            </a:r>
          </a:p>
        </p:txBody>
      </p:sp>
    </p:spTree>
    <p:extLst>
      <p:ext uri="{BB962C8B-B14F-4D97-AF65-F5344CB8AC3E}">
        <p14:creationId xmlns:p14="http://schemas.microsoft.com/office/powerpoint/2010/main" val="403691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 20"/>
          <p:cNvSpPr/>
          <p:nvPr userDrawn="1"/>
        </p:nvSpPr>
        <p:spPr>
          <a:xfrm>
            <a:off x="8357378" y="11907732"/>
            <a:ext cx="1105242" cy="440266"/>
          </a:xfrm>
          <a:custGeom>
            <a:avLst/>
            <a:gdLst>
              <a:gd name="connsiteX0" fmla="*/ 307198 w 614396"/>
              <a:gd name="connsiteY0" fmla="*/ 0 h 244521"/>
              <a:gd name="connsiteX1" fmla="*/ 598412 w 614396"/>
              <a:gd name="connsiteY1" fmla="*/ 193030 h 244521"/>
              <a:gd name="connsiteX2" fmla="*/ 614396 w 614396"/>
              <a:gd name="connsiteY2" fmla="*/ 244521 h 244521"/>
              <a:gd name="connsiteX3" fmla="*/ 0 w 614396"/>
              <a:gd name="connsiteY3" fmla="*/ 244521 h 244521"/>
              <a:gd name="connsiteX4" fmla="*/ 15984 w 614396"/>
              <a:gd name="connsiteY4" fmla="*/ 193030 h 244521"/>
              <a:gd name="connsiteX5" fmla="*/ 307198 w 614396"/>
              <a:gd name="connsiteY5" fmla="*/ 0 h 24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4396" h="244521">
                <a:moveTo>
                  <a:pt x="307198" y="0"/>
                </a:moveTo>
                <a:cubicBezTo>
                  <a:pt x="438111" y="0"/>
                  <a:pt x="550433" y="79594"/>
                  <a:pt x="598412" y="193030"/>
                </a:cubicBezTo>
                <a:lnTo>
                  <a:pt x="614396" y="244521"/>
                </a:lnTo>
                <a:lnTo>
                  <a:pt x="0" y="244521"/>
                </a:lnTo>
                <a:lnTo>
                  <a:pt x="15984" y="193030"/>
                </a:lnTo>
                <a:cubicBezTo>
                  <a:pt x="63963" y="79594"/>
                  <a:pt x="176286" y="0"/>
                  <a:pt x="307198" y="0"/>
                </a:cubicBezTo>
                <a:close/>
              </a:path>
            </a:pathLst>
          </a:custGeom>
          <a:solidFill>
            <a:srgbClr val="B52C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2119224"/>
            <a:ext cx="17820000" cy="6481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503020000020004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ctrTitle" hasCustomPrompt="1"/>
          </p:nvPr>
        </p:nvSpPr>
        <p:spPr>
          <a:xfrm>
            <a:off x="2886194" y="457958"/>
            <a:ext cx="9912669" cy="64539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878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sp>
        <p:nvSpPr>
          <p:cNvPr id="20" name="텍스트 개체 틀 16"/>
          <p:cNvSpPr>
            <a:spLocks noGrp="1"/>
          </p:cNvSpPr>
          <p:nvPr>
            <p:ph type="body" sz="quarter" idx="10"/>
          </p:nvPr>
        </p:nvSpPr>
        <p:spPr>
          <a:xfrm>
            <a:off x="461940" y="1215442"/>
            <a:ext cx="16410021" cy="6449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2159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08369" y="11964820"/>
            <a:ext cx="603262" cy="4156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619" b="1" smtClean="0">
                <a:solidFill>
                  <a:schemeClr val="bg1"/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900" b="1" dirty="0">
              <a:solidFill>
                <a:schemeClr val="bg1"/>
              </a:solidFill>
              <a:latin typeface="Noto Sans KR" panose="020B0503020000020004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2108175"/>
            <a:ext cx="17820000" cy="0"/>
          </a:xfrm>
          <a:prstGeom prst="line">
            <a:avLst/>
          </a:prstGeom>
          <a:ln w="6350">
            <a:solidFill>
              <a:srgbClr val="A8A192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 userDrawn="1"/>
        </p:nvSpPr>
        <p:spPr>
          <a:xfrm>
            <a:off x="14534246" y="465655"/>
            <a:ext cx="2970167" cy="4433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Kai-M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3.0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구축 및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/>
            </a:r>
            <a:b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</a:b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공통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Framework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기술 전환 사업</a:t>
            </a: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0" y="503916"/>
            <a:ext cx="2792740" cy="412152"/>
            <a:chOff x="548623" y="3580564"/>
            <a:chExt cx="1552463" cy="228907"/>
          </a:xfrm>
        </p:grpSpPr>
        <p:sp>
          <p:nvSpPr>
            <p:cNvPr id="12" name="모서리가 둥근 직사각형 11"/>
            <p:cNvSpPr/>
            <p:nvPr userDrawn="1"/>
          </p:nvSpPr>
          <p:spPr>
            <a:xfrm>
              <a:off x="2134741" y="6446894"/>
              <a:ext cx="1644923" cy="412152"/>
            </a:xfrm>
            <a:prstGeom prst="roundRect">
              <a:avLst>
                <a:gd name="adj" fmla="val 50000"/>
              </a:avLst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986923" y="6446894"/>
              <a:ext cx="1924255" cy="412152"/>
            </a:xfrm>
            <a:prstGeom prst="rect">
              <a:avLst/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</p:grpSp>
      <p:sp>
        <p:nvSpPr>
          <p:cNvPr id="34" name="Text Placeholder 3"/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-69833" y="498216"/>
            <a:ext cx="3091100" cy="408171"/>
          </a:xfrm>
        </p:spPr>
        <p:txBody>
          <a:bodyPr anchor="ctr">
            <a:normAutofit/>
          </a:bodyPr>
          <a:lstStyle>
            <a:lvl1pPr marL="0" indent="0">
              <a:buNone/>
              <a:defRPr sz="1619" b="1" baseline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457200" indent="0">
              <a:buNone/>
              <a:defRPr sz="2518"/>
            </a:lvl2pPr>
            <a:lvl3pPr marL="914400" indent="0">
              <a:buNone/>
              <a:defRPr sz="2159"/>
            </a:lvl3pPr>
            <a:lvl4pPr marL="1371600" indent="0">
              <a:buNone/>
              <a:defRPr sz="1799"/>
            </a:lvl4pPr>
            <a:lvl5pPr marL="1828800" indent="0">
              <a:buNone/>
              <a:defRPr sz="1799"/>
            </a:lvl5pPr>
            <a:lvl6pPr marL="2286000" indent="0">
              <a:buNone/>
              <a:defRPr sz="1799"/>
            </a:lvl6pPr>
            <a:lvl7pPr marL="2743200" indent="0">
              <a:buNone/>
              <a:defRPr sz="1799"/>
            </a:lvl7pPr>
            <a:lvl8pPr marL="3200400" indent="0">
              <a:buNone/>
              <a:defRPr sz="1799"/>
            </a:lvl8pPr>
            <a:lvl9pPr marL="3657600" indent="0">
              <a:buNone/>
              <a:defRPr sz="1799"/>
            </a:lvl9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 err="1"/>
              <a:t>사업이해</a:t>
            </a:r>
            <a:r>
              <a:rPr lang="ko-KR" altLang="en-US" dirty="0"/>
              <a:t> 및 현황분석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255F2C-3995-711E-B284-F92DA05CFC12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769807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33C372-FFB6-F963-B17B-985FB6F9CA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769807"/>
            <a:ext cx="3215268" cy="45918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4427774-135F-5E96-9033-E578E867BBB2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69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2662536"/>
            <a:ext cx="17820000" cy="6481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503020000020004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ctrTitle" hasCustomPrompt="1"/>
          </p:nvPr>
        </p:nvSpPr>
        <p:spPr>
          <a:xfrm>
            <a:off x="2886194" y="457958"/>
            <a:ext cx="9912669" cy="64539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878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sp>
        <p:nvSpPr>
          <p:cNvPr id="20" name="텍스트 개체 틀 16"/>
          <p:cNvSpPr>
            <a:spLocks noGrp="1"/>
          </p:cNvSpPr>
          <p:nvPr>
            <p:ph type="body" sz="quarter" idx="10"/>
          </p:nvPr>
        </p:nvSpPr>
        <p:spPr>
          <a:xfrm>
            <a:off x="461940" y="1215442"/>
            <a:ext cx="16410021" cy="11816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159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31438" y="11907732"/>
            <a:ext cx="557122" cy="3831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409" b="0" smtClean="0">
                <a:solidFill>
                  <a:schemeClr val="bg1">
                    <a:lumMod val="65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783" b="0" dirty="0">
              <a:solidFill>
                <a:schemeClr val="bg1">
                  <a:lumMod val="65000"/>
                </a:schemeClr>
              </a:solidFill>
              <a:latin typeface="Noto Sans KR" panose="020B0503020000020004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2651487"/>
            <a:ext cx="17820000" cy="0"/>
          </a:xfrm>
          <a:prstGeom prst="line">
            <a:avLst/>
          </a:prstGeom>
          <a:ln w="6350">
            <a:solidFill>
              <a:srgbClr val="A8A192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A0CA3E3C-2D9F-420F-CEBB-57EAA0FA6FDF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E00D868-4104-C21C-1E74-DC7E98108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2DFA02A-0C32-F2B8-3405-9B959A281563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 userDrawn="1"/>
        </p:nvGrpSpPr>
        <p:grpSpPr>
          <a:xfrm>
            <a:off x="0" y="503916"/>
            <a:ext cx="2792740" cy="412152"/>
            <a:chOff x="548623" y="3580564"/>
            <a:chExt cx="1552463" cy="228907"/>
          </a:xfrm>
        </p:grpSpPr>
        <p:sp>
          <p:nvSpPr>
            <p:cNvPr id="23" name="모서리가 둥근 직사각형 22"/>
            <p:cNvSpPr/>
            <p:nvPr userDrawn="1"/>
          </p:nvSpPr>
          <p:spPr>
            <a:xfrm>
              <a:off x="2134741" y="6446894"/>
              <a:ext cx="1644923" cy="412152"/>
            </a:xfrm>
            <a:prstGeom prst="roundRect">
              <a:avLst>
                <a:gd name="adj" fmla="val 50000"/>
              </a:avLst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986923" y="6446894"/>
              <a:ext cx="1924255" cy="412152"/>
            </a:xfrm>
            <a:prstGeom prst="rect">
              <a:avLst/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</p:grpSp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-69833" y="498216"/>
            <a:ext cx="3091100" cy="408171"/>
          </a:xfrm>
        </p:spPr>
        <p:txBody>
          <a:bodyPr anchor="ctr">
            <a:normAutofit/>
          </a:bodyPr>
          <a:lstStyle>
            <a:lvl1pPr marL="0" indent="0">
              <a:buNone/>
              <a:defRPr sz="1619" b="1" baseline="0">
                <a:solidFill>
                  <a:schemeClr val="bg1"/>
                </a:solidFill>
                <a:latin typeface="Noto Sans KR" panose="020B0503020000020004"/>
                <a:ea typeface="Noto Sans KR" panose="020B0503020000020004"/>
              </a:defRPr>
            </a:lvl1pPr>
            <a:lvl2pPr marL="457200" indent="0">
              <a:buNone/>
              <a:defRPr sz="2518"/>
            </a:lvl2pPr>
            <a:lvl3pPr marL="914400" indent="0">
              <a:buNone/>
              <a:defRPr sz="2159"/>
            </a:lvl3pPr>
            <a:lvl4pPr marL="1371600" indent="0">
              <a:buNone/>
              <a:defRPr sz="1799"/>
            </a:lvl4pPr>
            <a:lvl5pPr marL="1828800" indent="0">
              <a:buNone/>
              <a:defRPr sz="1799"/>
            </a:lvl5pPr>
            <a:lvl6pPr marL="2286000" indent="0">
              <a:buNone/>
              <a:defRPr sz="1799"/>
            </a:lvl6pPr>
            <a:lvl7pPr marL="2743200" indent="0">
              <a:buNone/>
              <a:defRPr sz="1799"/>
            </a:lvl7pPr>
            <a:lvl8pPr marL="3200400" indent="0">
              <a:buNone/>
              <a:defRPr sz="1799"/>
            </a:lvl8pPr>
            <a:lvl9pPr marL="3657600" indent="0">
              <a:buNone/>
              <a:defRPr sz="1799"/>
            </a:lvl9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 err="1"/>
              <a:t>사업이해</a:t>
            </a:r>
            <a:r>
              <a:rPr lang="ko-KR" altLang="en-US" dirty="0"/>
              <a:t> 및 현황분석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14534246" y="465655"/>
            <a:ext cx="2970167" cy="4433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Kai-M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3.0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구축 및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/>
            </a:r>
            <a:b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</a:b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공통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Framework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기술 전환 사업</a:t>
            </a:r>
          </a:p>
        </p:txBody>
      </p:sp>
    </p:spTree>
    <p:extLst>
      <p:ext uri="{BB962C8B-B14F-4D97-AF65-F5344CB8AC3E}">
        <p14:creationId xmlns:p14="http://schemas.microsoft.com/office/powerpoint/2010/main" val="283541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2662536"/>
            <a:ext cx="17820000" cy="6481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503020000020004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ctrTitle" hasCustomPrompt="1"/>
          </p:nvPr>
        </p:nvSpPr>
        <p:spPr>
          <a:xfrm>
            <a:off x="2886194" y="457958"/>
            <a:ext cx="9912669" cy="64539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878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sp>
        <p:nvSpPr>
          <p:cNvPr id="20" name="텍스트 개체 틀 16"/>
          <p:cNvSpPr>
            <a:spLocks noGrp="1"/>
          </p:cNvSpPr>
          <p:nvPr>
            <p:ph type="body" sz="quarter" idx="10"/>
          </p:nvPr>
        </p:nvSpPr>
        <p:spPr>
          <a:xfrm>
            <a:off x="461940" y="1753001"/>
            <a:ext cx="16410021" cy="6441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159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31438" y="11907732"/>
            <a:ext cx="557122" cy="3831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409" b="0" smtClean="0">
                <a:solidFill>
                  <a:schemeClr val="bg1">
                    <a:lumMod val="65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783" b="0" dirty="0">
              <a:solidFill>
                <a:schemeClr val="bg1">
                  <a:lumMod val="65000"/>
                </a:schemeClr>
              </a:solidFill>
              <a:latin typeface="Noto Sans KR" panose="020B0503020000020004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2651487"/>
            <a:ext cx="17820000" cy="0"/>
          </a:xfrm>
          <a:prstGeom prst="line">
            <a:avLst/>
          </a:prstGeom>
          <a:ln w="6350">
            <a:solidFill>
              <a:srgbClr val="A8A192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텍스트 개체 틀 16"/>
          <p:cNvSpPr>
            <a:spLocks noGrp="1"/>
          </p:cNvSpPr>
          <p:nvPr>
            <p:ph type="body" sz="quarter" idx="11" hasCustomPrompt="1"/>
          </p:nvPr>
        </p:nvSpPr>
        <p:spPr>
          <a:xfrm>
            <a:off x="456012" y="1171264"/>
            <a:ext cx="13562002" cy="53231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159" b="1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r>
              <a:rPr lang="en-US" altLang="ko-KR" dirty="0"/>
              <a:t>t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9CC5C4-8635-D79E-4B82-8D0F21E316A4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D439A90-0FB0-8B5A-3C15-F358874EAA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A024C3-8FB5-5146-24DD-303C4DE908E3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 userDrawn="1"/>
        </p:nvGrpSpPr>
        <p:grpSpPr>
          <a:xfrm>
            <a:off x="0" y="503916"/>
            <a:ext cx="2792740" cy="412152"/>
            <a:chOff x="548623" y="3580564"/>
            <a:chExt cx="1552463" cy="228907"/>
          </a:xfrm>
        </p:grpSpPr>
        <p:sp>
          <p:nvSpPr>
            <p:cNvPr id="23" name="모서리가 둥근 직사각형 22"/>
            <p:cNvSpPr/>
            <p:nvPr userDrawn="1"/>
          </p:nvSpPr>
          <p:spPr>
            <a:xfrm>
              <a:off x="2134741" y="6446894"/>
              <a:ext cx="1644923" cy="412152"/>
            </a:xfrm>
            <a:prstGeom prst="roundRect">
              <a:avLst>
                <a:gd name="adj" fmla="val 50000"/>
              </a:avLst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986923" y="6446894"/>
              <a:ext cx="1924255" cy="412152"/>
            </a:xfrm>
            <a:prstGeom prst="rect">
              <a:avLst/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</p:grpSp>
      <p:sp>
        <p:nvSpPr>
          <p:cNvPr id="2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-69833" y="498216"/>
            <a:ext cx="3091100" cy="408171"/>
          </a:xfrm>
        </p:spPr>
        <p:txBody>
          <a:bodyPr anchor="ctr">
            <a:normAutofit/>
          </a:bodyPr>
          <a:lstStyle>
            <a:lvl1pPr marL="0" indent="0">
              <a:buNone/>
              <a:defRPr sz="1619" b="1" baseline="0">
                <a:solidFill>
                  <a:schemeClr val="bg1"/>
                </a:solidFill>
                <a:latin typeface="Noto Sans KR" panose="020B0503020000020004"/>
                <a:ea typeface="Noto Sans KR" panose="020B0503020000020004"/>
              </a:defRPr>
            </a:lvl1pPr>
            <a:lvl2pPr marL="457200" indent="0">
              <a:buNone/>
              <a:defRPr sz="2518"/>
            </a:lvl2pPr>
            <a:lvl3pPr marL="914400" indent="0">
              <a:buNone/>
              <a:defRPr sz="2159"/>
            </a:lvl3pPr>
            <a:lvl4pPr marL="1371600" indent="0">
              <a:buNone/>
              <a:defRPr sz="1799"/>
            </a:lvl4pPr>
            <a:lvl5pPr marL="1828800" indent="0">
              <a:buNone/>
              <a:defRPr sz="1799"/>
            </a:lvl5pPr>
            <a:lvl6pPr marL="2286000" indent="0">
              <a:buNone/>
              <a:defRPr sz="1799"/>
            </a:lvl6pPr>
            <a:lvl7pPr marL="2743200" indent="0">
              <a:buNone/>
              <a:defRPr sz="1799"/>
            </a:lvl7pPr>
            <a:lvl8pPr marL="3200400" indent="0">
              <a:buNone/>
              <a:defRPr sz="1799"/>
            </a:lvl8pPr>
            <a:lvl9pPr marL="3657600" indent="0">
              <a:buNone/>
              <a:defRPr sz="1799"/>
            </a:lvl9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 err="1"/>
              <a:t>사업이해</a:t>
            </a:r>
            <a:r>
              <a:rPr lang="ko-KR" altLang="en-US" dirty="0"/>
              <a:t> 및 현황분석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4534246" y="465655"/>
            <a:ext cx="2970167" cy="4433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Kai-M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3.0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구축 및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/>
            </a:r>
            <a:b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</a:b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공통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Framework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기술 전환 사업</a:t>
            </a:r>
          </a:p>
        </p:txBody>
      </p:sp>
    </p:spTree>
    <p:extLst>
      <p:ext uri="{BB962C8B-B14F-4D97-AF65-F5344CB8AC3E}">
        <p14:creationId xmlns:p14="http://schemas.microsoft.com/office/powerpoint/2010/main" val="364174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6"/>
          <p:cNvSpPr>
            <a:spLocks noGrp="1"/>
          </p:cNvSpPr>
          <p:nvPr>
            <p:ph type="body" sz="quarter" idx="10"/>
          </p:nvPr>
        </p:nvSpPr>
        <p:spPr>
          <a:xfrm>
            <a:off x="461940" y="1123826"/>
            <a:ext cx="16410021" cy="1035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159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31438" y="11907732"/>
            <a:ext cx="557122" cy="3831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409" b="0" smtClean="0">
                <a:solidFill>
                  <a:schemeClr val="bg1">
                    <a:lumMod val="65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783" b="0" dirty="0">
              <a:solidFill>
                <a:schemeClr val="bg1">
                  <a:lumMod val="65000"/>
                </a:schemeClr>
              </a:solidFill>
              <a:latin typeface="Noto Sans KR" panose="020B0503020000020004"/>
            </a:endParaRPr>
          </a:p>
        </p:txBody>
      </p:sp>
      <p:sp>
        <p:nvSpPr>
          <p:cNvPr id="19" name="제목 1"/>
          <p:cNvSpPr>
            <a:spLocks noGrp="1"/>
          </p:cNvSpPr>
          <p:nvPr>
            <p:ph type="ctrTitle" hasCustomPrompt="1"/>
          </p:nvPr>
        </p:nvSpPr>
        <p:spPr>
          <a:xfrm>
            <a:off x="2886194" y="457958"/>
            <a:ext cx="9912669" cy="64539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878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22D26C-0B8B-82B0-7563-DCC8549F7102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C17662-3549-D9D6-BBB3-1B4BE64437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4A2AB3-B8C1-D1F6-D755-2219A69A6A35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 userDrawn="1"/>
        </p:nvGrpSpPr>
        <p:grpSpPr>
          <a:xfrm>
            <a:off x="0" y="503916"/>
            <a:ext cx="2792740" cy="412152"/>
            <a:chOff x="548623" y="3580564"/>
            <a:chExt cx="1552463" cy="228907"/>
          </a:xfrm>
        </p:grpSpPr>
        <p:sp>
          <p:nvSpPr>
            <p:cNvPr id="17" name="모서리가 둥근 직사각형 16"/>
            <p:cNvSpPr/>
            <p:nvPr userDrawn="1"/>
          </p:nvSpPr>
          <p:spPr>
            <a:xfrm>
              <a:off x="2134741" y="6446894"/>
              <a:ext cx="1644923" cy="412152"/>
            </a:xfrm>
            <a:prstGeom prst="roundRect">
              <a:avLst>
                <a:gd name="adj" fmla="val 50000"/>
              </a:avLst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  <p:sp>
          <p:nvSpPr>
            <p:cNvPr id="18" name="직사각형 17"/>
            <p:cNvSpPr/>
            <p:nvPr userDrawn="1"/>
          </p:nvSpPr>
          <p:spPr>
            <a:xfrm>
              <a:off x="986923" y="6446894"/>
              <a:ext cx="1924255" cy="412152"/>
            </a:xfrm>
            <a:prstGeom prst="rect">
              <a:avLst/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</p:grpSp>
      <p:sp>
        <p:nvSpPr>
          <p:cNvPr id="2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-69833" y="498216"/>
            <a:ext cx="3091100" cy="408171"/>
          </a:xfrm>
        </p:spPr>
        <p:txBody>
          <a:bodyPr anchor="ctr">
            <a:normAutofit/>
          </a:bodyPr>
          <a:lstStyle>
            <a:lvl1pPr marL="0" indent="0">
              <a:buNone/>
              <a:defRPr sz="1619" b="1" baseline="0">
                <a:solidFill>
                  <a:schemeClr val="bg1"/>
                </a:solidFill>
                <a:latin typeface="Noto Sans KR" panose="020B0503020000020004"/>
                <a:ea typeface="Noto Sans KR" panose="020B0503020000020004"/>
              </a:defRPr>
            </a:lvl1pPr>
            <a:lvl2pPr marL="457200" indent="0">
              <a:buNone/>
              <a:defRPr sz="2518"/>
            </a:lvl2pPr>
            <a:lvl3pPr marL="914400" indent="0">
              <a:buNone/>
              <a:defRPr sz="2159"/>
            </a:lvl3pPr>
            <a:lvl4pPr marL="1371600" indent="0">
              <a:buNone/>
              <a:defRPr sz="1799"/>
            </a:lvl4pPr>
            <a:lvl5pPr marL="1828800" indent="0">
              <a:buNone/>
              <a:defRPr sz="1799"/>
            </a:lvl5pPr>
            <a:lvl6pPr marL="2286000" indent="0">
              <a:buNone/>
              <a:defRPr sz="1799"/>
            </a:lvl6pPr>
            <a:lvl7pPr marL="2743200" indent="0">
              <a:buNone/>
              <a:defRPr sz="1799"/>
            </a:lvl7pPr>
            <a:lvl8pPr marL="3200400" indent="0">
              <a:buNone/>
              <a:defRPr sz="1799"/>
            </a:lvl8pPr>
            <a:lvl9pPr marL="3657600" indent="0">
              <a:buNone/>
              <a:defRPr sz="1799"/>
            </a:lvl9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 err="1"/>
              <a:t>사업이해</a:t>
            </a:r>
            <a:r>
              <a:rPr lang="ko-KR" altLang="en-US" dirty="0"/>
              <a:t> 및 현황분석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14534246" y="465655"/>
            <a:ext cx="2970167" cy="4433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Kai-M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3.0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구축 및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/>
            </a:r>
            <a:b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</a:b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공통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Framework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기술 전환 사업</a:t>
            </a:r>
          </a:p>
        </p:txBody>
      </p:sp>
    </p:spTree>
    <p:extLst>
      <p:ext uri="{BB962C8B-B14F-4D97-AF65-F5344CB8AC3E}">
        <p14:creationId xmlns:p14="http://schemas.microsoft.com/office/powerpoint/2010/main" val="21820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6"/>
          <p:cNvSpPr>
            <a:spLocks noGrp="1"/>
          </p:cNvSpPr>
          <p:nvPr userDrawn="1">
            <p:ph type="body" sz="quarter" idx="10"/>
          </p:nvPr>
        </p:nvSpPr>
        <p:spPr>
          <a:xfrm>
            <a:off x="461940" y="1106946"/>
            <a:ext cx="16410021" cy="60531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2159" spc="-39" baseline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7E588D0-FBA9-452B-B06B-2B94F71D1BA5}"/>
              </a:ext>
            </a:extLst>
          </p:cNvPr>
          <p:cNvSpPr/>
          <p:nvPr userDrawn="1"/>
        </p:nvSpPr>
        <p:spPr>
          <a:xfrm>
            <a:off x="8631438" y="11907732"/>
            <a:ext cx="557122" cy="3831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E7FF73EE-DEFA-DD40-A162-19EE85813BBC}" type="slidenum">
              <a:rPr kumimoji="1" lang="ko-KR" altLang="en-US" sz="1409" b="0" smtClean="0">
                <a:solidFill>
                  <a:schemeClr val="bg1">
                    <a:lumMod val="65000"/>
                  </a:schemeClr>
                </a:solidFill>
                <a:latin typeface="Noto Sans KR" panose="020B0503020000020004"/>
              </a:rPr>
              <a:pPr algn="ctr"/>
              <a:t>‹#›</a:t>
            </a:fld>
            <a:endParaRPr kumimoji="1" lang="ko-KR" altLang="en-US" sz="783" b="0" dirty="0">
              <a:solidFill>
                <a:schemeClr val="bg1">
                  <a:lumMod val="65000"/>
                </a:schemeClr>
              </a:solidFill>
              <a:latin typeface="Noto Sans KR" panose="020B0503020000020004"/>
            </a:endParaRPr>
          </a:p>
        </p:txBody>
      </p:sp>
      <p:sp>
        <p:nvSpPr>
          <p:cNvPr id="17" name="제목 1"/>
          <p:cNvSpPr>
            <a:spLocks noGrp="1"/>
          </p:cNvSpPr>
          <p:nvPr>
            <p:ph type="ctrTitle" hasCustomPrompt="1"/>
          </p:nvPr>
        </p:nvSpPr>
        <p:spPr>
          <a:xfrm>
            <a:off x="2886194" y="457958"/>
            <a:ext cx="9912669" cy="64539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878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altLang="ko-KR" dirty="0"/>
              <a:t>t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2C833C-3E1F-74D2-67D4-54A60523CA56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1CC500-37EB-C0E8-3363-C8225953EA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DF046E-698C-8D8E-4781-6E619467736B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 userDrawn="1"/>
        </p:nvGrpSpPr>
        <p:grpSpPr>
          <a:xfrm>
            <a:off x="0" y="503916"/>
            <a:ext cx="2792740" cy="412152"/>
            <a:chOff x="548623" y="3580564"/>
            <a:chExt cx="1552463" cy="228907"/>
          </a:xfrm>
        </p:grpSpPr>
        <p:sp>
          <p:nvSpPr>
            <p:cNvPr id="18" name="모서리가 둥근 직사각형 17"/>
            <p:cNvSpPr/>
            <p:nvPr userDrawn="1"/>
          </p:nvSpPr>
          <p:spPr>
            <a:xfrm>
              <a:off x="2134741" y="6446894"/>
              <a:ext cx="1644923" cy="412152"/>
            </a:xfrm>
            <a:prstGeom prst="roundRect">
              <a:avLst>
                <a:gd name="adj" fmla="val 50000"/>
              </a:avLst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  <p:sp>
          <p:nvSpPr>
            <p:cNvPr id="21" name="직사각형 20"/>
            <p:cNvSpPr/>
            <p:nvPr userDrawn="1"/>
          </p:nvSpPr>
          <p:spPr>
            <a:xfrm>
              <a:off x="986923" y="6446894"/>
              <a:ext cx="1924255" cy="412152"/>
            </a:xfrm>
            <a:prstGeom prst="rect">
              <a:avLst/>
            </a:prstGeom>
            <a:solidFill>
              <a:srgbClr val="B52C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503020000020004"/>
              </a:endParaRPr>
            </a:p>
          </p:txBody>
        </p:sp>
      </p:grpSp>
      <p:sp>
        <p:nvSpPr>
          <p:cNvPr id="2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-69833" y="498216"/>
            <a:ext cx="3091100" cy="408171"/>
          </a:xfrm>
        </p:spPr>
        <p:txBody>
          <a:bodyPr anchor="ctr">
            <a:normAutofit/>
          </a:bodyPr>
          <a:lstStyle>
            <a:lvl1pPr marL="0" indent="0">
              <a:buNone/>
              <a:defRPr sz="1619" b="1" baseline="0">
                <a:solidFill>
                  <a:schemeClr val="bg1"/>
                </a:solidFill>
                <a:latin typeface="Noto Sans KR" panose="020B0503020000020004"/>
                <a:ea typeface="Noto Sans KR" panose="020B0503020000020004"/>
              </a:defRPr>
            </a:lvl1pPr>
            <a:lvl2pPr marL="457200" indent="0">
              <a:buNone/>
              <a:defRPr sz="2518"/>
            </a:lvl2pPr>
            <a:lvl3pPr marL="914400" indent="0">
              <a:buNone/>
              <a:defRPr sz="2159"/>
            </a:lvl3pPr>
            <a:lvl4pPr marL="1371600" indent="0">
              <a:buNone/>
              <a:defRPr sz="1799"/>
            </a:lvl4pPr>
            <a:lvl5pPr marL="1828800" indent="0">
              <a:buNone/>
              <a:defRPr sz="1799"/>
            </a:lvl5pPr>
            <a:lvl6pPr marL="2286000" indent="0">
              <a:buNone/>
              <a:defRPr sz="1799"/>
            </a:lvl6pPr>
            <a:lvl7pPr marL="2743200" indent="0">
              <a:buNone/>
              <a:defRPr sz="1799"/>
            </a:lvl7pPr>
            <a:lvl8pPr marL="3200400" indent="0">
              <a:buNone/>
              <a:defRPr sz="1799"/>
            </a:lvl8pPr>
            <a:lvl9pPr marL="3657600" indent="0">
              <a:buNone/>
              <a:defRPr sz="1799"/>
            </a:lvl9pPr>
          </a:lstStyle>
          <a:p>
            <a:pPr lvl="0"/>
            <a:r>
              <a:rPr lang="en-US" altLang="ko-KR" dirty="0"/>
              <a:t>Ⅰ. </a:t>
            </a:r>
            <a:r>
              <a:rPr lang="ko-KR" altLang="en-US" dirty="0" err="1"/>
              <a:t>사업이해</a:t>
            </a:r>
            <a:r>
              <a:rPr lang="ko-KR" altLang="en-US" dirty="0"/>
              <a:t> 및 현황분석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14534246" y="465655"/>
            <a:ext cx="2970167" cy="44332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Kai-M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3.0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구축 및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/>
            </a:r>
            <a:b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</a:b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공통 </a:t>
            </a:r>
            <a:r>
              <a:rPr lang="en-US" altLang="ko-KR" sz="1439" b="0" dirty="0">
                <a:solidFill>
                  <a:srgbClr val="BE883A"/>
                </a:solidFill>
                <a:latin typeface="Noto Sans KR"/>
                <a:ea typeface="Noto Sans KR"/>
              </a:rPr>
              <a:t>UI Framework </a:t>
            </a:r>
            <a:r>
              <a:rPr lang="ko-KR" altLang="en-US" sz="1439" b="0" dirty="0">
                <a:solidFill>
                  <a:srgbClr val="BE883A"/>
                </a:solidFill>
                <a:latin typeface="Noto Sans KR"/>
                <a:ea typeface="Noto Sans KR"/>
              </a:rPr>
              <a:t>기술 전환 사업</a:t>
            </a:r>
          </a:p>
        </p:txBody>
      </p:sp>
    </p:spTree>
    <p:extLst>
      <p:ext uri="{BB962C8B-B14F-4D97-AF65-F5344CB8AC3E}">
        <p14:creationId xmlns:p14="http://schemas.microsoft.com/office/powerpoint/2010/main" val="11309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91F58E4E-9640-C587-A369-4621D7C05914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90043B-99E3-D326-87D5-7E9466D47B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6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는 잘리고 다른 쪽 모서리는 둥근 사각형 4"/>
          <p:cNvSpPr/>
          <p:nvPr userDrawn="1"/>
        </p:nvSpPr>
        <p:spPr>
          <a:xfrm>
            <a:off x="633511" y="303098"/>
            <a:ext cx="7602144" cy="10709982"/>
          </a:xfrm>
          <a:prstGeom prst="snipRoundRect">
            <a:avLst>
              <a:gd name="adj1" fmla="val 7892"/>
              <a:gd name="adj2" fmla="val 0"/>
            </a:avLst>
          </a:prstGeom>
          <a:solidFill>
            <a:srgbClr val="FBF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35526" y="3428489"/>
            <a:ext cx="6343740" cy="900494"/>
          </a:xfrm>
        </p:spPr>
        <p:txBody>
          <a:bodyPr lIns="0">
            <a:normAutofit/>
          </a:bodyPr>
          <a:lstStyle>
            <a:lvl1pPr>
              <a:defRPr sz="4317" b="1">
                <a:solidFill>
                  <a:srgbClr val="B52C1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35526" y="4489707"/>
            <a:ext cx="6343740" cy="2120883"/>
          </a:xfrm>
        </p:spPr>
        <p:txBody>
          <a:bodyPr lIns="0">
            <a:noAutofit/>
          </a:bodyPr>
          <a:lstStyle>
            <a:lvl1pPr marL="0" indent="0">
              <a:buFontTx/>
              <a:buNone/>
              <a:defRPr sz="6116" b="1">
                <a:solidFill>
                  <a:srgbClr val="B52C16"/>
                </a:solidFill>
              </a:defRPr>
            </a:lvl1pPr>
            <a:lvl2pPr marL="457200" indent="0">
              <a:buFontTx/>
              <a:buNone/>
              <a:defRPr sz="6116" b="1">
                <a:solidFill>
                  <a:srgbClr val="B52C16"/>
                </a:solidFill>
              </a:defRPr>
            </a:lvl2pPr>
            <a:lvl3pPr marL="914400" indent="0">
              <a:buFontTx/>
              <a:buNone/>
              <a:defRPr sz="6116" b="1">
                <a:solidFill>
                  <a:srgbClr val="B52C16"/>
                </a:solidFill>
              </a:defRPr>
            </a:lvl3pPr>
            <a:lvl4pPr marL="1371600" indent="0">
              <a:buFontTx/>
              <a:buNone/>
              <a:defRPr sz="6116" b="1">
                <a:solidFill>
                  <a:srgbClr val="B52C16"/>
                </a:solidFill>
              </a:defRPr>
            </a:lvl4pPr>
            <a:lvl5pPr marL="1828800" indent="0">
              <a:buFontTx/>
              <a:buNone/>
              <a:defRPr sz="6116" b="1">
                <a:solidFill>
                  <a:srgbClr val="B52C16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50AEA27-DC3C-3459-72D9-E285CBA90932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E51AC7C-C5DA-43F2-5020-245C144FEBD0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86DE8-FBDF-E18F-4584-4602BE63B6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9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는 잘리고 다른 쪽 모서리는 둥근 사각형 4"/>
          <p:cNvSpPr/>
          <p:nvPr userDrawn="1"/>
        </p:nvSpPr>
        <p:spPr>
          <a:xfrm>
            <a:off x="0" y="1160409"/>
            <a:ext cx="8955692" cy="4187822"/>
          </a:xfrm>
          <a:prstGeom prst="snipRoundRect">
            <a:avLst>
              <a:gd name="adj1" fmla="val 0"/>
              <a:gd name="adj2" fmla="val 0"/>
            </a:avLst>
          </a:prstGeom>
          <a:solidFill>
            <a:srgbClr val="112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35526" y="1759982"/>
            <a:ext cx="6343740" cy="900494"/>
          </a:xfrm>
        </p:spPr>
        <p:txBody>
          <a:bodyPr lIns="0">
            <a:normAutofit/>
          </a:bodyPr>
          <a:lstStyle>
            <a:lvl1pPr>
              <a:defRPr sz="4317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35526" y="2821200"/>
            <a:ext cx="6343740" cy="2120883"/>
          </a:xfrm>
        </p:spPr>
        <p:txBody>
          <a:bodyPr lIns="0">
            <a:noAutofit/>
          </a:bodyPr>
          <a:lstStyle>
            <a:lvl1pPr marL="0" indent="0">
              <a:buFontTx/>
              <a:buNone/>
              <a:defRPr sz="6116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6116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6116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6116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6116" b="1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한쪽 모서리는 잘리고 다른 쪽 모서리는 둥근 사각형 8"/>
          <p:cNvSpPr/>
          <p:nvPr userDrawn="1"/>
        </p:nvSpPr>
        <p:spPr>
          <a:xfrm>
            <a:off x="8909080" y="0"/>
            <a:ext cx="8920120" cy="1160214"/>
          </a:xfrm>
          <a:prstGeom prst="snipRoundRect">
            <a:avLst>
              <a:gd name="adj1" fmla="val 0"/>
              <a:gd name="adj2" fmla="val 0"/>
            </a:avLst>
          </a:prstGeom>
          <a:solidFill>
            <a:srgbClr val="B52C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1"/>
          </p:nvPr>
        </p:nvSpPr>
        <p:spPr>
          <a:xfrm>
            <a:off x="8910000" y="1160591"/>
            <a:ext cx="8910000" cy="4187458"/>
          </a:xfrm>
        </p:spPr>
        <p:txBody>
          <a:bodyPr/>
          <a:lstStyle/>
          <a:p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3E394E5-F0A2-9678-2FDE-51BCD6A54CDB}"/>
              </a:ext>
            </a:extLst>
          </p:cNvPr>
          <p:cNvCxnSpPr/>
          <p:nvPr userDrawn="1"/>
        </p:nvCxnSpPr>
        <p:spPr>
          <a:xfrm>
            <a:off x="0" y="11369059"/>
            <a:ext cx="1782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4058CAD6-5C0B-CA89-82FF-7CA2462DE4C0}"/>
              </a:ext>
            </a:extLst>
          </p:cNvPr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073" y="11698792"/>
            <a:ext cx="823603" cy="29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D8B81F6-AFE6-B419-1E79-5E96003106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2968" y="11609956"/>
            <a:ext cx="3215268" cy="4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386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5125" y="657420"/>
            <a:ext cx="15369750" cy="2386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5125" y="3287083"/>
            <a:ext cx="15369750" cy="783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5125" y="11444769"/>
            <a:ext cx="4009500" cy="65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  <a:latin typeface="Noto Sans KR" panose="020B0503020000020004"/>
              </a:defRPr>
            </a:lvl1pPr>
          </a:lstStyle>
          <a:p>
            <a:fld id="{F0D9C4BE-7B0A-413E-9752-35CC67636F2C}" type="datetimeFigureOut">
              <a:rPr lang="ko-KR" altLang="en-US" smtClean="0"/>
              <a:pPr/>
              <a:t>2026-06-29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2875" y="11444769"/>
            <a:ext cx="6014250" cy="65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  <a:latin typeface="Noto Sans KR" panose="020B0503020000020004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85375" y="11444769"/>
            <a:ext cx="4009500" cy="657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  <a:latin typeface="Noto Sans KR" panose="020B0503020000020004"/>
              </a:defRPr>
            </a:lvl1pPr>
          </a:lstStyle>
          <a:p>
            <a:fld id="{C7E8DFD9-1496-45E0-BC37-00BDF8578D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322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15" r:id="rId2"/>
    <p:sldLayoutId id="2147483713" r:id="rId3"/>
    <p:sldLayoutId id="2147483714" r:id="rId4"/>
    <p:sldLayoutId id="2147483716" r:id="rId5"/>
    <p:sldLayoutId id="2147483712" r:id="rId6"/>
    <p:sldLayoutId id="2147483711" r:id="rId7"/>
    <p:sldLayoutId id="2147483717" r:id="rId8"/>
    <p:sldLayoutId id="2147483718" r:id="rId9"/>
    <p:sldLayoutId id="2147483719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7915" kern="1200">
          <a:solidFill>
            <a:schemeClr val="tx1"/>
          </a:solidFill>
          <a:latin typeface="Noto Sans KR"/>
          <a:ea typeface="Noto Sans KR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5037" kern="1200">
          <a:solidFill>
            <a:schemeClr val="tx1"/>
          </a:solidFill>
          <a:latin typeface="Noto Sans KR" panose="020B0503020000020004"/>
          <a:ea typeface="Noto Sans KR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317" kern="1200">
          <a:solidFill>
            <a:schemeClr val="tx1"/>
          </a:solidFill>
          <a:latin typeface="Noto Sans KR" panose="020B0503020000020004"/>
          <a:ea typeface="Noto Sans KR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598" kern="1200">
          <a:solidFill>
            <a:schemeClr val="tx1"/>
          </a:solidFill>
          <a:latin typeface="Noto Sans KR" panose="020B0503020000020004"/>
          <a:ea typeface="Noto Sans KR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 panose="020B0503020000020004"/>
          <a:ea typeface="Noto Sans KR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 panose="020B0503020000020004"/>
          <a:ea typeface="Noto Sans KR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1pPr>
      <a:lvl2pPr marL="4572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2pPr>
      <a:lvl3pPr marL="9144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3pPr>
      <a:lvl4pPr marL="13716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4pPr>
      <a:lvl5pPr marL="18288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5pPr>
      <a:lvl6pPr marL="22860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6pPr>
      <a:lvl7pPr marL="27432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7pPr>
      <a:lvl8pPr marL="32004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8pPr>
      <a:lvl9pPr marL="3657600" algn="l" defTabSz="914400" rtl="0" eaLnBrk="1" latinLnBrk="1" hangingPunct="1">
        <a:defRPr sz="3238" kern="1200">
          <a:solidFill>
            <a:schemeClr val="tx1"/>
          </a:solidFill>
          <a:latin typeface="Noto Sans KR"/>
          <a:ea typeface="Noto Sans KR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59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35526" y="5653177"/>
            <a:ext cx="5947429" cy="20780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현행 시스템 현황</a:t>
            </a:r>
            <a:endParaRPr lang="en-US" altLang="ko-KR" sz="1000" dirty="0" smtClean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제안의 범위 및 핵심 성공 </a:t>
            </a:r>
            <a:r>
              <a:rPr lang="ko-KR" altLang="en-US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요소</a:t>
            </a:r>
            <a:endParaRPr lang="en-US" altLang="ko-KR" sz="1000" dirty="0" smtClean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제안의 차별성 및 기대효과</a:t>
            </a:r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Ⅰ. 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 개요</a:t>
            </a:r>
          </a:p>
        </p:txBody>
      </p:sp>
      <p:pic>
        <p:nvPicPr>
          <p:cNvPr id="17" name="그림 개체 틀 16"/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586" y="1160591"/>
            <a:ext cx="8908825" cy="4187457"/>
          </a:xfrm>
        </p:spPr>
      </p:pic>
    </p:spTree>
    <p:extLst>
      <p:ext uri="{BB962C8B-B14F-4D97-AF65-F5344CB8AC3E}">
        <p14:creationId xmlns:p14="http://schemas.microsoft.com/office/powerpoint/2010/main" val="60906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0">
            <a:extLst>
              <a:ext uri="{FF2B5EF4-FFF2-40B4-BE49-F238E27FC236}">
                <a16:creationId xmlns:a16="http://schemas.microsoft.com/office/drawing/2014/main" id="{9D7C2481-1369-C8F7-69BC-A8E0BD421937}"/>
              </a:ext>
            </a:extLst>
          </p:cNvPr>
          <p:cNvSpPr/>
          <p:nvPr/>
        </p:nvSpPr>
        <p:spPr>
          <a:xfrm>
            <a:off x="369352" y="2724121"/>
            <a:ext cx="7859787" cy="8458494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615B210F-6C87-CA24-F5E7-044CBFD2CFB6}"/>
              </a:ext>
            </a:extLst>
          </p:cNvPr>
          <p:cNvSpPr/>
          <p:nvPr/>
        </p:nvSpPr>
        <p:spPr>
          <a:xfrm>
            <a:off x="8394925" y="8033837"/>
            <a:ext cx="8807874" cy="3148777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1C197B96-8AEB-AB81-E110-4854636A681F}"/>
              </a:ext>
            </a:extLst>
          </p:cNvPr>
          <p:cNvSpPr/>
          <p:nvPr/>
        </p:nvSpPr>
        <p:spPr>
          <a:xfrm>
            <a:off x="8399311" y="2748796"/>
            <a:ext cx="8807874" cy="4696875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현행 시스템 현황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현재 </a:t>
            </a:r>
            <a:r>
              <a:rPr lang="en-US" altLang="ko-KR" dirty="0"/>
              <a:t>kai-M</a:t>
            </a:r>
            <a:r>
              <a:rPr lang="ko-KR" altLang="en-US" dirty="0"/>
              <a:t>은 장기간 운영을 통해 안정성은 확보되어 있으나</a:t>
            </a:r>
            <a:r>
              <a:rPr lang="en-US" altLang="ko-KR" dirty="0"/>
              <a:t>, </a:t>
            </a:r>
            <a:r>
              <a:rPr lang="ko-KR" altLang="en-US" dirty="0"/>
              <a:t>아래와 같은 구조적인 한계로</a:t>
            </a:r>
            <a:r>
              <a:rPr lang="en-US" altLang="ko-KR" dirty="0"/>
              <a:t> </a:t>
            </a:r>
            <a:r>
              <a:rPr lang="ko-KR" altLang="en-US" dirty="0"/>
              <a:t>인해 최신 </a:t>
            </a:r>
            <a:r>
              <a:rPr lang="en-US" altLang="ko-KR" dirty="0"/>
              <a:t>UI </a:t>
            </a:r>
            <a:r>
              <a:rPr lang="ko-KR" altLang="en-US" dirty="0"/>
              <a:t>기술 기반의 전환이 필요한 상황임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Ⅰ. </a:t>
            </a:r>
            <a:r>
              <a:rPr lang="ko-KR" altLang="en-US" dirty="0"/>
              <a:t>제안 개요</a:t>
            </a:r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41C4BDEF-A840-B0CF-2C2F-57F9AE4750C4}"/>
              </a:ext>
            </a:extLst>
          </p:cNvPr>
          <p:cNvSpPr/>
          <p:nvPr/>
        </p:nvSpPr>
        <p:spPr>
          <a:xfrm>
            <a:off x="10963464" y="2172165"/>
            <a:ext cx="3769615" cy="5498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2159" b="1" dirty="0">
                <a:solidFill>
                  <a:srgbClr val="B52C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Architecture</a:t>
            </a:r>
            <a:endParaRPr lang="en-US" sz="1200" dirty="0">
              <a:solidFill>
                <a:srgbClr val="B52C16"/>
              </a:solidFill>
            </a:endParaRPr>
          </a:p>
        </p:txBody>
      </p:sp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C5FB301F-E9C9-CF1B-0B1D-9042833A7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" r="96"/>
          <a:stretch/>
        </p:blipFill>
        <p:spPr>
          <a:xfrm>
            <a:off x="8564542" y="3024933"/>
            <a:ext cx="8472470" cy="4229524"/>
          </a:xfrm>
          <a:prstGeom prst="rect">
            <a:avLst/>
          </a:prstGeom>
        </p:spPr>
      </p:pic>
      <p:grpSp>
        <p:nvGrpSpPr>
          <p:cNvPr id="65" name="그룹 64">
            <a:extLst>
              <a:ext uri="{FF2B5EF4-FFF2-40B4-BE49-F238E27FC236}">
                <a16:creationId xmlns:a16="http://schemas.microsoft.com/office/drawing/2014/main" id="{7E2E6B5B-5D53-322F-2C1B-E48C0682EC22}"/>
              </a:ext>
            </a:extLst>
          </p:cNvPr>
          <p:cNvGrpSpPr/>
          <p:nvPr/>
        </p:nvGrpSpPr>
        <p:grpSpPr>
          <a:xfrm>
            <a:off x="619213" y="3033363"/>
            <a:ext cx="7076459" cy="1902657"/>
            <a:chOff x="407716" y="1680978"/>
            <a:chExt cx="3933749" cy="1056724"/>
          </a:xfrm>
        </p:grpSpPr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E4CC6AE4-824F-57FD-799A-F0140280467C}"/>
                </a:ext>
              </a:extLst>
            </p:cNvPr>
            <p:cNvSpPr/>
            <p:nvPr/>
          </p:nvSpPr>
          <p:spPr>
            <a:xfrm>
              <a:off x="733444" y="3026642"/>
              <a:ext cx="7076459" cy="1879747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E49B6DB7-6568-FA30-4E32-E711C7DE2B5A}"/>
                </a:ext>
              </a:extLst>
            </p:cNvPr>
            <p:cNvSpPr/>
            <p:nvPr/>
          </p:nvSpPr>
          <p:spPr>
            <a:xfrm>
              <a:off x="733444" y="3026642"/>
              <a:ext cx="85536" cy="1750110"/>
            </a:xfrm>
            <a:prstGeom prst="roundRect">
              <a:avLst>
                <a:gd name="adj" fmla="val 256409"/>
              </a:avLst>
            </a:prstGeom>
            <a:solidFill>
              <a:srgbClr val="B52C16"/>
            </a:solidFill>
            <a:ln w="12700">
              <a:solidFill>
                <a:srgbClr val="B52C1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2" name="Image 1" descr="preencoded.png">
              <a:extLst>
                <a:ext uri="{FF2B5EF4-FFF2-40B4-BE49-F238E27FC236}">
                  <a16:creationId xmlns:a16="http://schemas.microsoft.com/office/drawing/2014/main" id="{B227C064-7F13-5D43-CC46-980FDC341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310" b="-1310"/>
            <a:stretch/>
          </p:blipFill>
          <p:spPr>
            <a:xfrm>
              <a:off x="1070567" y="3226922"/>
              <a:ext cx="376688" cy="309522"/>
            </a:xfrm>
            <a:prstGeom prst="rect">
              <a:avLst/>
            </a:prstGeom>
          </p:spPr>
        </p:pic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7AC2D38A-0418-5D99-5502-F1D8595E90B3}"/>
                </a:ext>
              </a:extLst>
            </p:cNvPr>
            <p:cNvSpPr txBox="1"/>
            <p:nvPr/>
          </p:nvSpPr>
          <p:spPr>
            <a:xfrm>
              <a:off x="1619972" y="3154481"/>
              <a:ext cx="4956152" cy="464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339" b="1" dirty="0">
                  <a:solidFill>
                    <a:srgbClr val="1A1A1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강한 결합도 (Tightly Coupled)</a:t>
              </a:r>
              <a:endParaRPr lang="en-US" sz="1300" dirty="0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2DBB64B8-7C8B-CA6A-0D8B-D8402843BE02}"/>
                </a:ext>
              </a:extLst>
            </p:cNvPr>
            <p:cNvSpPr txBox="1"/>
            <p:nvPr/>
          </p:nvSpPr>
          <p:spPr>
            <a:xfrm>
              <a:off x="1070567" y="3745538"/>
              <a:ext cx="6272091" cy="11837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인증, 권한, 메뉴, 로케일, 오류 처리 등이 UI 렌더링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로직과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b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강하게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결합되어 있어, UI 변경 시 백엔드 로직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수정이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동반</a:t>
              </a:r>
              <a:endParaRPr lang="en-US" sz="1100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C4A5ECA3-56D5-4127-0038-57BD722EF4AD}"/>
              </a:ext>
            </a:extLst>
          </p:cNvPr>
          <p:cNvGrpSpPr/>
          <p:nvPr/>
        </p:nvGrpSpPr>
        <p:grpSpPr>
          <a:xfrm>
            <a:off x="619213" y="5138470"/>
            <a:ext cx="7076459" cy="1879747"/>
            <a:chOff x="407716" y="2840971"/>
            <a:chExt cx="3933749" cy="1044000"/>
          </a:xfrm>
        </p:grpSpPr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CA703AF4-2199-DA67-2C48-0B736DACF16F}"/>
                </a:ext>
              </a:extLst>
            </p:cNvPr>
            <p:cNvSpPr/>
            <p:nvPr/>
          </p:nvSpPr>
          <p:spPr>
            <a:xfrm>
              <a:off x="733444" y="5115238"/>
              <a:ext cx="7076459" cy="1879747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10D848EC-3D90-C94C-5E33-C4EAC8009252}"/>
                </a:ext>
              </a:extLst>
            </p:cNvPr>
            <p:cNvSpPr/>
            <p:nvPr/>
          </p:nvSpPr>
          <p:spPr>
            <a:xfrm>
              <a:off x="733444" y="5115238"/>
              <a:ext cx="85536" cy="1750110"/>
            </a:xfrm>
            <a:prstGeom prst="roundRect">
              <a:avLst>
                <a:gd name="adj" fmla="val 256409"/>
              </a:avLst>
            </a:prstGeom>
            <a:solidFill>
              <a:srgbClr val="B52C16"/>
            </a:solidFill>
            <a:ln w="12700">
              <a:solidFill>
                <a:srgbClr val="B52C16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5" name="Image 2" descr="preencoded.png">
              <a:extLst>
                <a:ext uri="{FF2B5EF4-FFF2-40B4-BE49-F238E27FC236}">
                  <a16:creationId xmlns:a16="http://schemas.microsoft.com/office/drawing/2014/main" id="{6DBF95C0-C146-54FF-5165-83564F4CA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70567" y="5213298"/>
              <a:ext cx="309245" cy="309522"/>
            </a:xfrm>
            <a:prstGeom prst="rect">
              <a:avLst/>
            </a:prstGeom>
          </p:spPr>
        </p:pic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393A28EA-D121-05E3-9FD4-05B628E6F09C}"/>
                </a:ext>
              </a:extLst>
            </p:cNvPr>
            <p:cNvSpPr txBox="1"/>
            <p:nvPr/>
          </p:nvSpPr>
          <p:spPr>
            <a:xfrm>
              <a:off x="1550885" y="5140856"/>
              <a:ext cx="2516732" cy="464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ko-KR"/>
              </a:defPPr>
              <a:lvl1pPr indent="0">
                <a:buNone/>
                <a:defRPr sz="2339" b="1">
                  <a:solidFill>
                    <a:srgbClr val="1A1A1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defRPr>
              </a:lvl1pPr>
            </a:lstStyle>
            <a:p>
              <a:r>
                <a:rPr lang="en-US" dirty="0"/>
                <a:t>SSR </a:t>
              </a:r>
              <a:r>
                <a:rPr lang="en-US" dirty="0" err="1"/>
                <a:t>중심</a:t>
              </a:r>
              <a:r>
                <a:rPr lang="en-US" dirty="0"/>
                <a:t> </a:t>
              </a:r>
              <a:r>
                <a:rPr lang="en-US" dirty="0" err="1"/>
                <a:t>렌더링</a:t>
              </a:r>
              <a:endParaRPr lang="en-US" dirty="0"/>
            </a:p>
          </p:txBody>
        </p:sp>
        <p:sp>
          <p:nvSpPr>
            <p:cNvPr id="28" name="Text 13">
              <a:extLst>
                <a:ext uri="{FF2B5EF4-FFF2-40B4-BE49-F238E27FC236}">
                  <a16:creationId xmlns:a16="http://schemas.microsoft.com/office/drawing/2014/main" id="{448391E6-C72A-6313-3DAA-052B04C0E453}"/>
                </a:ext>
              </a:extLst>
            </p:cNvPr>
            <p:cNvSpPr txBox="1"/>
            <p:nvPr/>
          </p:nvSpPr>
          <p:spPr>
            <a:xfrm>
              <a:off x="1070567" y="6064185"/>
              <a:ext cx="6272091" cy="790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JSP와 Tiles 레이아웃 엔진을 사용하여 서버에서 HTML을 완성하여 전송. 동적인 인터랙션 구현에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제약이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있음</a:t>
              </a:r>
              <a:endParaRPr lang="en-US" sz="1100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4215D4D-A650-4B55-1257-83E0C5A59DC9}"/>
              </a:ext>
            </a:extLst>
          </p:cNvPr>
          <p:cNvGrpSpPr/>
          <p:nvPr/>
        </p:nvGrpSpPr>
        <p:grpSpPr>
          <a:xfrm>
            <a:off x="619213" y="7220667"/>
            <a:ext cx="7076459" cy="1879747"/>
            <a:chOff x="407716" y="4051206"/>
            <a:chExt cx="3933749" cy="1044000"/>
          </a:xfrm>
        </p:grpSpPr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BE3AF722-9DDB-CF38-47D0-EF0F63499DF3}"/>
                </a:ext>
              </a:extLst>
            </p:cNvPr>
            <p:cNvSpPr/>
            <p:nvPr/>
          </p:nvSpPr>
          <p:spPr>
            <a:xfrm>
              <a:off x="733444" y="7294296"/>
              <a:ext cx="7076459" cy="1879747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91DB0EF8-2739-4668-9DE0-8FBA1258114B}"/>
                </a:ext>
              </a:extLst>
            </p:cNvPr>
            <p:cNvSpPr/>
            <p:nvPr/>
          </p:nvSpPr>
          <p:spPr>
            <a:xfrm>
              <a:off x="733444" y="7294296"/>
              <a:ext cx="85536" cy="1750110"/>
            </a:xfrm>
            <a:prstGeom prst="roundRect">
              <a:avLst>
                <a:gd name="adj" fmla="val 256409"/>
              </a:avLst>
            </a:prstGeom>
            <a:solidFill>
              <a:srgbClr val="B52C16"/>
            </a:solidFill>
            <a:ln w="12700">
              <a:solidFill>
                <a:srgbClr val="BE88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3" descr="preencoded.png">
              <a:extLst>
                <a:ext uri="{FF2B5EF4-FFF2-40B4-BE49-F238E27FC236}">
                  <a16:creationId xmlns:a16="http://schemas.microsoft.com/office/drawing/2014/main" id="{1D9F8D3B-9126-038B-3DED-79E12D2A1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-1310" b="-1310"/>
            <a:stretch/>
          </p:blipFill>
          <p:spPr>
            <a:xfrm>
              <a:off x="1070567" y="7495294"/>
              <a:ext cx="376688" cy="309522"/>
            </a:xfrm>
            <a:prstGeom prst="rect">
              <a:avLst/>
            </a:prstGeom>
          </p:spPr>
        </p:pic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F88FA0D2-000C-3C3F-517D-5528833D7AFD}"/>
                </a:ext>
              </a:extLst>
            </p:cNvPr>
            <p:cNvSpPr txBox="1"/>
            <p:nvPr/>
          </p:nvSpPr>
          <p:spPr>
            <a:xfrm>
              <a:off x="1619972" y="7424498"/>
              <a:ext cx="3153317" cy="464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ko-KR"/>
              </a:defPPr>
              <a:lvl1pPr indent="0">
                <a:buNone/>
                <a:defRPr sz="2339" b="1">
                  <a:solidFill>
                    <a:srgbClr val="1A1A1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defRPr>
              </a:lvl1pPr>
            </a:lstStyle>
            <a:p>
              <a:r>
                <a:rPr lang="en-US" dirty="0"/>
                <a:t>서버 기반 </a:t>
              </a:r>
              <a:r>
                <a:rPr lang="en-US" dirty="0" err="1"/>
                <a:t>권한</a:t>
              </a:r>
              <a:r>
                <a:rPr lang="en-US" dirty="0"/>
                <a:t> </a:t>
              </a:r>
              <a:r>
                <a:rPr lang="en-US" dirty="0" err="1"/>
                <a:t>통제</a:t>
              </a:r>
              <a:endParaRPr lang="en-US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F6966F1D-7BFA-85FF-241C-F69215943F7F}"/>
                </a:ext>
              </a:extLst>
            </p:cNvPr>
            <p:cNvSpPr txBox="1"/>
            <p:nvPr/>
          </p:nvSpPr>
          <p:spPr>
            <a:xfrm>
              <a:off x="1070567" y="8286609"/>
              <a:ext cx="6272091" cy="790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권한 정보가 서버 렌더링 시점에 해석되어 버튼 노출, 기능 활성화 여부가 HTML에 직접 박혀서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내려오는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구조</a:t>
              </a:r>
              <a:endParaRPr lang="en-US" sz="110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80BB3C6-9DFD-F6A4-84B3-9F5CF9A703DE}"/>
              </a:ext>
            </a:extLst>
          </p:cNvPr>
          <p:cNvGrpSpPr/>
          <p:nvPr/>
        </p:nvGrpSpPr>
        <p:grpSpPr>
          <a:xfrm>
            <a:off x="619213" y="9302866"/>
            <a:ext cx="7076459" cy="1879747"/>
            <a:chOff x="407716" y="5290020"/>
            <a:chExt cx="3933749" cy="1044000"/>
          </a:xfrm>
        </p:grpSpPr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E94E5A01-D696-DEB9-CE97-5EF2F97DC3B9}"/>
                </a:ext>
              </a:extLst>
            </p:cNvPr>
            <p:cNvSpPr/>
            <p:nvPr/>
          </p:nvSpPr>
          <p:spPr>
            <a:xfrm>
              <a:off x="733444" y="9524812"/>
              <a:ext cx="7076459" cy="1879747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/>
            <a:effectLst>
              <a:outerShdw blurRad="63500" dist="38100" dir="162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F4C7E48B-6BB2-16C6-17DD-60E2B2AB14EE}"/>
                </a:ext>
              </a:extLst>
            </p:cNvPr>
            <p:cNvSpPr/>
            <p:nvPr/>
          </p:nvSpPr>
          <p:spPr>
            <a:xfrm>
              <a:off x="733444" y="9524812"/>
              <a:ext cx="85536" cy="1750110"/>
            </a:xfrm>
            <a:prstGeom prst="roundRect">
              <a:avLst>
                <a:gd name="adj" fmla="val 256409"/>
              </a:avLst>
            </a:prstGeom>
            <a:solidFill>
              <a:srgbClr val="B52C16"/>
            </a:solidFill>
            <a:ln w="12700">
              <a:solidFill>
                <a:srgbClr val="BE88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2" name="Image 4" descr="preencoded.png">
              <a:extLst>
                <a:ext uri="{FF2B5EF4-FFF2-40B4-BE49-F238E27FC236}">
                  <a16:creationId xmlns:a16="http://schemas.microsoft.com/office/drawing/2014/main" id="{90E61BB0-2489-3075-271A-41C2723D3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070567" y="9780582"/>
              <a:ext cx="309245" cy="309522"/>
            </a:xfrm>
            <a:prstGeom prst="rect">
              <a:avLst/>
            </a:prstGeom>
          </p:spPr>
        </p:pic>
        <p:sp>
          <p:nvSpPr>
            <p:cNvPr id="33" name="Text 20">
              <a:extLst>
                <a:ext uri="{FF2B5EF4-FFF2-40B4-BE49-F238E27FC236}">
                  <a16:creationId xmlns:a16="http://schemas.microsoft.com/office/drawing/2014/main" id="{C7757C26-82D6-5686-1FDD-139E105829CD}"/>
                </a:ext>
              </a:extLst>
            </p:cNvPr>
            <p:cNvSpPr txBox="1"/>
            <p:nvPr/>
          </p:nvSpPr>
          <p:spPr>
            <a:xfrm>
              <a:off x="1550885" y="9708139"/>
              <a:ext cx="1801190" cy="4642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ko-KR"/>
              </a:defPPr>
              <a:lvl1pPr indent="0">
                <a:buNone/>
                <a:defRPr sz="2339" b="1">
                  <a:solidFill>
                    <a:srgbClr val="1A1A1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defRPr>
              </a:lvl1pPr>
            </a:lstStyle>
            <a:p>
              <a:r>
                <a:rPr lang="en-US" dirty="0" err="1"/>
                <a:t>구조적</a:t>
              </a:r>
              <a:r>
                <a:rPr lang="en-US" dirty="0"/>
                <a:t> </a:t>
              </a:r>
              <a:r>
                <a:rPr lang="en-US" dirty="0" err="1"/>
                <a:t>한계</a:t>
              </a:r>
              <a:endParaRPr lang="en-US" dirty="0"/>
            </a:p>
          </p:txBody>
        </p:sp>
        <p:sp>
          <p:nvSpPr>
            <p:cNvPr id="34" name="Text 21">
              <a:extLst>
                <a:ext uri="{FF2B5EF4-FFF2-40B4-BE49-F238E27FC236}">
                  <a16:creationId xmlns:a16="http://schemas.microsoft.com/office/drawing/2014/main" id="{251AF4FA-E615-2070-7B97-64CF4195DDC2}"/>
                </a:ext>
              </a:extLst>
            </p:cNvPr>
            <p:cNvSpPr txBox="1"/>
            <p:nvPr/>
          </p:nvSpPr>
          <p:spPr>
            <a:xfrm>
              <a:off x="1070567" y="10394701"/>
              <a:ext cx="6272091" cy="790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최신 프론트엔드 기술 도입이 어렵고, 폐쇄망 환경에서 프론트엔드 의존성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관리가</a:t>
              </a:r>
              <a:r>
                <a:rPr lang="en-US" sz="197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979" dirty="0" err="1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복잡함</a:t>
              </a:r>
              <a:endParaRPr lang="en-US" sz="1100" dirty="0"/>
            </a:p>
          </p:txBody>
        </p:sp>
      </p:grp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95BDBD29-6C55-8261-FD10-6F0DD341BCF8}"/>
              </a:ext>
            </a:extLst>
          </p:cNvPr>
          <p:cNvSpPr/>
          <p:nvPr/>
        </p:nvSpPr>
        <p:spPr>
          <a:xfrm rot="10800000">
            <a:off x="10246500" y="7556397"/>
            <a:ext cx="5106252" cy="29811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226550B-CB4A-361C-4644-F2070BF62B6F}"/>
              </a:ext>
            </a:extLst>
          </p:cNvPr>
          <p:cNvSpPr/>
          <p:nvPr/>
        </p:nvSpPr>
        <p:spPr>
          <a:xfrm>
            <a:off x="8564542" y="8727581"/>
            <a:ext cx="4111039" cy="10780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89" b="1" dirty="0">
                <a:solidFill>
                  <a:schemeClr val="tx1"/>
                </a:solidFill>
              </a:rPr>
              <a:t>JSP, Tiles, Bootstrap </a:t>
            </a:r>
            <a:r>
              <a:rPr lang="ko-KR" altLang="en-US" sz="1889" b="1" dirty="0">
                <a:solidFill>
                  <a:schemeClr val="tx1"/>
                </a:solidFill>
              </a:rPr>
              <a:t>기반의 </a:t>
            </a:r>
            <a:r>
              <a:rPr lang="en-US" altLang="ko-KR" sz="1889" b="1" dirty="0">
                <a:solidFill>
                  <a:schemeClr val="tx1"/>
                </a:solidFill>
              </a:rPr>
              <a:t/>
            </a:r>
            <a:br>
              <a:rPr lang="en-US" altLang="ko-KR" sz="1889" b="1" dirty="0">
                <a:solidFill>
                  <a:schemeClr val="tx1"/>
                </a:solidFill>
              </a:rPr>
            </a:br>
            <a:r>
              <a:rPr lang="ko-KR" altLang="en-US" sz="1889" b="1" dirty="0">
                <a:solidFill>
                  <a:schemeClr val="tx1"/>
                </a:solidFill>
              </a:rPr>
              <a:t>기술적 노후화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355C567-0E13-BF13-386E-B7F9E17A4428}"/>
              </a:ext>
            </a:extLst>
          </p:cNvPr>
          <p:cNvSpPr/>
          <p:nvPr/>
        </p:nvSpPr>
        <p:spPr>
          <a:xfrm>
            <a:off x="8564542" y="10019547"/>
            <a:ext cx="4111039" cy="10625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89" b="1" dirty="0">
                <a:solidFill>
                  <a:schemeClr val="tx1"/>
                </a:solidFill>
              </a:rPr>
              <a:t>유지보수 및 확장성 부족</a:t>
            </a: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F5AC64E4-F73D-6AA8-BBC4-69AF33315B8E}"/>
              </a:ext>
            </a:extLst>
          </p:cNvPr>
          <p:cNvSpPr txBox="1"/>
          <p:nvPr/>
        </p:nvSpPr>
        <p:spPr>
          <a:xfrm>
            <a:off x="8564544" y="8074874"/>
            <a:ext cx="3943724" cy="60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9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시스템의 한계</a:t>
            </a:r>
            <a:endParaRPr lang="en-US" sz="12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31311B1-3283-6494-FF9D-3A000F878EF3}"/>
              </a:ext>
            </a:extLst>
          </p:cNvPr>
          <p:cNvSpPr/>
          <p:nvPr/>
        </p:nvSpPr>
        <p:spPr>
          <a:xfrm>
            <a:off x="12932016" y="8727581"/>
            <a:ext cx="4111039" cy="1078033"/>
          </a:xfrm>
          <a:prstGeom prst="roundRect">
            <a:avLst/>
          </a:prstGeom>
          <a:solidFill>
            <a:srgbClr val="B52C1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89" b="1" dirty="0">
                <a:solidFill>
                  <a:schemeClr val="bg1"/>
                </a:solidFill>
              </a:rPr>
              <a:t>최신 </a:t>
            </a:r>
            <a:r>
              <a:rPr lang="en-US" altLang="ko-KR" sz="1889" b="1" dirty="0">
                <a:solidFill>
                  <a:schemeClr val="bg1"/>
                </a:solidFill>
              </a:rPr>
              <a:t>UI </a:t>
            </a:r>
            <a:r>
              <a:rPr lang="ko-KR" altLang="en-US" sz="1889" b="1" dirty="0" err="1">
                <a:solidFill>
                  <a:schemeClr val="bg1"/>
                </a:solidFill>
              </a:rPr>
              <a:t>아키텍쳐</a:t>
            </a:r>
            <a:r>
              <a:rPr lang="ko-KR" altLang="en-US" sz="1889" b="1" dirty="0">
                <a:solidFill>
                  <a:schemeClr val="bg1"/>
                </a:solidFill>
              </a:rPr>
              <a:t> 및 공통 </a:t>
            </a:r>
            <a:r>
              <a:rPr lang="en-US" altLang="ko-KR" sz="1889" b="1" dirty="0">
                <a:solidFill>
                  <a:schemeClr val="bg1"/>
                </a:solidFill>
              </a:rPr>
              <a:t>Framework </a:t>
            </a:r>
            <a:r>
              <a:rPr lang="ko-KR" altLang="en-US" sz="1889" b="1" dirty="0">
                <a:solidFill>
                  <a:schemeClr val="bg1"/>
                </a:solidFill>
              </a:rPr>
              <a:t>전환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734DF09-F686-3879-83D7-D01C3831E934}"/>
              </a:ext>
            </a:extLst>
          </p:cNvPr>
          <p:cNvSpPr/>
          <p:nvPr/>
        </p:nvSpPr>
        <p:spPr>
          <a:xfrm>
            <a:off x="12932016" y="10019547"/>
            <a:ext cx="4111039" cy="1062563"/>
          </a:xfrm>
          <a:prstGeom prst="roundRect">
            <a:avLst/>
          </a:prstGeom>
          <a:solidFill>
            <a:srgbClr val="B52C1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89" b="1" dirty="0">
                <a:solidFill>
                  <a:schemeClr val="bg1"/>
                </a:solidFill>
              </a:rPr>
              <a:t>완성도 높은 사용자</a:t>
            </a:r>
            <a:r>
              <a:rPr lang="en-US" altLang="ko-KR" sz="1889" b="1" dirty="0">
                <a:solidFill>
                  <a:schemeClr val="bg1"/>
                </a:solidFill>
              </a:rPr>
              <a:t>/</a:t>
            </a:r>
            <a:br>
              <a:rPr lang="en-US" altLang="ko-KR" sz="1889" b="1" dirty="0">
                <a:solidFill>
                  <a:schemeClr val="bg1"/>
                </a:solidFill>
              </a:rPr>
            </a:br>
            <a:r>
              <a:rPr lang="ko-KR" altLang="en-US" sz="1889" b="1" dirty="0">
                <a:solidFill>
                  <a:schemeClr val="bg1"/>
                </a:solidFill>
              </a:rPr>
              <a:t>관리자 </a:t>
            </a:r>
            <a:r>
              <a:rPr lang="en-US" altLang="ko-KR" sz="1889" b="1" dirty="0">
                <a:solidFill>
                  <a:schemeClr val="bg1"/>
                </a:solidFill>
              </a:rPr>
              <a:t>UI </a:t>
            </a:r>
            <a:r>
              <a:rPr lang="ko-KR" altLang="en-US" sz="1889" b="1" dirty="0">
                <a:solidFill>
                  <a:schemeClr val="bg1"/>
                </a:solidFill>
              </a:rPr>
              <a:t>구축</a:t>
            </a: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021BC411-2D44-BE17-7820-627BE55CF583}"/>
              </a:ext>
            </a:extLst>
          </p:cNvPr>
          <p:cNvSpPr txBox="1"/>
          <p:nvPr/>
        </p:nvSpPr>
        <p:spPr>
          <a:xfrm>
            <a:off x="13093290" y="8074874"/>
            <a:ext cx="3943724" cy="600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159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전환의 필요성</a:t>
            </a:r>
            <a:endParaRPr lang="en-US" sz="1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1DDE8BE4-0265-0766-265D-D5224D925B94}"/>
              </a:ext>
            </a:extLst>
          </p:cNvPr>
          <p:cNvSpPr/>
          <p:nvPr/>
        </p:nvSpPr>
        <p:spPr>
          <a:xfrm>
            <a:off x="2339715" y="2172165"/>
            <a:ext cx="3769615" cy="5498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en-US" sz="2159" b="1" dirty="0">
                <a:solidFill>
                  <a:srgbClr val="B52C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Architecture </a:t>
            </a:r>
            <a:r>
              <a:rPr lang="ko-KR" altLang="en-US" sz="2159" b="1" dirty="0">
                <a:solidFill>
                  <a:srgbClr val="B52C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200" dirty="0">
              <a:solidFill>
                <a:srgbClr val="B52C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7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12E2-BBFA-B3C6-8C66-EAC2C503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0">
            <a:extLst>
              <a:ext uri="{FF2B5EF4-FFF2-40B4-BE49-F238E27FC236}">
                <a16:creationId xmlns:a16="http://schemas.microsoft.com/office/drawing/2014/main" id="{0DB8E212-928B-DFDB-09E9-3C6C4F80BE47}"/>
              </a:ext>
            </a:extLst>
          </p:cNvPr>
          <p:cNvSpPr/>
          <p:nvPr/>
        </p:nvSpPr>
        <p:spPr>
          <a:xfrm>
            <a:off x="369352" y="3014665"/>
            <a:ext cx="9149611" cy="8106616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rgbClr val="B52C16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AC7220-0226-EBE2-4B0F-A9F792AA1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제안의 범위 및 핵심 성공 요소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CD79C62-735D-A3A6-64FC-591092F3B9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본 제안은 총 </a:t>
            </a:r>
            <a:r>
              <a:rPr lang="en-US" altLang="ko-KR" dirty="0"/>
              <a:t>250</a:t>
            </a:r>
            <a:r>
              <a:rPr lang="ko-KR" altLang="en-US" dirty="0"/>
              <a:t>본 내외의 </a:t>
            </a:r>
            <a:r>
              <a:rPr lang="en-US" altLang="ko-KR" dirty="0"/>
              <a:t>UI</a:t>
            </a:r>
            <a:r>
              <a:rPr lang="ko-KR" altLang="en-US" dirty="0"/>
              <a:t> 재 구축을 수행 범위로 하며</a:t>
            </a:r>
            <a:r>
              <a:rPr lang="en-US" altLang="ko-KR" dirty="0"/>
              <a:t>, </a:t>
            </a:r>
            <a:r>
              <a:rPr lang="ko-KR" altLang="en-US" dirty="0"/>
              <a:t>표준 기술 기반을 적용하여 </a:t>
            </a:r>
            <a:r>
              <a:rPr lang="en-US" altLang="ko-KR" dirty="0"/>
              <a:t>KCB</a:t>
            </a:r>
            <a:r>
              <a:rPr lang="ko-KR" altLang="en-US" dirty="0"/>
              <a:t>가 독자적인 개발</a:t>
            </a:r>
            <a:r>
              <a:rPr lang="en-US" altLang="ko-KR" dirty="0"/>
              <a:t>, </a:t>
            </a:r>
            <a:r>
              <a:rPr lang="ko-KR" altLang="en-US" dirty="0"/>
              <a:t>운영이 가능하도록 함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76751-C545-7E50-D252-B4550DCF5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Ⅰ. </a:t>
            </a:r>
            <a:r>
              <a:rPr lang="ko-KR" altLang="en-US" dirty="0"/>
              <a:t>제안 개요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5E81400-E431-37E1-47AC-27CA4EC670E8}"/>
              </a:ext>
            </a:extLst>
          </p:cNvPr>
          <p:cNvSpPr txBox="1"/>
          <p:nvPr/>
        </p:nvSpPr>
        <p:spPr>
          <a:xfrm>
            <a:off x="581979" y="3269290"/>
            <a:ext cx="8587896" cy="33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19" b="1" kern="0" spc="75" dirty="0">
                <a:solidFill>
                  <a:srgbClr val="11224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PROJECT SCOPE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76A831D-69F0-E75E-1451-37E8B888D59B}"/>
              </a:ext>
            </a:extLst>
          </p:cNvPr>
          <p:cNvSpPr txBox="1"/>
          <p:nvPr/>
        </p:nvSpPr>
        <p:spPr>
          <a:xfrm>
            <a:off x="581979" y="3659462"/>
            <a:ext cx="9158544" cy="549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78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수행 범위 (총 250본 내외)</a:t>
            </a:r>
            <a:endParaRPr lang="en-US" sz="1600" dirty="0"/>
          </a:p>
        </p:txBody>
      </p:sp>
      <p:pic>
        <p:nvPicPr>
          <p:cNvPr id="7" name="Image 3" descr="gen-dedup-4086679ed3dbd08e0d16cfb13ea030eb.png">
            <a:extLst>
              <a:ext uri="{FF2B5EF4-FFF2-40B4-BE49-F238E27FC236}">
                <a16:creationId xmlns:a16="http://schemas.microsoft.com/office/drawing/2014/main" id="{986C7A1F-7308-BBB9-8E1B-ADAFF4DC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581979" y="4415160"/>
            <a:ext cx="8936983" cy="13997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6BC4D852-0BED-A88A-FBDD-C57F3711E4FF}"/>
              </a:ext>
            </a:extLst>
          </p:cNvPr>
          <p:cNvSpPr/>
          <p:nvPr/>
        </p:nvSpPr>
        <p:spPr>
          <a:xfrm>
            <a:off x="581979" y="4774075"/>
            <a:ext cx="8801068" cy="2744548"/>
          </a:xfrm>
          <a:prstGeom prst="roundRect">
            <a:avLst>
              <a:gd name="adj" fmla="val 8998"/>
            </a:avLst>
          </a:prstGeom>
          <a:solidFill>
            <a:srgbClr val="FB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4" descr="gen-dedup-ac4d966999c70c0b167f45428f810908.png">
            <a:extLst>
              <a:ext uri="{FF2B5EF4-FFF2-40B4-BE49-F238E27FC236}">
                <a16:creationId xmlns:a16="http://schemas.microsoft.com/office/drawing/2014/main" id="{57A8F8D0-B597-8594-0137-DED3605EC7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4123" y="5118173"/>
            <a:ext cx="2056153" cy="2057999"/>
          </a:xfrm>
          <a:prstGeom prst="rect">
            <a:avLst/>
          </a:prstGeom>
        </p:spPr>
      </p:pic>
      <p:grpSp>
        <p:nvGrpSpPr>
          <p:cNvPr id="44" name="그룹 43"/>
          <p:cNvGrpSpPr/>
          <p:nvPr/>
        </p:nvGrpSpPr>
        <p:grpSpPr>
          <a:xfrm>
            <a:off x="3391507" y="5700998"/>
            <a:ext cx="5518492" cy="360562"/>
            <a:chOff x="1885313" y="3166298"/>
            <a:chExt cx="3067687" cy="200254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B75891C6-7287-7AC0-D020-37D6CF07995F}"/>
                </a:ext>
              </a:extLst>
            </p:cNvPr>
            <p:cNvSpPr/>
            <p:nvPr/>
          </p:nvSpPr>
          <p:spPr>
            <a:xfrm>
              <a:off x="3391507" y="5778379"/>
              <a:ext cx="205615" cy="205799"/>
            </a:xfrm>
            <a:prstGeom prst="roundRect">
              <a:avLst>
                <a:gd name="adj" fmla="val 400000"/>
              </a:avLst>
            </a:prstGeom>
            <a:solidFill>
              <a:srgbClr val="11224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B2B5C7E7-274A-C54E-9E72-2A4AC7D3D2AA}"/>
                </a:ext>
              </a:extLst>
            </p:cNvPr>
            <p:cNvSpPr txBox="1"/>
            <p:nvPr/>
          </p:nvSpPr>
          <p:spPr>
            <a:xfrm>
              <a:off x="3733651" y="5700998"/>
              <a:ext cx="2041348" cy="360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b="1" dirty="0">
                  <a:solidFill>
                    <a:srgbClr val="44546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사용자 UI 구축</a:t>
              </a:r>
              <a:endParaRPr lang="en-US" sz="1100" dirty="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B66F915B-6EEA-9635-A631-003F933E6D25}"/>
                </a:ext>
              </a:extLst>
            </p:cNvPr>
            <p:cNvSpPr txBox="1"/>
            <p:nvPr/>
          </p:nvSpPr>
          <p:spPr>
            <a:xfrm>
              <a:off x="7013445" y="5700998"/>
              <a:ext cx="1896554" cy="360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979" b="1" dirty="0">
                  <a:solidFill>
                    <a:srgbClr val="11224E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ontserrat" pitchFamily="34" charset="-120"/>
                </a:rPr>
                <a:t>약 200본 (80%)</a:t>
              </a:r>
              <a:endParaRPr lang="en-US" sz="11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391507" y="6232784"/>
            <a:ext cx="5543478" cy="360562"/>
            <a:chOff x="1885313" y="3461649"/>
            <a:chExt cx="3081577" cy="200254"/>
          </a:xfrm>
        </p:grpSpPr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8091116B-9CD3-63A8-4FFC-88657101846F}"/>
                </a:ext>
              </a:extLst>
            </p:cNvPr>
            <p:cNvSpPr/>
            <p:nvPr/>
          </p:nvSpPr>
          <p:spPr>
            <a:xfrm>
              <a:off x="3391507" y="6310165"/>
              <a:ext cx="205615" cy="205799"/>
            </a:xfrm>
            <a:prstGeom prst="roundRect">
              <a:avLst>
                <a:gd name="adj" fmla="val 400000"/>
              </a:avLst>
            </a:prstGeom>
            <a:solidFill>
              <a:srgbClr val="B52C1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A5BD739-D07F-1AFE-3B3E-F879A06D2825}"/>
                </a:ext>
              </a:extLst>
            </p:cNvPr>
            <p:cNvSpPr txBox="1"/>
            <p:nvPr/>
          </p:nvSpPr>
          <p:spPr>
            <a:xfrm>
              <a:off x="3733651" y="6232784"/>
              <a:ext cx="3467497" cy="360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979" b="1" dirty="0">
                  <a:solidFill>
                    <a:srgbClr val="44546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관리자 UI </a:t>
              </a:r>
              <a:r>
                <a:rPr lang="en-US" sz="1979" b="1" dirty="0" err="1">
                  <a:solidFill>
                    <a:srgbClr val="44546A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전환</a:t>
              </a:r>
              <a:endParaRPr lang="en-US" sz="110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59F69F0F-3624-FEF3-70F4-F329727461BA}"/>
                </a:ext>
              </a:extLst>
            </p:cNvPr>
            <p:cNvSpPr txBox="1"/>
            <p:nvPr/>
          </p:nvSpPr>
          <p:spPr>
            <a:xfrm>
              <a:off x="7207545" y="6232784"/>
              <a:ext cx="1727440" cy="360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979" b="1" dirty="0">
                  <a:solidFill>
                    <a:srgbClr val="B52C16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Montserrat" pitchFamily="34" charset="-120"/>
                </a:rPr>
                <a:t>약 50본 (20%)</a:t>
              </a:r>
              <a:endParaRPr lang="en-US" sz="1100" dirty="0">
                <a:solidFill>
                  <a:srgbClr val="B52C16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" name="Shape 13">
            <a:extLst>
              <a:ext uri="{FF2B5EF4-FFF2-40B4-BE49-F238E27FC236}">
                <a16:creationId xmlns:a16="http://schemas.microsoft.com/office/drawing/2014/main" id="{F510EC6D-7F6A-B612-8861-229389613ECD}"/>
              </a:ext>
            </a:extLst>
          </p:cNvPr>
          <p:cNvSpPr/>
          <p:nvPr/>
        </p:nvSpPr>
        <p:spPr>
          <a:xfrm>
            <a:off x="581979" y="8631589"/>
            <a:ext cx="8801068" cy="1457063"/>
          </a:xfrm>
          <a:prstGeom prst="roundRect">
            <a:avLst>
              <a:gd name="adj" fmla="val 1472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115A4B6-CD8E-A79D-714A-AA0549AE8484}"/>
              </a:ext>
            </a:extLst>
          </p:cNvPr>
          <p:cNvSpPr/>
          <p:nvPr/>
        </p:nvSpPr>
        <p:spPr>
          <a:xfrm>
            <a:off x="581979" y="8631589"/>
            <a:ext cx="69087" cy="1457063"/>
          </a:xfrm>
          <a:prstGeom prst="roundRect">
            <a:avLst>
              <a:gd name="adj" fmla="val 448177"/>
            </a:avLst>
          </a:prstGeom>
          <a:solidFill>
            <a:srgbClr val="11224E"/>
          </a:solidFill>
          <a:ln w="12700">
            <a:solidFill>
              <a:srgbClr val="1122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/>
          <p:cNvGrpSpPr/>
          <p:nvPr/>
        </p:nvGrpSpPr>
        <p:grpSpPr>
          <a:xfrm>
            <a:off x="1329579" y="8844022"/>
            <a:ext cx="7984381" cy="932641"/>
            <a:chOff x="739103" y="4911914"/>
            <a:chExt cx="4438456" cy="517983"/>
          </a:xfrm>
        </p:grpSpPr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34FDBC5B-BB8C-0073-574F-98CBB43281CD}"/>
                </a:ext>
              </a:extLst>
            </p:cNvPr>
            <p:cNvSpPr txBox="1"/>
            <p:nvPr/>
          </p:nvSpPr>
          <p:spPr>
            <a:xfrm>
              <a:off x="1335897" y="8844022"/>
              <a:ext cx="6885123" cy="480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Core API 완벽 연동</a:t>
              </a:r>
              <a:endParaRPr lang="en-US" sz="12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A9023606-2C9D-501D-0E1D-E7C5A779E436}"/>
                </a:ext>
              </a:extLst>
            </p:cNvPr>
            <p:cNvSpPr txBox="1"/>
            <p:nvPr/>
          </p:nvSpPr>
          <p:spPr>
            <a:xfrm>
              <a:off x="1329579" y="9420216"/>
              <a:ext cx="7984381" cy="35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제공된 명세서 및 174개 API에 최적화된 고속 비동기 컴포넌트 렌더링 수립</a:t>
              </a:r>
              <a:endParaRPr lang="en-US" sz="1000" dirty="0"/>
            </a:p>
          </p:txBody>
        </p:sp>
      </p:grpSp>
      <p:sp>
        <p:nvSpPr>
          <p:cNvPr id="22" name="Shape 10">
            <a:extLst>
              <a:ext uri="{FF2B5EF4-FFF2-40B4-BE49-F238E27FC236}">
                <a16:creationId xmlns:a16="http://schemas.microsoft.com/office/drawing/2014/main" id="{D3312A04-ABB1-038F-4ECC-CBBFECD611F2}"/>
              </a:ext>
            </a:extLst>
          </p:cNvPr>
          <p:cNvSpPr/>
          <p:nvPr/>
        </p:nvSpPr>
        <p:spPr>
          <a:xfrm>
            <a:off x="9678704" y="2996932"/>
            <a:ext cx="7771943" cy="8106616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rgbClr val="B52C16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47D63E2-6511-BA64-5DED-D8D255D52522}"/>
              </a:ext>
            </a:extLst>
          </p:cNvPr>
          <p:cNvSpPr txBox="1"/>
          <p:nvPr/>
        </p:nvSpPr>
        <p:spPr>
          <a:xfrm>
            <a:off x="9912465" y="3255644"/>
            <a:ext cx="6923481" cy="32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19" b="1" kern="0" spc="75" dirty="0">
                <a:solidFill>
                  <a:srgbClr val="B52C1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KEY SUCCESS FACTORS</a:t>
            </a:r>
            <a:endParaRPr lang="en-US" sz="900" dirty="0">
              <a:solidFill>
                <a:srgbClr val="B52C1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48B0345-1942-D8D4-98E8-D2B91A4384B7}"/>
              </a:ext>
            </a:extLst>
          </p:cNvPr>
          <p:cNvSpPr txBox="1"/>
          <p:nvPr/>
        </p:nvSpPr>
        <p:spPr>
          <a:xfrm>
            <a:off x="9912465" y="3724027"/>
            <a:ext cx="6923481" cy="549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78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성공요소</a:t>
            </a:r>
            <a:endParaRPr lang="en-US" sz="1600" dirty="0"/>
          </a:p>
        </p:txBody>
      </p:sp>
      <p:grpSp>
        <p:nvGrpSpPr>
          <p:cNvPr id="41" name="그룹 40"/>
          <p:cNvGrpSpPr/>
          <p:nvPr/>
        </p:nvGrpSpPr>
        <p:grpSpPr>
          <a:xfrm>
            <a:off x="9912465" y="6676117"/>
            <a:ext cx="6794464" cy="1218334"/>
            <a:chOff x="5510263" y="3707873"/>
            <a:chExt cx="3776990" cy="676655"/>
          </a:xfrm>
        </p:grpSpPr>
        <p:grpSp>
          <p:nvGrpSpPr>
            <p:cNvPr id="39" name="그룹 38"/>
            <p:cNvGrpSpPr/>
            <p:nvPr/>
          </p:nvGrpSpPr>
          <p:grpSpPr>
            <a:xfrm>
              <a:off x="9912465" y="6676117"/>
              <a:ext cx="616846" cy="617399"/>
              <a:chOff x="5510263" y="3707873"/>
              <a:chExt cx="342900" cy="342900"/>
            </a:xfrm>
          </p:grpSpPr>
          <p:sp>
            <p:nvSpPr>
              <p:cNvPr id="30" name="Shape 23">
                <a:extLst>
                  <a:ext uri="{FF2B5EF4-FFF2-40B4-BE49-F238E27FC236}">
                    <a16:creationId xmlns:a16="http://schemas.microsoft.com/office/drawing/2014/main" id="{60DEFF2A-5219-C419-397C-A1CEE8E7AEB2}"/>
                  </a:ext>
                </a:extLst>
              </p:cNvPr>
              <p:cNvSpPr/>
              <p:nvPr/>
            </p:nvSpPr>
            <p:spPr>
              <a:xfrm>
                <a:off x="9912465" y="6676117"/>
                <a:ext cx="616846" cy="617399"/>
              </a:xfrm>
              <a:prstGeom prst="roundRect">
                <a:avLst>
                  <a:gd name="adj" fmla="val 118519"/>
                </a:avLst>
              </a:prstGeom>
              <a:solidFill>
                <a:srgbClr val="FBFAF7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Text 24">
                <a:extLst>
                  <a:ext uri="{FF2B5EF4-FFF2-40B4-BE49-F238E27FC236}">
                    <a16:creationId xmlns:a16="http://schemas.microsoft.com/office/drawing/2014/main" id="{FE4773C3-C6E7-1812-291C-2C84B28C9E0F}"/>
                  </a:ext>
                </a:extLst>
              </p:cNvPr>
              <p:cNvSpPr txBox="1"/>
              <p:nvPr/>
            </p:nvSpPr>
            <p:spPr>
              <a:xfrm>
                <a:off x="10129596" y="6761728"/>
                <a:ext cx="199034" cy="4461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339" b="1" dirty="0">
                    <a:solidFill>
                      <a:srgbClr val="B52C16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2</a:t>
                </a:r>
                <a:endParaRPr lang="en-US" sz="1300" dirty="0">
                  <a:solidFill>
                    <a:srgbClr val="B52C16"/>
                  </a:solidFill>
                </a:endParaRPr>
              </a:p>
            </p:txBody>
          </p:sp>
        </p:grp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0B0D2DB4-C6CF-CD44-F6E4-047EBD3624EB}"/>
                </a:ext>
              </a:extLst>
            </p:cNvPr>
            <p:cNvSpPr txBox="1"/>
            <p:nvPr/>
          </p:nvSpPr>
          <p:spPr>
            <a:xfrm>
              <a:off x="10674996" y="6676117"/>
              <a:ext cx="6031933" cy="429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33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금융 폐쇄망 완벽 기술지원</a:t>
              </a:r>
              <a:endParaRPr lang="en-US" sz="1300" dirty="0"/>
            </a:p>
          </p:txBody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8907AF8B-80F9-F287-411C-FFDE030EDF85}"/>
                </a:ext>
              </a:extLst>
            </p:cNvPr>
            <p:cNvSpPr txBox="1"/>
            <p:nvPr/>
          </p:nvSpPr>
          <p:spPr>
            <a:xfrm>
              <a:off x="10674996" y="7173328"/>
              <a:ext cx="6031933" cy="721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외부 npm 등 네트워크 제약 하에 오프라인 빌드 패키지 및 </a:t>
              </a:r>
              <a:br>
                <a:rPr 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Private Repo 기반 독립 빌드 체계화</a:t>
              </a:r>
              <a:endParaRPr lang="en-US" sz="1000" dirty="0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9912465" y="4414960"/>
            <a:ext cx="7210026" cy="1851202"/>
            <a:chOff x="5510263" y="2452041"/>
            <a:chExt cx="4007998" cy="1028146"/>
          </a:xfrm>
        </p:grpSpPr>
        <p:grpSp>
          <p:nvGrpSpPr>
            <p:cNvPr id="37" name="그룹 36"/>
            <p:cNvGrpSpPr/>
            <p:nvPr/>
          </p:nvGrpSpPr>
          <p:grpSpPr>
            <a:xfrm>
              <a:off x="9912465" y="5047827"/>
              <a:ext cx="616846" cy="617399"/>
              <a:chOff x="5510263" y="2803531"/>
              <a:chExt cx="342900" cy="342900"/>
            </a:xfrm>
          </p:grpSpPr>
          <p:sp>
            <p:nvSpPr>
              <p:cNvPr id="25" name="Shape 19">
                <a:extLst>
                  <a:ext uri="{FF2B5EF4-FFF2-40B4-BE49-F238E27FC236}">
                    <a16:creationId xmlns:a16="http://schemas.microsoft.com/office/drawing/2014/main" id="{DB422FE9-E091-40D8-7003-64C9AE9B9BD6}"/>
                  </a:ext>
                </a:extLst>
              </p:cNvPr>
              <p:cNvSpPr/>
              <p:nvPr/>
            </p:nvSpPr>
            <p:spPr>
              <a:xfrm>
                <a:off x="9912465" y="5047827"/>
                <a:ext cx="616846" cy="617399"/>
              </a:xfrm>
              <a:prstGeom prst="roundRect">
                <a:avLst>
                  <a:gd name="adj" fmla="val 118519"/>
                </a:avLst>
              </a:prstGeom>
              <a:solidFill>
                <a:srgbClr val="FBFAF7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 20">
                <a:extLst>
                  <a:ext uri="{FF2B5EF4-FFF2-40B4-BE49-F238E27FC236}">
                    <a16:creationId xmlns:a16="http://schemas.microsoft.com/office/drawing/2014/main" id="{29BBD743-D33C-4B2B-A996-9C3C044AD3A9}"/>
                  </a:ext>
                </a:extLst>
              </p:cNvPr>
              <p:cNvSpPr txBox="1"/>
              <p:nvPr/>
            </p:nvSpPr>
            <p:spPr>
              <a:xfrm>
                <a:off x="10129596" y="5133440"/>
                <a:ext cx="199034" cy="4461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339" b="1" dirty="0">
                    <a:solidFill>
                      <a:srgbClr val="B52C16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1</a:t>
                </a:r>
                <a:endParaRPr lang="en-US" sz="1300" dirty="0">
                  <a:solidFill>
                    <a:srgbClr val="B52C16"/>
                  </a:solidFill>
                </a:endParaRPr>
              </a:p>
            </p:txBody>
          </p:sp>
        </p:grp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5CC2297F-DC60-86E5-B0A4-A7BF0DC778A1}"/>
                </a:ext>
              </a:extLst>
            </p:cNvPr>
            <p:cNvSpPr txBox="1"/>
            <p:nvPr/>
          </p:nvSpPr>
          <p:spPr>
            <a:xfrm>
              <a:off x="10674996" y="5047827"/>
              <a:ext cx="6031933" cy="429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33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공통 기능 안전 전수 이식</a:t>
              </a:r>
              <a:endParaRPr lang="en-US" sz="1300" dirty="0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36CD6127-CB4E-8506-CFCF-03C7ADB87754}"/>
                </a:ext>
              </a:extLst>
            </p:cNvPr>
            <p:cNvSpPr txBox="1"/>
            <p:nvPr/>
          </p:nvSpPr>
          <p:spPr>
            <a:xfrm>
              <a:off x="10674996" y="5545040"/>
              <a:ext cx="6031933" cy="721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레거시 권한 모델, 세션 제어 및 공통 다국어 설정 정보 등을 정밀 승계하여 운영 장애 차단</a:t>
              </a:r>
              <a:endParaRPr lang="en-US" sz="1000" dirty="0"/>
            </a:p>
          </p:txBody>
        </p:sp>
        <p:pic>
          <p:nvPicPr>
            <p:cNvPr id="34" name="Image 3" descr="gen-dedup-4086679ed3dbd08e0d16cfb13ea030eb.png">
              <a:extLst>
                <a:ext uri="{FF2B5EF4-FFF2-40B4-BE49-F238E27FC236}">
                  <a16:creationId xmlns:a16="http://schemas.microsoft.com/office/drawing/2014/main" id="{27C16465-1661-E2FC-337D-C9FC71E09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2083" r="-2083"/>
            <a:stretch/>
          </p:blipFill>
          <p:spPr>
            <a:xfrm>
              <a:off x="9934049" y="4414960"/>
              <a:ext cx="7188443" cy="11274"/>
            </a:xfrm>
            <a:prstGeom prst="rect">
              <a:avLst/>
            </a:prstGeom>
          </p:spPr>
        </p:pic>
      </p:grpSp>
      <p:grpSp>
        <p:nvGrpSpPr>
          <p:cNvPr id="40" name="그룹 39"/>
          <p:cNvGrpSpPr/>
          <p:nvPr/>
        </p:nvGrpSpPr>
        <p:grpSpPr>
          <a:xfrm>
            <a:off x="9928593" y="8241817"/>
            <a:ext cx="7642925" cy="1218334"/>
            <a:chOff x="5519228" y="4577453"/>
            <a:chExt cx="4248643" cy="676655"/>
          </a:xfrm>
        </p:grpSpPr>
        <p:grpSp>
          <p:nvGrpSpPr>
            <p:cNvPr id="38" name="그룹 37"/>
            <p:cNvGrpSpPr/>
            <p:nvPr/>
          </p:nvGrpSpPr>
          <p:grpSpPr>
            <a:xfrm>
              <a:off x="9928593" y="8241817"/>
              <a:ext cx="616846" cy="617399"/>
              <a:chOff x="5519228" y="4577453"/>
              <a:chExt cx="342900" cy="342900"/>
            </a:xfrm>
          </p:grpSpPr>
          <p:sp>
            <p:nvSpPr>
              <p:cNvPr id="4" name="Shape 23">
                <a:extLst>
                  <a:ext uri="{FF2B5EF4-FFF2-40B4-BE49-F238E27FC236}">
                    <a16:creationId xmlns:a16="http://schemas.microsoft.com/office/drawing/2014/main" id="{18028E8E-1E2D-60B5-8F87-29092CE6A10E}"/>
                  </a:ext>
                </a:extLst>
              </p:cNvPr>
              <p:cNvSpPr/>
              <p:nvPr/>
            </p:nvSpPr>
            <p:spPr>
              <a:xfrm>
                <a:off x="9928593" y="8241817"/>
                <a:ext cx="616846" cy="617399"/>
              </a:xfrm>
              <a:prstGeom prst="roundRect">
                <a:avLst>
                  <a:gd name="adj" fmla="val 118519"/>
                </a:avLst>
              </a:prstGeom>
              <a:solidFill>
                <a:srgbClr val="FBFAF7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Text 24">
                <a:extLst>
                  <a:ext uri="{FF2B5EF4-FFF2-40B4-BE49-F238E27FC236}">
                    <a16:creationId xmlns:a16="http://schemas.microsoft.com/office/drawing/2014/main" id="{ADB011A5-725B-FAC5-2E90-593BD0B08306}"/>
                  </a:ext>
                </a:extLst>
              </p:cNvPr>
              <p:cNvSpPr txBox="1"/>
              <p:nvPr/>
            </p:nvSpPr>
            <p:spPr>
              <a:xfrm>
                <a:off x="10145723" y="8327428"/>
                <a:ext cx="199034" cy="4461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339" b="1" dirty="0">
                    <a:solidFill>
                      <a:srgbClr val="B52C16"/>
                    </a:solidFill>
                    <a:latin typeface="Noto Sans KR" pitchFamily="34" charset="0"/>
                    <a:ea typeface="Noto Sans KR" pitchFamily="34" charset="-122"/>
                    <a:cs typeface="Noto Sans KR" pitchFamily="34" charset="-120"/>
                  </a:rPr>
                  <a:t>3</a:t>
                </a:r>
                <a:endParaRPr lang="en-US" sz="1300" dirty="0">
                  <a:solidFill>
                    <a:srgbClr val="B52C16"/>
                  </a:solidFill>
                </a:endParaRPr>
              </a:p>
            </p:txBody>
          </p:sp>
        </p:grp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0092169F-DDF2-CF19-898B-50D98FB7B2B8}"/>
                </a:ext>
              </a:extLst>
            </p:cNvPr>
            <p:cNvSpPr txBox="1"/>
            <p:nvPr/>
          </p:nvSpPr>
          <p:spPr>
            <a:xfrm>
              <a:off x="10691123" y="8241817"/>
              <a:ext cx="6880394" cy="429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>
                <a:defRPr lang="ko-KR"/>
              </a:defPPr>
              <a:lvl1pPr indent="0">
                <a:buNone/>
                <a:defRPr sz="2339" b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defRPr>
              </a:lvl1pPr>
            </a:lstStyle>
            <a:p>
              <a:r>
                <a:rPr lang="en-US" dirty="0"/>
                <a:t>KCB </a:t>
              </a:r>
              <a:r>
                <a:rPr lang="ko-KR" altLang="en-US" dirty="0"/>
                <a:t>단독 개발 운영 가능한 구조 확보 및 기술 내재화</a:t>
              </a:r>
              <a:endParaRPr lang="en-US" dirty="0"/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7A6ED882-3AC5-33CD-547A-3D9276F9D7B0}"/>
                </a:ext>
              </a:extLst>
            </p:cNvPr>
            <p:cNvSpPr txBox="1"/>
            <p:nvPr/>
          </p:nvSpPr>
          <p:spPr>
            <a:xfrm>
              <a:off x="10691123" y="8739028"/>
              <a:ext cx="6031933" cy="721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향후 </a:t>
              </a:r>
              <a:r>
                <a:rPr lang="en-US" altLang="ko-KR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KCB </a:t>
              </a:r>
              <a:r>
                <a:rPr lang="ko-KR" alt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단독 개발</a:t>
              </a:r>
              <a:r>
                <a:rPr lang="en-US" altLang="ko-KR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ko-KR" altLang="en-US" sz="179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운영이 가능한 표준 기술 구조 및 기능 확장 및 유지 보수를 위한 기술 이관 및 지원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5713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3447-9DFC-051F-AAF6-62FC0422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0">
            <a:extLst>
              <a:ext uri="{FF2B5EF4-FFF2-40B4-BE49-F238E27FC236}">
                <a16:creationId xmlns:a16="http://schemas.microsoft.com/office/drawing/2014/main" id="{07F389EF-6A1B-28AB-7B98-2093B948C04C}"/>
              </a:ext>
            </a:extLst>
          </p:cNvPr>
          <p:cNvSpPr/>
          <p:nvPr/>
        </p:nvSpPr>
        <p:spPr>
          <a:xfrm>
            <a:off x="369352" y="3014665"/>
            <a:ext cx="9149611" cy="8106616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rgbClr val="B52C16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D0B6B2-7396-84A4-4603-4017AA7E55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제안의</a:t>
            </a:r>
            <a:r>
              <a:rPr lang="en-US" altLang="ko-KR" dirty="0"/>
              <a:t> </a:t>
            </a:r>
            <a:r>
              <a:rPr lang="ko-KR" altLang="en-US" dirty="0"/>
              <a:t>차별성 및 기대효과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4B1F8EF0-54D6-D2FD-EADE-FA4454096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본 제안은 총 </a:t>
            </a:r>
            <a:r>
              <a:rPr lang="en-US" altLang="ko-KR" dirty="0"/>
              <a:t>250</a:t>
            </a:r>
            <a:r>
              <a:rPr lang="ko-KR" altLang="en-US" dirty="0"/>
              <a:t>본 내외의 </a:t>
            </a:r>
            <a:r>
              <a:rPr lang="en-US" altLang="ko-KR" dirty="0"/>
              <a:t>UI</a:t>
            </a:r>
            <a:r>
              <a:rPr lang="ko-KR" altLang="en-US" dirty="0"/>
              <a:t> 재 구축을 수행 범위로 하며</a:t>
            </a:r>
            <a:r>
              <a:rPr lang="en-US" altLang="ko-KR" dirty="0"/>
              <a:t>, </a:t>
            </a:r>
            <a:r>
              <a:rPr lang="ko-KR" altLang="en-US" dirty="0"/>
              <a:t>표준 기술 기반을 적용하여 </a:t>
            </a:r>
            <a:r>
              <a:rPr lang="en-US" altLang="ko-KR" dirty="0"/>
              <a:t>KCB</a:t>
            </a:r>
            <a:r>
              <a:rPr lang="ko-KR" altLang="en-US" dirty="0"/>
              <a:t>가 독자적인 개발</a:t>
            </a:r>
            <a:r>
              <a:rPr lang="en-US" altLang="ko-KR" dirty="0"/>
              <a:t>, </a:t>
            </a:r>
            <a:r>
              <a:rPr lang="ko-KR" altLang="en-US" dirty="0"/>
              <a:t>운영이 가능하도록 함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0FF3D-384E-CBCA-0BC0-2DD56A93E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Ⅰ. </a:t>
            </a:r>
            <a:r>
              <a:rPr lang="ko-KR" altLang="en-US" dirty="0"/>
              <a:t>제안 개요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2DD8873C-609F-BB90-2AF3-E91617BE4588}"/>
              </a:ext>
            </a:extLst>
          </p:cNvPr>
          <p:cNvSpPr/>
          <p:nvPr/>
        </p:nvSpPr>
        <p:spPr>
          <a:xfrm>
            <a:off x="9678704" y="2996932"/>
            <a:ext cx="7771943" cy="8106616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rgbClr val="B52C16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7CFB70F4-8046-1A14-46F1-8BB9C26ABE9C}"/>
              </a:ext>
            </a:extLst>
          </p:cNvPr>
          <p:cNvSpPr txBox="1"/>
          <p:nvPr/>
        </p:nvSpPr>
        <p:spPr>
          <a:xfrm>
            <a:off x="694868" y="3249994"/>
            <a:ext cx="7188443" cy="27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19" b="1" kern="0" spc="75" dirty="0">
                <a:solidFill>
                  <a:srgbClr val="BE883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DIFFERENTIATION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5E360D7-4BFF-6500-2726-9731BDF46281}"/>
              </a:ext>
            </a:extLst>
          </p:cNvPr>
          <p:cNvSpPr txBox="1"/>
          <p:nvPr/>
        </p:nvSpPr>
        <p:spPr>
          <a:xfrm>
            <a:off x="694868" y="3592444"/>
            <a:ext cx="7188443" cy="549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78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제안사 차별성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9" name="Image 3" descr="gen-dedup-e3b07ac85bd977d10c63dcb911f179ec.png">
            <a:extLst>
              <a:ext uri="{FF2B5EF4-FFF2-40B4-BE49-F238E27FC236}">
                <a16:creationId xmlns:a16="http://schemas.microsoft.com/office/drawing/2014/main" id="{951FD8CA-1944-F283-BBF2-D2B2DED2A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694868" y="4348143"/>
            <a:ext cx="8635846" cy="16463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694868" y="4753572"/>
            <a:ext cx="8635846" cy="1440599"/>
            <a:chOff x="386272" y="2640104"/>
            <a:chExt cx="4800600" cy="800100"/>
          </a:xfrm>
        </p:grpSpPr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E56D25FD-F867-75A0-6986-1043320AD6ED}"/>
                </a:ext>
              </a:extLst>
            </p:cNvPr>
            <p:cNvSpPr/>
            <p:nvPr/>
          </p:nvSpPr>
          <p:spPr>
            <a:xfrm>
              <a:off x="694868" y="4753572"/>
              <a:ext cx="8635846" cy="1440599"/>
            </a:xfrm>
            <a:prstGeom prst="roundRect">
              <a:avLst>
                <a:gd name="adj" fmla="val 15144"/>
              </a:avLst>
            </a:prstGeom>
            <a:solidFill>
              <a:srgbClr val="FBFAF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A5C10A58-9349-2FE6-BA37-6B7931DE66DA}"/>
                </a:ext>
              </a:extLst>
            </p:cNvPr>
            <p:cNvSpPr/>
            <p:nvPr/>
          </p:nvSpPr>
          <p:spPr>
            <a:xfrm>
              <a:off x="694868" y="4753572"/>
              <a:ext cx="69087" cy="1440599"/>
            </a:xfrm>
            <a:prstGeom prst="roundRect">
              <a:avLst>
                <a:gd name="adj" fmla="val 453512"/>
              </a:avLst>
            </a:prstGeom>
            <a:solidFill>
              <a:srgbClr val="B52C16"/>
            </a:solidFill>
            <a:ln w="12700">
              <a:solidFill>
                <a:srgbClr val="BE88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BD4791FD-5E8A-F216-633F-9594B212C655}"/>
                </a:ext>
              </a:extLst>
            </p:cNvPr>
            <p:cNvSpPr txBox="1"/>
            <p:nvPr/>
          </p:nvSpPr>
          <p:spPr>
            <a:xfrm>
              <a:off x="1071554" y="5063097"/>
              <a:ext cx="7951558" cy="41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기반 생산성 극대화 툴 도입</a:t>
              </a:r>
              <a:endParaRPr lang="en-US" sz="12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BDAB583E-E3F8-E8ED-0AC7-D248C343C961}"/>
                </a:ext>
              </a:extLst>
            </p:cNvPr>
            <p:cNvSpPr txBox="1"/>
            <p:nvPr/>
          </p:nvSpPr>
          <p:spPr>
            <a:xfrm>
              <a:off x="1071554" y="5542198"/>
              <a:ext cx="8044060" cy="344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1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검증된 AI 도구를 전사 개발 환경에 탑재하여 UI 개발 품질과 생성 속도를 가속화</a:t>
              </a:r>
              <a:endParaRPr lang="en-US" sz="9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694868" y="6508220"/>
            <a:ext cx="8635846" cy="1371450"/>
            <a:chOff x="386272" y="3614624"/>
            <a:chExt cx="4800600" cy="761695"/>
          </a:xfrm>
        </p:grpSpPr>
        <p:sp>
          <p:nvSpPr>
            <p:cNvPr id="44" name="Shape 10">
              <a:extLst>
                <a:ext uri="{FF2B5EF4-FFF2-40B4-BE49-F238E27FC236}">
                  <a16:creationId xmlns:a16="http://schemas.microsoft.com/office/drawing/2014/main" id="{D28D18B5-47B2-5B17-F8F0-4AA31F8C5832}"/>
                </a:ext>
              </a:extLst>
            </p:cNvPr>
            <p:cNvSpPr/>
            <p:nvPr/>
          </p:nvSpPr>
          <p:spPr>
            <a:xfrm>
              <a:off x="694868" y="6508220"/>
              <a:ext cx="8635846" cy="1371450"/>
            </a:xfrm>
            <a:prstGeom prst="roundRect">
              <a:avLst>
                <a:gd name="adj" fmla="val 1531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083DB116-FC1D-0BAB-EDC3-63C2E7C83F42}"/>
                </a:ext>
              </a:extLst>
            </p:cNvPr>
            <p:cNvSpPr/>
            <p:nvPr/>
          </p:nvSpPr>
          <p:spPr>
            <a:xfrm>
              <a:off x="694868" y="6508220"/>
              <a:ext cx="69087" cy="1371450"/>
            </a:xfrm>
            <a:prstGeom prst="roundRect">
              <a:avLst>
                <a:gd name="adj" fmla="val 476188"/>
              </a:avLst>
            </a:prstGeom>
            <a:solidFill>
              <a:srgbClr val="11224E"/>
            </a:solidFill>
            <a:ln w="12700">
              <a:solidFill>
                <a:srgbClr val="11224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9228CCA9-C779-8B26-E49E-9BDB393EA2F2}"/>
                </a:ext>
              </a:extLst>
            </p:cNvPr>
            <p:cNvSpPr txBox="1"/>
            <p:nvPr/>
          </p:nvSpPr>
          <p:spPr>
            <a:xfrm>
              <a:off x="1071554" y="6817742"/>
              <a:ext cx="7951558" cy="41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풍부한 금융 프로젝트 성공 이력</a:t>
              </a:r>
              <a:endParaRPr lang="en-US" sz="12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3FE66AD9-BD4C-1F2D-18BB-35B506E83DA8}"/>
                </a:ext>
              </a:extLst>
            </p:cNvPr>
            <p:cNvSpPr txBox="1"/>
            <p:nvPr/>
          </p:nvSpPr>
          <p:spPr>
            <a:xfrm>
              <a:off x="1071554" y="7229342"/>
              <a:ext cx="8044060" cy="344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1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금융권 보안 체계 및 대규모 연동 최적화 레퍼런스를 보유하여 안정적인 이식 보장</a:t>
              </a:r>
              <a:endParaRPr lang="en-US" sz="900" dirty="0"/>
            </a:p>
          </p:txBody>
        </p:sp>
      </p:grpSp>
      <p:sp>
        <p:nvSpPr>
          <p:cNvPr id="48" name="Text 14">
            <a:extLst>
              <a:ext uri="{FF2B5EF4-FFF2-40B4-BE49-F238E27FC236}">
                <a16:creationId xmlns:a16="http://schemas.microsoft.com/office/drawing/2014/main" id="{994C2909-71AC-584E-139F-E4F0990C32BD}"/>
              </a:ext>
            </a:extLst>
          </p:cNvPr>
          <p:cNvSpPr txBox="1"/>
          <p:nvPr/>
        </p:nvSpPr>
        <p:spPr>
          <a:xfrm>
            <a:off x="10022418" y="3249994"/>
            <a:ext cx="7188443" cy="274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19" b="1" kern="0" spc="75" dirty="0">
                <a:solidFill>
                  <a:srgbClr val="11224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ontserrat" pitchFamily="34" charset="-120"/>
              </a:rPr>
              <a:t>EXPECTED BENEFITS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173463FC-1781-4E41-EE15-1241466715F4}"/>
              </a:ext>
            </a:extLst>
          </p:cNvPr>
          <p:cNvSpPr txBox="1"/>
          <p:nvPr/>
        </p:nvSpPr>
        <p:spPr>
          <a:xfrm>
            <a:off x="10022418" y="3592444"/>
            <a:ext cx="7188443" cy="549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78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기대 효과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0" name="Image 5" descr="gen-dedup-e3b07ac85bd977d10c63dcb911f179ec.png">
            <a:extLst>
              <a:ext uri="{FF2B5EF4-FFF2-40B4-BE49-F238E27FC236}">
                <a16:creationId xmlns:a16="http://schemas.microsoft.com/office/drawing/2014/main" id="{60F8CAE2-A977-EF53-E873-8D53F32D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10022418" y="4348161"/>
            <a:ext cx="7188443" cy="13691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10022418" y="4762487"/>
            <a:ext cx="7102712" cy="1766586"/>
            <a:chOff x="5571385" y="2645055"/>
            <a:chExt cx="3948343" cy="981151"/>
          </a:xfrm>
        </p:grpSpPr>
        <p:sp>
          <p:nvSpPr>
            <p:cNvPr id="51" name="Shape 16">
              <a:extLst>
                <a:ext uri="{FF2B5EF4-FFF2-40B4-BE49-F238E27FC236}">
                  <a16:creationId xmlns:a16="http://schemas.microsoft.com/office/drawing/2014/main" id="{EB84E3F2-76F7-DA7D-BE70-04C62CE36B34}"/>
                </a:ext>
              </a:extLst>
            </p:cNvPr>
            <p:cNvSpPr/>
            <p:nvPr/>
          </p:nvSpPr>
          <p:spPr>
            <a:xfrm>
              <a:off x="10022418" y="4762487"/>
              <a:ext cx="7102712" cy="1766586"/>
            </a:xfrm>
            <a:prstGeom prst="roundRect">
              <a:avLst>
                <a:gd name="adj" fmla="val 8399"/>
              </a:avLst>
            </a:prstGeom>
            <a:solidFill>
              <a:srgbClr val="FBFAF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Shape 17">
              <a:extLst>
                <a:ext uri="{FF2B5EF4-FFF2-40B4-BE49-F238E27FC236}">
                  <a16:creationId xmlns:a16="http://schemas.microsoft.com/office/drawing/2014/main" id="{7E459A84-15E3-9A6E-C742-85385A4AD368}"/>
                </a:ext>
              </a:extLst>
            </p:cNvPr>
            <p:cNvSpPr/>
            <p:nvPr/>
          </p:nvSpPr>
          <p:spPr>
            <a:xfrm>
              <a:off x="10022418" y="4762487"/>
              <a:ext cx="69087" cy="1766586"/>
            </a:xfrm>
            <a:prstGeom prst="roundRect">
              <a:avLst>
                <a:gd name="adj" fmla="val 369855"/>
              </a:avLst>
            </a:prstGeom>
            <a:solidFill>
              <a:srgbClr val="B52C16"/>
            </a:solidFill>
            <a:ln w="12700">
              <a:solidFill>
                <a:srgbClr val="BE883A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28F723A4-8D7B-C4C5-9C43-657E85A47522}"/>
                </a:ext>
              </a:extLst>
            </p:cNvPr>
            <p:cNvSpPr txBox="1"/>
            <p:nvPr/>
          </p:nvSpPr>
          <p:spPr>
            <a:xfrm>
              <a:off x="10399106" y="5072009"/>
              <a:ext cx="6604493" cy="4263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UI 표준화 및 컴포넌트화 완성</a:t>
              </a:r>
              <a:endParaRPr lang="en-US" sz="1200" dirty="0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106BE345-0759-9B80-A41E-CEB0E4CA0E40}"/>
                </a:ext>
              </a:extLst>
            </p:cNvPr>
            <p:cNvSpPr txBox="1"/>
            <p:nvPr/>
          </p:nvSpPr>
          <p:spPr>
            <a:xfrm>
              <a:off x="10399106" y="5551111"/>
              <a:ext cx="6518763" cy="6700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1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독립적인 컴포넌트 관리 환경 구성을 통해 향후 시스템 확장 및 재사용 편의성 원천 확보</a:t>
              </a:r>
              <a:endParaRPr lang="en-US" sz="900" dirty="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022418" y="6871524"/>
            <a:ext cx="7102712" cy="1766586"/>
            <a:chOff x="5571385" y="3816401"/>
            <a:chExt cx="3948343" cy="981151"/>
          </a:xfrm>
        </p:grpSpPr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15321770-CEA5-64CA-A184-EBBBE1CAFA85}"/>
                </a:ext>
              </a:extLst>
            </p:cNvPr>
            <p:cNvSpPr/>
            <p:nvPr/>
          </p:nvSpPr>
          <p:spPr>
            <a:xfrm>
              <a:off x="10022418" y="6871524"/>
              <a:ext cx="7102712" cy="1766586"/>
            </a:xfrm>
            <a:prstGeom prst="roundRect">
              <a:avLst>
                <a:gd name="adj" fmla="val 14477"/>
              </a:avLst>
            </a:prstGeom>
            <a:solidFill>
              <a:srgbClr val="FBFAF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21">
              <a:extLst>
                <a:ext uri="{FF2B5EF4-FFF2-40B4-BE49-F238E27FC236}">
                  <a16:creationId xmlns:a16="http://schemas.microsoft.com/office/drawing/2014/main" id="{11E0A5F1-DA69-A97D-492C-E4631E843980}"/>
                </a:ext>
              </a:extLst>
            </p:cNvPr>
            <p:cNvSpPr/>
            <p:nvPr/>
          </p:nvSpPr>
          <p:spPr>
            <a:xfrm>
              <a:off x="10022418" y="6871524"/>
              <a:ext cx="69087" cy="1766586"/>
            </a:xfrm>
            <a:prstGeom prst="roundRect">
              <a:avLst>
                <a:gd name="adj" fmla="val 369855"/>
              </a:avLst>
            </a:prstGeom>
            <a:solidFill>
              <a:srgbClr val="11224E"/>
            </a:solidFill>
            <a:ln w="12700">
              <a:solidFill>
                <a:srgbClr val="A8A192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2D88AFD6-8AAE-7B85-7F60-B0E8B0E5F399}"/>
                </a:ext>
              </a:extLst>
            </p:cNvPr>
            <p:cNvSpPr txBox="1"/>
            <p:nvPr/>
          </p:nvSpPr>
          <p:spPr>
            <a:xfrm>
              <a:off x="10399106" y="7181047"/>
              <a:ext cx="6604493" cy="41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금융권 보안 기준 부합 및 비즈니스 보장</a:t>
              </a:r>
              <a:endParaRPr lang="en-US" sz="12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A5325355-2155-A16A-DA3E-55946D2736B8}"/>
                </a:ext>
              </a:extLst>
            </p:cNvPr>
            <p:cNvSpPr txBox="1"/>
            <p:nvPr/>
          </p:nvSpPr>
          <p:spPr>
            <a:xfrm>
              <a:off x="10399106" y="7661796"/>
              <a:ext cx="6518763" cy="6700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19" dirty="0">
                  <a:solidFill>
                    <a:srgbClr val="A8A192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시큐어코딩 규정을 완벽 적용하고 보안 진단 통과율 100%를 달성하여 시스템 안정성 보장</a:t>
              </a:r>
              <a:endParaRPr lang="en-US" sz="9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94868" y="8309380"/>
            <a:ext cx="8635846" cy="1371450"/>
            <a:chOff x="386272" y="4614977"/>
            <a:chExt cx="4800600" cy="761695"/>
          </a:xfrm>
        </p:grpSpPr>
        <p:sp>
          <p:nvSpPr>
            <p:cNvPr id="59" name="Shape 10">
              <a:extLst>
                <a:ext uri="{FF2B5EF4-FFF2-40B4-BE49-F238E27FC236}">
                  <a16:creationId xmlns:a16="http://schemas.microsoft.com/office/drawing/2014/main" id="{FC8CC437-DF67-F305-5972-4471CF6F8DA3}"/>
                </a:ext>
              </a:extLst>
            </p:cNvPr>
            <p:cNvSpPr/>
            <p:nvPr/>
          </p:nvSpPr>
          <p:spPr>
            <a:xfrm>
              <a:off x="694868" y="8309380"/>
              <a:ext cx="8635846" cy="1371450"/>
            </a:xfrm>
            <a:prstGeom prst="roundRect">
              <a:avLst>
                <a:gd name="adj" fmla="val 16181"/>
              </a:avLst>
            </a:prstGeom>
            <a:solidFill>
              <a:srgbClr val="FBFAF7">
                <a:alpha val="69804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Shape 11">
              <a:extLst>
                <a:ext uri="{FF2B5EF4-FFF2-40B4-BE49-F238E27FC236}">
                  <a16:creationId xmlns:a16="http://schemas.microsoft.com/office/drawing/2014/main" id="{149A346F-1A1D-1343-D7DD-1681050F1381}"/>
                </a:ext>
              </a:extLst>
            </p:cNvPr>
            <p:cNvSpPr/>
            <p:nvPr/>
          </p:nvSpPr>
          <p:spPr>
            <a:xfrm>
              <a:off x="694868" y="8309380"/>
              <a:ext cx="69087" cy="1371450"/>
            </a:xfrm>
            <a:prstGeom prst="roundRect">
              <a:avLst>
                <a:gd name="adj" fmla="val 476188"/>
              </a:avLst>
            </a:prstGeom>
            <a:solidFill>
              <a:srgbClr val="B52C16"/>
            </a:solidFill>
            <a:ln w="12700">
              <a:solidFill>
                <a:srgbClr val="11224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12">
              <a:extLst>
                <a:ext uri="{FF2B5EF4-FFF2-40B4-BE49-F238E27FC236}">
                  <a16:creationId xmlns:a16="http://schemas.microsoft.com/office/drawing/2014/main" id="{804647BA-D59C-D910-ABAC-CD6A8460485E}"/>
                </a:ext>
              </a:extLst>
            </p:cNvPr>
            <p:cNvSpPr txBox="1"/>
            <p:nvPr/>
          </p:nvSpPr>
          <p:spPr>
            <a:xfrm>
              <a:off x="1071554" y="8618903"/>
              <a:ext cx="7951558" cy="411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UI </a:t>
              </a:r>
              <a:r>
                <a:rPr lang="ko-KR" altLang="en-US" sz="2159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</a:rPr>
                <a:t>개선 프로젝트 수행 경험 인력 투입</a:t>
              </a:r>
              <a:endParaRPr lang="en-US" sz="1200" dirty="0"/>
            </a:p>
          </p:txBody>
        </p:sp>
        <p:sp>
          <p:nvSpPr>
            <p:cNvPr id="62" name="Text 13">
              <a:extLst>
                <a:ext uri="{FF2B5EF4-FFF2-40B4-BE49-F238E27FC236}">
                  <a16:creationId xmlns:a16="http://schemas.microsoft.com/office/drawing/2014/main" id="{CA6F323E-2FFF-9940-E24F-7C3640A459FD}"/>
                </a:ext>
              </a:extLst>
            </p:cNvPr>
            <p:cNvSpPr txBox="1"/>
            <p:nvPr/>
          </p:nvSpPr>
          <p:spPr>
            <a:xfrm>
              <a:off x="1071554" y="9030503"/>
              <a:ext cx="8044060" cy="3440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619" dirty="0"/>
                <a:t>다수의 </a:t>
              </a:r>
              <a:r>
                <a:rPr lang="en-US" sz="1619" dirty="0"/>
                <a:t>eCommerce, React</a:t>
              </a:r>
              <a:r>
                <a:rPr lang="ko-KR" altLang="en-US" sz="1619" dirty="0"/>
                <a:t> 개발 경험 인력 투입 </a:t>
              </a:r>
              <a:r>
                <a:rPr lang="en-US" altLang="ko-KR" sz="1619" dirty="0"/>
                <a:t>(</a:t>
              </a:r>
              <a:r>
                <a:rPr lang="ko-KR" altLang="en-US" sz="1619" dirty="0"/>
                <a:t>기획</a:t>
              </a:r>
              <a:r>
                <a:rPr lang="en-US" altLang="ko-KR" sz="1619" dirty="0"/>
                <a:t>, </a:t>
              </a:r>
              <a:r>
                <a:rPr lang="ko-KR" altLang="en-US" sz="1619" dirty="0"/>
                <a:t>퍼블리셔</a:t>
              </a:r>
              <a:r>
                <a:rPr lang="en-US" altLang="ko-KR" sz="1619" dirty="0"/>
                <a:t>, </a:t>
              </a:r>
              <a:r>
                <a:rPr lang="ko-KR" altLang="en-US" sz="1619" dirty="0"/>
                <a:t>개발자</a:t>
              </a:r>
              <a:r>
                <a:rPr lang="en-US" altLang="ko-KR" sz="1619" dirty="0"/>
                <a:t>)</a:t>
              </a:r>
              <a:r>
                <a:rPr lang="ko-KR" altLang="en-US" sz="1619" dirty="0"/>
                <a:t> 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62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E1A5-12F0-C7D3-F8EC-389F9597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5C670-E1E7-CA62-6460-3FA9CC19A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1BBE57-E2D9-6601-F5E3-7BFEC47CE5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5524" y="2821200"/>
            <a:ext cx="6969722" cy="2120883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제안업체 일반현황</a:t>
            </a:r>
          </a:p>
        </p:txBody>
      </p:sp>
      <p:pic>
        <p:nvPicPr>
          <p:cNvPr id="5" name="그림 개체 틀 4">
            <a:extLst>
              <a:ext uri="{FF2B5EF4-FFF2-40B4-BE49-F238E27FC236}">
                <a16:creationId xmlns:a16="http://schemas.microsoft.com/office/drawing/2014/main" id="{25112074-0565-6F1B-32E7-C0BA78FDB4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b="7"/>
          <a:stretch>
            <a:fillRect/>
          </a:stretch>
        </p:blipFill>
        <p:spPr/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3FE0DF-85B0-B006-BC9E-3F6970038BDF}"/>
              </a:ext>
            </a:extLst>
          </p:cNvPr>
          <p:cNvSpPr txBox="1"/>
          <p:nvPr/>
        </p:nvSpPr>
        <p:spPr>
          <a:xfrm>
            <a:off x="1335526" y="5727109"/>
            <a:ext cx="2243485" cy="34634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제안사</a:t>
            </a: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일반 </a:t>
            </a:r>
            <a:r>
              <a:rPr lang="ko-KR" altLang="en-US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en-US" altLang="ko-KR" sz="1000" dirty="0" smtClean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조직 및 인력 </a:t>
            </a:r>
            <a:r>
              <a:rPr lang="ko-KR" altLang="en-US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</a:t>
            </a:r>
            <a:endParaRPr lang="en-US" altLang="ko-KR" sz="1000" dirty="0" smtClean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재무현황</a:t>
            </a:r>
            <a:r>
              <a:rPr lang="en-US" altLang="ko-KR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</a:t>
            </a:r>
            <a:r>
              <a:rPr lang="en-US" altLang="ko-KR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</a:t>
            </a:r>
            <a:r>
              <a:rPr lang="en-US" altLang="ko-KR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사업 </a:t>
            </a:r>
            <a:r>
              <a:rPr lang="ko-KR" altLang="en-US" sz="1799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분야</a:t>
            </a:r>
            <a:endParaRPr lang="en-US" altLang="ko-KR" sz="1000" dirty="0" smtClean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79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사업 실적</a:t>
            </a:r>
          </a:p>
        </p:txBody>
      </p:sp>
    </p:spTree>
    <p:extLst>
      <p:ext uri="{BB962C8B-B14F-4D97-AF65-F5344CB8AC3E}">
        <p14:creationId xmlns:p14="http://schemas.microsoft.com/office/powerpoint/2010/main" val="154456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제안사 일반 현황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20000"/>
              </a:lnSpc>
            </a:pPr>
            <a:r>
              <a:rPr lang="ko-KR" altLang="en-US" dirty="0">
                <a:latin typeface="Noto Sans KR"/>
              </a:rPr>
              <a:t>제안사는 금융산업의 중요 업무인 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자본시장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(Capital Market), 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증권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/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투자금융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, 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여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/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수신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, </a:t>
            </a:r>
            <a:r>
              <a:rPr lang="ko-KR" altLang="en-US" b="1" dirty="0" err="1">
                <a:solidFill>
                  <a:srgbClr val="B52C16"/>
                </a:solidFill>
                <a:latin typeface="Noto Sans KR"/>
              </a:rPr>
              <a:t>장외파생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(OTC)</a:t>
            </a:r>
            <a:r>
              <a:rPr lang="ko-KR" altLang="en-US" dirty="0">
                <a:solidFill>
                  <a:srgbClr val="B52C16"/>
                </a:solidFill>
                <a:latin typeface="Noto Sans KR"/>
              </a:rPr>
              <a:t> </a:t>
            </a:r>
            <a:r>
              <a:rPr lang="ko-KR" altLang="en-US" dirty="0">
                <a:latin typeface="Noto Sans KR"/>
              </a:rPr>
              <a:t>등의 분야에 대한 정보화 사업과</a:t>
            </a:r>
            <a:r>
              <a:rPr lang="en-US" altLang="ko-KR" dirty="0">
                <a:latin typeface="Noto Sans KR"/>
              </a:rPr>
              <a:t> </a:t>
            </a:r>
            <a:r>
              <a:rPr lang="en-US" altLang="ko-KR" b="1" dirty="0">
                <a:solidFill>
                  <a:srgbClr val="B52C16"/>
                </a:solidFill>
                <a:latin typeface="Noto Sans KR"/>
              </a:rPr>
              <a:t>e-Business </a:t>
            </a:r>
            <a:r>
              <a:rPr lang="ko-KR" altLang="en-US" b="1" dirty="0">
                <a:solidFill>
                  <a:srgbClr val="B52C16"/>
                </a:solidFill>
                <a:latin typeface="Noto Sans KR"/>
              </a:rPr>
              <a:t>개발사업</a:t>
            </a:r>
            <a:r>
              <a:rPr lang="ko-KR" altLang="en-US" dirty="0">
                <a:latin typeface="Noto Sans KR"/>
              </a:rPr>
              <a:t>에</a:t>
            </a:r>
            <a:r>
              <a:rPr lang="en-US" altLang="ko-KR" dirty="0">
                <a:latin typeface="Noto Sans KR"/>
              </a:rPr>
              <a:t> </a:t>
            </a:r>
            <a:r>
              <a:rPr lang="ko-KR" altLang="en-US" dirty="0">
                <a:latin typeface="Noto Sans KR"/>
              </a:rPr>
              <a:t>대한 추진 역량을 바탕으로 고객에게 필요한 최적의 </a:t>
            </a:r>
            <a:r>
              <a:rPr lang="en-US" altLang="ko-KR" dirty="0">
                <a:latin typeface="Noto Sans KR"/>
              </a:rPr>
              <a:t>IT </a:t>
            </a:r>
            <a:r>
              <a:rPr lang="ko-KR" altLang="en-US" dirty="0">
                <a:latin typeface="Noto Sans KR"/>
              </a:rPr>
              <a:t>솔루션을 공급하고 있습니다</a:t>
            </a:r>
            <a:r>
              <a:rPr lang="en-US" altLang="ko-KR" dirty="0">
                <a:latin typeface="Noto Sans KR"/>
              </a:rPr>
              <a:t>.</a:t>
            </a:r>
            <a:endParaRPr lang="ko-KR" altLang="en-US" dirty="0">
              <a:solidFill>
                <a:schemeClr val="dk1"/>
              </a:solidFill>
              <a:latin typeface="Noto Sans KR"/>
              <a:cs typeface="Malgun Gothic"/>
              <a:sym typeface="Malgun Gothic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제안업체 일반현황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6A7EB-8A36-AD05-5AA5-67F4AC00C5A7}"/>
              </a:ext>
            </a:extLst>
          </p:cNvPr>
          <p:cNvSpPr txBox="1"/>
          <p:nvPr/>
        </p:nvSpPr>
        <p:spPr>
          <a:xfrm>
            <a:off x="1375334" y="6544876"/>
            <a:ext cx="6076443" cy="2752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베스타시스템은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자본시장</a:t>
            </a:r>
            <a:r>
              <a:rPr kumimoji="0" lang="en-US" altLang="ko-KR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유가증권</a:t>
            </a:r>
            <a:r>
              <a:rPr kumimoji="0" lang="en-US" altLang="ko-KR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자산운용</a:t>
            </a:r>
            <a:r>
              <a:rPr kumimoji="0" lang="en-US" altLang="ko-KR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</a:p>
          <a:p>
            <a:pPr marL="0" marR="0" lvl="0" indent="0" algn="ctr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98" b="1" i="0" u="none" strike="noStrike" kern="1200" cap="none" spc="0" normalizeH="0" baseline="0" noProof="0" dirty="0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3598" b="1" i="0" u="none" strike="noStrike" kern="1200" cap="none" spc="0" normalizeH="0" baseline="0" noProof="0" dirty="0" err="1">
                <a:ln>
                  <a:noFill/>
                </a:ln>
                <a:solidFill>
                  <a:srgbClr val="B52C16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뱅킹시스템</a:t>
            </a: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분야의 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9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IT</a:t>
            </a:r>
            <a:r>
              <a:rPr kumimoji="0" lang="ko-KR" altLang="en-US" sz="359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서비스 전문 기업입니다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F68A1-A14F-E61F-A2F6-1572B68F55A6}"/>
              </a:ext>
            </a:extLst>
          </p:cNvPr>
          <p:cNvSpPr txBox="1"/>
          <p:nvPr/>
        </p:nvSpPr>
        <p:spPr>
          <a:xfrm>
            <a:off x="4116682" y="5746745"/>
            <a:ext cx="839720" cy="1385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91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Noto Sans KR" panose="020B0604020202020204"/>
              </a:rPr>
              <a:t>“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503020000020004"/>
              <a:ea typeface="Noto Sans KR" panose="020B0503020000020004"/>
              <a:cs typeface="Noto Sans KR" panose="020B060402020202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4C1B8-3EA0-A45F-E274-BB317D73B155}"/>
              </a:ext>
            </a:extLst>
          </p:cNvPr>
          <p:cNvSpPr txBox="1"/>
          <p:nvPr/>
        </p:nvSpPr>
        <p:spPr>
          <a:xfrm>
            <a:off x="4116682" y="9050467"/>
            <a:ext cx="839720" cy="1385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91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Noto Sans KR" panose="020B0604020202020204"/>
              </a:rPr>
              <a:t>”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503020000020004"/>
              <a:ea typeface="Noto Sans KR" panose="020B0503020000020004"/>
              <a:cs typeface="Noto Sans KR" panose="020B0604020202020204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8F81E2-E92A-3988-9059-9A5380E99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22" y="3706104"/>
            <a:ext cx="6552199" cy="1086596"/>
          </a:xfrm>
          <a:prstGeom prst="rect">
            <a:avLst/>
          </a:prstGeom>
        </p:spPr>
      </p:pic>
      <p:graphicFrame>
        <p:nvGraphicFramePr>
          <p:cNvPr id="9" name="Google Shape;783;p2">
            <a:extLst>
              <a:ext uri="{FF2B5EF4-FFF2-40B4-BE49-F238E27FC236}">
                <a16:creationId xmlns:a16="http://schemas.microsoft.com/office/drawing/2014/main" id="{4B832783-ADC9-4024-A12C-67457150C4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806841"/>
              </p:ext>
            </p:extLst>
          </p:nvPr>
        </p:nvGraphicFramePr>
        <p:xfrm>
          <a:off x="4993341" y="1667436"/>
          <a:ext cx="4428565" cy="444649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6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8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회사명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㈜ 베스타시스템</a:t>
                      </a:r>
                      <a:endParaRPr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대표자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정윤경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주소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서울시 송파구 법원로9길 26, C동314호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(문정동 </a:t>
                      </a:r>
                      <a:r>
                        <a:rPr lang="ko-KR" sz="1799" b="0" u="none" strike="noStrike" cap="none" dirty="0" err="1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에이치비지니스파크</a:t>
                      </a: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) 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사업자등록번호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351-88-00532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전화번호</a:t>
                      </a:r>
                      <a:endParaRPr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전화 : 02-412-0707 / 팩스 : 02-412-0706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회사 설립</a:t>
                      </a:r>
                      <a:r>
                        <a:rPr lang="ko-KR" altLang="en-US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일</a:t>
                      </a:r>
                      <a:endParaRPr sz="1000" b="1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2016년 11월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 11</a:t>
                      </a:r>
                      <a:r>
                        <a:rPr lang="ko-KR" altLang="en-US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일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자본금</a:t>
                      </a:r>
                      <a:endParaRPr sz="1000" b="1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2 억원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매출액</a:t>
                      </a:r>
                      <a:endParaRPr sz="1000" b="1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63</a:t>
                      </a: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.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82</a:t>
                      </a: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 억원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 </a:t>
                      </a:r>
                      <a:r>
                        <a:rPr lang="ko-KR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(202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5</a:t>
                      </a:r>
                      <a:r>
                        <a:rPr lang="ko-KR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년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 </a:t>
                      </a:r>
                      <a:r>
                        <a:rPr lang="ko-KR" altLang="en-US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결산</a:t>
                      </a:r>
                      <a:r>
                        <a:rPr lang="ko-KR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)</a:t>
                      </a:r>
                      <a:endParaRPr sz="1000" b="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종업원수</a:t>
                      </a:r>
                      <a:endParaRPr sz="1000" b="1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4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5</a:t>
                      </a: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명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 (</a:t>
                      </a:r>
                      <a:r>
                        <a:rPr lang="ko-KR" altLang="en-US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계약직 포함</a:t>
                      </a:r>
                      <a:r>
                        <a:rPr lang="en-US" alt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)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9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1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회사연혁</a:t>
                      </a:r>
                      <a:endParaRPr sz="1000" b="1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Noto Sans KR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99" b="0" u="none" strike="noStrike" cap="none" dirty="0">
                          <a:solidFill>
                            <a:schemeClr val="dk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Noto Sans KR"/>
                          <a:sym typeface="Calibri"/>
                        </a:rPr>
                        <a:t>별도 페이지</a:t>
                      </a:r>
                      <a:endParaRPr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95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BB8A-F522-7617-4364-24E6EF32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E9FE5-ABEF-B31B-FC77-FD258EBCD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조직 및 인력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ADB83E-48AE-D8F8-7F6E-5A2741EE9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lvl="0" algn="just">
              <a:lnSpc>
                <a:spcPct val="120000"/>
              </a:lnSpc>
            </a:pPr>
            <a:r>
              <a:rPr lang="ko-KR" altLang="en-US" dirty="0">
                <a:latin typeface="Noto Sans KR"/>
              </a:rPr>
              <a:t>제안사는 고객에 차별화된 서비스와 품질을 제공하기 위한 고객중심 가치창조 정신을 추구하며</a:t>
            </a:r>
            <a:r>
              <a:rPr lang="en-US" altLang="ko-KR" dirty="0">
                <a:latin typeface="Noto Sans KR"/>
              </a:rPr>
              <a:t>, </a:t>
            </a:r>
            <a:r>
              <a:rPr lang="ko-KR" altLang="en-US" dirty="0">
                <a:latin typeface="Noto Sans KR"/>
              </a:rPr>
              <a:t>성공적인 서비스 구현에 필요한 요소기술과 다양한 프로젝트 구축 노하우를 겸비한 최적의 조직과 인력을 운영하고 있습니다</a:t>
            </a:r>
            <a:r>
              <a:rPr lang="en-US" altLang="ko-KR" dirty="0">
                <a:latin typeface="Noto Sans KR"/>
              </a:rPr>
              <a:t>.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5209E-A500-6A79-D1BE-52A3CF289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제안업체 일반현황</a:t>
            </a: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E1E332E2-D6D1-04B7-15AA-8FC906F9C4A8}"/>
              </a:ext>
            </a:extLst>
          </p:cNvPr>
          <p:cNvSpPr/>
          <p:nvPr/>
        </p:nvSpPr>
        <p:spPr>
          <a:xfrm>
            <a:off x="8984447" y="3014663"/>
            <a:ext cx="8274556" cy="8106616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90A2C25E-62B5-D3E9-5AE3-BBBEC1342B02}"/>
              </a:ext>
            </a:extLst>
          </p:cNvPr>
          <p:cNvSpPr/>
          <p:nvPr/>
        </p:nvSpPr>
        <p:spPr>
          <a:xfrm>
            <a:off x="11173111" y="2430423"/>
            <a:ext cx="3769615" cy="5498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ko-KR" altLang="en-US" sz="2159" b="1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조직도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" name="Text 23">
            <a:extLst>
              <a:ext uri="{FF2B5EF4-FFF2-40B4-BE49-F238E27FC236}">
                <a16:creationId xmlns:a16="http://schemas.microsoft.com/office/drawing/2014/main" id="{DA3A1919-71E8-2BAB-F64B-DB7715C26719}"/>
              </a:ext>
            </a:extLst>
          </p:cNvPr>
          <p:cNvSpPr/>
          <p:nvPr/>
        </p:nvSpPr>
        <p:spPr>
          <a:xfrm>
            <a:off x="2549362" y="2430423"/>
            <a:ext cx="3769615" cy="5498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ctr">
              <a:buNone/>
            </a:pPr>
            <a:r>
              <a:rPr lang="ko-KR" altLang="en-US" sz="2159" b="1" dirty="0">
                <a:solidFill>
                  <a:schemeClr val="accent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현황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21BCDBD-0E80-1F68-8FF8-154CFF7E590A}"/>
              </a:ext>
            </a:extLst>
          </p:cNvPr>
          <p:cNvSpPr/>
          <p:nvPr/>
        </p:nvSpPr>
        <p:spPr>
          <a:xfrm>
            <a:off x="12358607" y="3126126"/>
            <a:ext cx="1619018" cy="1620472"/>
          </a:xfrm>
          <a:prstGeom prst="ellipse">
            <a:avLst/>
          </a:prstGeom>
          <a:solidFill>
            <a:srgbClr val="11224E"/>
          </a:solidFill>
          <a:ln w="762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5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CEO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503020000020004"/>
              <a:ea typeface="Noto Sans KR" panose="020B0503020000020004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65C19B-0325-5C73-9F84-BD6633EDE71F}"/>
              </a:ext>
            </a:extLst>
          </p:cNvPr>
          <p:cNvSpPr/>
          <p:nvPr/>
        </p:nvSpPr>
        <p:spPr>
          <a:xfrm>
            <a:off x="14445691" y="4869123"/>
            <a:ext cx="2165824" cy="777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3175">
            <a:solidFill>
              <a:srgbClr val="B52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기업부설연구소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A71389-1519-AC4A-E94C-EDCC9EC3CAFC}"/>
              </a:ext>
            </a:extLst>
          </p:cNvPr>
          <p:cNvSpPr/>
          <p:nvPr/>
        </p:nvSpPr>
        <p:spPr>
          <a:xfrm>
            <a:off x="9433047" y="6134166"/>
            <a:ext cx="2212527" cy="777826"/>
          </a:xfrm>
          <a:prstGeom prst="roundRect">
            <a:avLst/>
          </a:prstGeom>
          <a:solidFill>
            <a:srgbClr val="FBFAF7"/>
          </a:solidFill>
          <a:ln w="3175">
            <a:solidFill>
              <a:srgbClr val="B52C16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79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경영관리부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F4C4F1-46CF-E9B5-70DF-69107089D6DC}"/>
              </a:ext>
            </a:extLst>
          </p:cNvPr>
          <p:cNvSpPr/>
          <p:nvPr/>
        </p:nvSpPr>
        <p:spPr>
          <a:xfrm>
            <a:off x="12098945" y="6134166"/>
            <a:ext cx="2212527" cy="777826"/>
          </a:xfrm>
          <a:prstGeom prst="roundRect">
            <a:avLst/>
          </a:prstGeom>
          <a:solidFill>
            <a:srgbClr val="FBFAF7"/>
          </a:solidFill>
          <a:ln w="3175">
            <a:solidFill>
              <a:srgbClr val="B52C16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79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영업본부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A420C31-4977-A1F1-15A5-C7C5DE887EDC}"/>
              </a:ext>
            </a:extLst>
          </p:cNvPr>
          <p:cNvSpPr/>
          <p:nvPr/>
        </p:nvSpPr>
        <p:spPr>
          <a:xfrm>
            <a:off x="14756553" y="6134166"/>
            <a:ext cx="2212527" cy="777826"/>
          </a:xfrm>
          <a:prstGeom prst="roundRect">
            <a:avLst/>
          </a:prstGeom>
          <a:solidFill>
            <a:srgbClr val="FBFAF7"/>
          </a:solidFill>
          <a:ln w="3175">
            <a:solidFill>
              <a:srgbClr val="B52C16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79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금융사업본부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C9A9C6-C756-8BA1-305B-292407245F1F}"/>
              </a:ext>
            </a:extLst>
          </p:cNvPr>
          <p:cNvSpPr/>
          <p:nvPr/>
        </p:nvSpPr>
        <p:spPr>
          <a:xfrm>
            <a:off x="14970291" y="8137273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SI</a:t>
            </a: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사업</a:t>
            </a:r>
            <a:r>
              <a:rPr kumimoji="0" lang="en-US" altLang="ko-KR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1</a:t>
            </a: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633BBA-161A-68FE-A703-913F9DFACAB2}"/>
              </a:ext>
            </a:extLst>
          </p:cNvPr>
          <p:cNvSpPr/>
          <p:nvPr/>
        </p:nvSpPr>
        <p:spPr>
          <a:xfrm>
            <a:off x="14970291" y="9011477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SI</a:t>
            </a: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사업</a:t>
            </a:r>
            <a:r>
              <a:rPr kumimoji="0" lang="en-US" altLang="ko-KR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2</a:t>
            </a: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97C6BD-A1E1-275E-CEC4-A6649B329F88}"/>
              </a:ext>
            </a:extLst>
          </p:cNvPr>
          <p:cNvSpPr/>
          <p:nvPr/>
        </p:nvSpPr>
        <p:spPr>
          <a:xfrm>
            <a:off x="14970291" y="9902135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운영유지팀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7296AB3-8345-8F10-A500-833A663F22E4}"/>
              </a:ext>
            </a:extLst>
          </p:cNvPr>
          <p:cNvCxnSpPr>
            <a:cxnSpLocks/>
            <a:stCxn id="9" idx="4"/>
            <a:endCxn id="12" idx="0"/>
          </p:cNvCxnSpPr>
          <p:nvPr/>
        </p:nvCxnSpPr>
        <p:spPr>
          <a:xfrm>
            <a:off x="13168116" y="4746599"/>
            <a:ext cx="37093" cy="13875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1A56315-D4D1-3E21-1305-5164FC583940}"/>
              </a:ext>
            </a:extLst>
          </p:cNvPr>
          <p:cNvCxnSpPr>
            <a:cxnSpLocks/>
          </p:cNvCxnSpPr>
          <p:nvPr/>
        </p:nvCxnSpPr>
        <p:spPr>
          <a:xfrm>
            <a:off x="14775305" y="6970105"/>
            <a:ext cx="0" cy="31254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FCE049A-C803-C30F-81D6-BAF06F708EA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775305" y="8493120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7581D8E-1340-4882-DE39-963C0C41CE60}"/>
              </a:ext>
            </a:extLst>
          </p:cNvPr>
          <p:cNvCxnSpPr>
            <a:cxnSpLocks/>
          </p:cNvCxnSpPr>
          <p:nvPr/>
        </p:nvCxnSpPr>
        <p:spPr>
          <a:xfrm>
            <a:off x="14775305" y="9337366"/>
            <a:ext cx="17896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457EE45-0EB9-2762-3A0A-170D3D876B70}"/>
              </a:ext>
            </a:extLst>
          </p:cNvPr>
          <p:cNvCxnSpPr>
            <a:cxnSpLocks/>
          </p:cNvCxnSpPr>
          <p:nvPr/>
        </p:nvCxnSpPr>
        <p:spPr>
          <a:xfrm>
            <a:off x="14775305" y="10083514"/>
            <a:ext cx="178969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D18397E-39F7-208A-F157-241C70734D1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3169192" y="5247697"/>
            <a:ext cx="1276499" cy="103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C8571F7-C8C4-F089-AAA9-C4BA0A6B5661}"/>
              </a:ext>
            </a:extLst>
          </p:cNvPr>
          <p:cNvCxnSpPr>
            <a:cxnSpLocks/>
          </p:cNvCxnSpPr>
          <p:nvPr/>
        </p:nvCxnSpPr>
        <p:spPr>
          <a:xfrm>
            <a:off x="10539312" y="5879912"/>
            <a:ext cx="53103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8190CEF-0EDA-CA15-E34A-3813D19B2E3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0539312" y="5879912"/>
            <a:ext cx="0" cy="25425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51B5EAD-2750-C7E7-ACB4-9E28F3C1B82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5862818" y="5879912"/>
            <a:ext cx="0" cy="254253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35E4A2B-D6C9-00B0-766B-0C707DD70C84}"/>
              </a:ext>
            </a:extLst>
          </p:cNvPr>
          <p:cNvCxnSpPr>
            <a:cxnSpLocks/>
          </p:cNvCxnSpPr>
          <p:nvPr/>
        </p:nvCxnSpPr>
        <p:spPr>
          <a:xfrm>
            <a:off x="14776732" y="7529695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605A84F-6DB1-CD6A-3423-C31CEE6BD820}"/>
              </a:ext>
            </a:extLst>
          </p:cNvPr>
          <p:cNvSpPr/>
          <p:nvPr/>
        </p:nvSpPr>
        <p:spPr>
          <a:xfrm>
            <a:off x="14987049" y="7265720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컨설팅팀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B2A4F6D-D2CA-D88C-F0D7-E416839B6C47}"/>
              </a:ext>
            </a:extLst>
          </p:cNvPr>
          <p:cNvSpPr/>
          <p:nvPr/>
        </p:nvSpPr>
        <p:spPr>
          <a:xfrm>
            <a:off x="12360470" y="8153379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솔루션영업팀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0165AFA-F41F-6A6F-67D9-2F9B2C9440D7}"/>
              </a:ext>
            </a:extLst>
          </p:cNvPr>
          <p:cNvCxnSpPr>
            <a:cxnSpLocks/>
          </p:cNvCxnSpPr>
          <p:nvPr/>
        </p:nvCxnSpPr>
        <p:spPr>
          <a:xfrm>
            <a:off x="12165485" y="6986210"/>
            <a:ext cx="0" cy="15206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8A7D264-13A6-4811-CC55-2B42A5AC757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2165485" y="8509226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DC613CF-C0FE-484F-940E-C111162EFB2E}"/>
              </a:ext>
            </a:extLst>
          </p:cNvPr>
          <p:cNvCxnSpPr>
            <a:cxnSpLocks/>
          </p:cNvCxnSpPr>
          <p:nvPr/>
        </p:nvCxnSpPr>
        <p:spPr>
          <a:xfrm>
            <a:off x="12166911" y="7545801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FD4980-3B27-6A8F-20B0-EE058072413A}"/>
              </a:ext>
            </a:extLst>
          </p:cNvPr>
          <p:cNvSpPr/>
          <p:nvPr/>
        </p:nvSpPr>
        <p:spPr>
          <a:xfrm>
            <a:off x="12377229" y="7281826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SI</a:t>
            </a: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영업팀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8992396-33CA-3CE5-FD41-141033A894CA}"/>
              </a:ext>
            </a:extLst>
          </p:cNvPr>
          <p:cNvSpPr/>
          <p:nvPr/>
        </p:nvSpPr>
        <p:spPr>
          <a:xfrm>
            <a:off x="9654691" y="8128332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사업지원팀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52660CF-1E3E-878B-2064-A84BCAE161B2}"/>
              </a:ext>
            </a:extLst>
          </p:cNvPr>
          <p:cNvCxnSpPr>
            <a:cxnSpLocks/>
          </p:cNvCxnSpPr>
          <p:nvPr/>
        </p:nvCxnSpPr>
        <p:spPr>
          <a:xfrm>
            <a:off x="9459705" y="6961163"/>
            <a:ext cx="0" cy="15206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0A303AE-EAAB-EDA0-28F7-9DD1CAADD1E9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9459705" y="8484179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642A0C4-1084-7785-16E9-19D4EB4E3B78}"/>
              </a:ext>
            </a:extLst>
          </p:cNvPr>
          <p:cNvCxnSpPr>
            <a:cxnSpLocks/>
          </p:cNvCxnSpPr>
          <p:nvPr/>
        </p:nvCxnSpPr>
        <p:spPr>
          <a:xfrm>
            <a:off x="9461131" y="7520754"/>
            <a:ext cx="1949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2A20A76-B110-96D1-A4A0-8A8AD8B64984}"/>
              </a:ext>
            </a:extLst>
          </p:cNvPr>
          <p:cNvSpPr/>
          <p:nvPr/>
        </p:nvSpPr>
        <p:spPr>
          <a:xfrm>
            <a:off x="9671449" y="7256779"/>
            <a:ext cx="1942822" cy="7116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503020000020004"/>
                <a:ea typeface="Noto Sans KR" panose="020B0503020000020004"/>
                <a:cs typeface="+mn-cs"/>
              </a:rPr>
              <a:t>경영관리실</a:t>
            </a:r>
          </a:p>
        </p:txBody>
      </p:sp>
      <p:graphicFrame>
        <p:nvGraphicFramePr>
          <p:cNvPr id="56" name="Google Shape;631;p78">
            <a:extLst>
              <a:ext uri="{FF2B5EF4-FFF2-40B4-BE49-F238E27FC236}">
                <a16:creationId xmlns:a16="http://schemas.microsoft.com/office/drawing/2014/main" id="{730C4D16-D55D-46A9-7019-0EB85F2E05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8689004"/>
              </p:ext>
            </p:extLst>
          </p:nvPr>
        </p:nvGraphicFramePr>
        <p:xfrm>
          <a:off x="256789" y="1674324"/>
          <a:ext cx="4475207" cy="45023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6286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구분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계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전문분야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A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관리분야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8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43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PMO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43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개발자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43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컨설팅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43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인프라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sz="1439" b="1" u="none" strike="noStrike" cap="none" dirty="0">
                          <a:solidFill>
                            <a:schemeClr val="tx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기타</a:t>
                      </a:r>
                      <a:endParaRPr sz="1400" u="none" strike="noStrike" cap="none" dirty="0">
                        <a:solidFill>
                          <a:schemeClr val="tx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계</a:t>
                      </a:r>
                      <a:endParaRPr sz="140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4</a:t>
                      </a:r>
                      <a:r>
                        <a:rPr lang="en-US" alt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5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7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3</a:t>
                      </a:r>
                      <a:r>
                        <a:rPr lang="en-US" alt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0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4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619" b="0" u="none" strike="noStrike" cap="none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2</a:t>
                      </a:r>
                      <a:endParaRPr sz="900" b="0" u="none" strike="noStrike" cap="none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컨설턴트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4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4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특급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기술자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16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7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6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u="none" strike="noStrike" cap="non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u="none" strike="noStrike" cap="non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고급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기술자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r>
                        <a:rPr lang="en-US" alt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2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r>
                        <a:rPr lang="en-US" alt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ko-KR" sz="1619" b="0" i="0" u="none" strike="noStrike" cap="none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1</a:t>
                      </a: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중급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기술자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6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6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초급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기술자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7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7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1619" b="1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기능사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619" b="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Arial"/>
                        </a:rPr>
                        <a:t>0</a:t>
                      </a: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635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endParaRPr sz="900" b="0" i="0" u="none" strike="noStrike" cap="none" dirty="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5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90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3515</TotalTime>
  <Words>714</Words>
  <Application>Microsoft Office PowerPoint</Application>
  <PresentationFormat>A4 용지(210x297mm)</PresentationFormat>
  <Paragraphs>161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Montserrat</vt:lpstr>
      <vt:lpstr>Noto Sans KR</vt:lpstr>
      <vt:lpstr>Malgun Gothic</vt:lpstr>
      <vt:lpstr>Malgun Gothic</vt:lpstr>
      <vt:lpstr>Arial</vt:lpstr>
      <vt:lpstr>Calibri</vt:lpstr>
      <vt:lpstr>Calibri Light</vt:lpstr>
      <vt:lpstr>Office 테마</vt:lpstr>
      <vt:lpstr>PowerPoint 프레젠테이션</vt:lpstr>
      <vt:lpstr>Ⅰ. </vt:lpstr>
      <vt:lpstr>1. 현행 시스템 현황</vt:lpstr>
      <vt:lpstr>2. 제안의 범위 및 핵심 성공 요소</vt:lpstr>
      <vt:lpstr>3. 제안의 차별성 및 기대효과</vt:lpstr>
      <vt:lpstr>Ⅱ. </vt:lpstr>
      <vt:lpstr>1. 제안사 일반 현황</vt:lpstr>
      <vt:lpstr>2. 조직 및 인력 현황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디자이너</cp:lastModifiedBy>
  <cp:revision>264</cp:revision>
  <cp:lastPrinted>2025-03-07T00:38:20Z</cp:lastPrinted>
  <dcterms:created xsi:type="dcterms:W3CDTF">2025-01-16T05:42:37Z</dcterms:created>
  <dcterms:modified xsi:type="dcterms:W3CDTF">2026-06-29T07:41:28Z</dcterms:modified>
</cp:coreProperties>
</file>
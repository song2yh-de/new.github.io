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8" r:id="rId2"/>
    <p:sldId id="257" r:id="rId3"/>
    <p:sldId id="261" r:id="rId4"/>
    <p:sldId id="262" r:id="rId5"/>
    <p:sldId id="263" r:id="rId6"/>
    <p:sldId id="265" r:id="rId7"/>
    <p:sldId id="266" r:id="rId8"/>
    <p:sldId id="267" r:id="rId9"/>
  </p:sldIdLst>
  <p:sldSz cx="17830800" cy="12344400"/>
  <p:notesSz cx="12344400" cy="17830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AF7"/>
    <a:srgbClr val="A8A1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97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10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3574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제안서 전체를 관통하는 한 문장. 단순 앱이 아니라 온·오프라인 통합 멤버십 플랫폼임을 선언합니다.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200143" y="206909"/>
            <a:ext cx="17430514" cy="11930583"/>
          </a:xfrm>
          <a:prstGeom prst="roundRect">
            <a:avLst>
              <a:gd name="adj" fmla="val 91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1897" y="11532530"/>
            <a:ext cx="1269564" cy="32754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64" y="11532530"/>
            <a:ext cx="1644768" cy="391454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895071" y="1848930"/>
            <a:ext cx="3751027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5400" b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CONTENTS</a:t>
            </a:r>
            <a:endParaRPr lang="ko-KR" altLang="en-US" sz="5400" b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895071" y="2833394"/>
            <a:ext cx="3481722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8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LIFEPLUS </a:t>
            </a:r>
            <a:r>
              <a:rPr lang="ko-KR" altLang="en-US" sz="18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온</a:t>
            </a:r>
            <a:r>
              <a:rPr lang="en-US" altLang="ko-KR" sz="18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8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오프라인 통합 멤버십 </a:t>
            </a:r>
            <a:endParaRPr lang="en-US" altLang="ko-KR" sz="1800" b="0" smtClean="0"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8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CXM </a:t>
            </a:r>
            <a:r>
              <a:rPr lang="ko-KR" altLang="en-US" sz="18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플랫폼 구축 제안</a:t>
            </a:r>
            <a:endParaRPr lang="ko-KR" altLang="en-US" sz="1800" b="0"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9240149" y="1599854"/>
            <a:ext cx="634265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 userDrawn="1"/>
        </p:nvSpPr>
        <p:spPr>
          <a:xfrm>
            <a:off x="9375535" y="1985857"/>
            <a:ext cx="1401025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800" b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제안 개요</a:t>
            </a:r>
            <a:endParaRPr lang="ko-KR" altLang="en-US" sz="2800" b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4851729" y="1985857"/>
            <a:ext cx="731070" cy="492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800" b="0" smtClean="0">
                <a:solidFill>
                  <a:srgbClr val="B52C16"/>
                </a:solidFill>
                <a:latin typeface="Noto Sans KR"/>
                <a:ea typeface="Noto Sans KR"/>
              </a:rPr>
              <a:t>Ⅰ</a:t>
            </a:r>
            <a:endParaRPr lang="ko-KR" altLang="en-US" sz="1800" b="0">
              <a:solidFill>
                <a:srgbClr val="B52C16"/>
              </a:solidFill>
              <a:latin typeface="Noto Sans KR"/>
              <a:ea typeface="Noto Sans KR"/>
            </a:endParaRP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9240149" y="3007346"/>
            <a:ext cx="634265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9375535" y="3393349"/>
            <a:ext cx="272189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800" b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제안업체 일반현황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4851729" y="3393349"/>
            <a:ext cx="731070" cy="492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800" b="0" smtClean="0">
                <a:solidFill>
                  <a:srgbClr val="B52C16"/>
                </a:solidFill>
                <a:latin typeface="Noto Sans KR"/>
                <a:ea typeface="Noto Sans KR"/>
              </a:rPr>
              <a:t>II</a:t>
            </a:r>
            <a:endParaRPr lang="ko-KR" altLang="en-US" sz="1800" b="0">
              <a:solidFill>
                <a:srgbClr val="B52C16"/>
              </a:solidFill>
              <a:latin typeface="Noto Sans KR"/>
              <a:ea typeface="Noto Sans KR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9240149" y="4414838"/>
            <a:ext cx="634265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 userDrawn="1"/>
        </p:nvSpPr>
        <p:spPr>
          <a:xfrm>
            <a:off x="9375535" y="4800841"/>
            <a:ext cx="2551981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800" b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기술 및 기능 부문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14851729" y="4800841"/>
            <a:ext cx="731070" cy="492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800" b="0" smtClean="0">
                <a:solidFill>
                  <a:srgbClr val="B52C16"/>
                </a:solidFill>
                <a:latin typeface="Noto Sans KR"/>
                <a:ea typeface="Noto Sans KR"/>
              </a:rPr>
              <a:t>III</a:t>
            </a:r>
            <a:endParaRPr lang="ko-KR" altLang="en-US" sz="1800" b="0">
              <a:solidFill>
                <a:srgbClr val="B52C16"/>
              </a:solidFill>
              <a:latin typeface="Noto Sans KR"/>
              <a:ea typeface="Noto Sans KR"/>
            </a:endParaRPr>
          </a:p>
        </p:txBody>
      </p:sp>
      <p:cxnSp>
        <p:nvCxnSpPr>
          <p:cNvPr id="17" name="직선 연결선 16"/>
          <p:cNvCxnSpPr/>
          <p:nvPr userDrawn="1"/>
        </p:nvCxnSpPr>
        <p:spPr>
          <a:xfrm>
            <a:off x="9240149" y="5822331"/>
            <a:ext cx="634265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 userDrawn="1"/>
        </p:nvSpPr>
        <p:spPr>
          <a:xfrm>
            <a:off x="9375535" y="6208334"/>
            <a:ext cx="2061462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800" b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사업수행 부문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14851729" y="6208334"/>
            <a:ext cx="731070" cy="492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800" b="0" smtClean="0">
                <a:solidFill>
                  <a:srgbClr val="B52C16"/>
                </a:solidFill>
                <a:latin typeface="Noto Sans KR"/>
                <a:ea typeface="Noto Sans KR"/>
              </a:rPr>
              <a:t>IV</a:t>
            </a:r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9240149" y="7229823"/>
            <a:ext cx="634265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9375535" y="7615826"/>
            <a:ext cx="3542636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800" b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품질보증 및 테스트 부문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14851729" y="7615826"/>
            <a:ext cx="731070" cy="492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800" b="0" smtClean="0">
                <a:solidFill>
                  <a:srgbClr val="B52C16"/>
                </a:solidFill>
                <a:latin typeface="Noto Sans KR"/>
                <a:ea typeface="Noto Sans KR"/>
              </a:rPr>
              <a:t>V</a:t>
            </a:r>
            <a:endParaRPr lang="ko-KR" altLang="en-US" sz="1800" b="0">
              <a:solidFill>
                <a:srgbClr val="B52C16"/>
              </a:solidFill>
              <a:latin typeface="Noto Sans KR"/>
              <a:ea typeface="Noto Sans KR"/>
            </a:endParaRPr>
          </a:p>
        </p:txBody>
      </p:sp>
      <p:cxnSp>
        <p:nvCxnSpPr>
          <p:cNvPr id="23" name="직선 연결선 22"/>
          <p:cNvCxnSpPr/>
          <p:nvPr userDrawn="1"/>
        </p:nvCxnSpPr>
        <p:spPr>
          <a:xfrm>
            <a:off x="9240149" y="8637317"/>
            <a:ext cx="634265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 userDrawn="1"/>
        </p:nvSpPr>
        <p:spPr>
          <a:xfrm>
            <a:off x="9375535" y="9023320"/>
            <a:ext cx="280204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800" b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기술이전 및 내재화</a:t>
            </a:r>
          </a:p>
        </p:txBody>
      </p:sp>
      <p:sp>
        <p:nvSpPr>
          <p:cNvPr id="25" name="TextBox 24"/>
          <p:cNvSpPr txBox="1"/>
          <p:nvPr userDrawn="1"/>
        </p:nvSpPr>
        <p:spPr>
          <a:xfrm>
            <a:off x="14851729" y="9023320"/>
            <a:ext cx="731070" cy="492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800" b="0" smtClean="0">
                <a:solidFill>
                  <a:srgbClr val="B52C16"/>
                </a:solidFill>
                <a:latin typeface="Noto Sans KR"/>
                <a:ea typeface="Noto Sans KR"/>
              </a:rPr>
              <a:t>VI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7E588D0-FBA9-452B-B06B-2B94F71D1BA5}"/>
              </a:ext>
            </a:extLst>
          </p:cNvPr>
          <p:cNvSpPr/>
          <p:nvPr userDrawn="1"/>
        </p:nvSpPr>
        <p:spPr>
          <a:xfrm>
            <a:off x="8694828" y="11532530"/>
            <a:ext cx="44114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fld id="{E7FF73EE-DEFA-DD40-A162-19EE85813BBC}" type="slidenum">
              <a:rPr kumimoji="1" lang="ko-KR" altLang="en-US" sz="1600" b="0" smtClean="0">
                <a:solidFill>
                  <a:schemeClr val="bg1">
                    <a:lumMod val="50000"/>
                  </a:schemeClr>
                </a:solidFill>
                <a:latin typeface="Noto Sans KR" panose="020B0503020000020004"/>
              </a:rPr>
              <a:pPr algn="ctr"/>
              <a:t>‹#›</a:t>
            </a:fld>
            <a:endParaRPr kumimoji="1" lang="ko-KR" altLang="en-US" sz="1600" b="0" dirty="0">
              <a:solidFill>
                <a:schemeClr val="bg1">
                  <a:lumMod val="50000"/>
                </a:schemeClr>
              </a:solidFill>
              <a:latin typeface="Noto Sans KR" panose="020B050302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462701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273629" y="4503617"/>
            <a:ext cx="3623166" cy="117792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ctr">
              <a:buFontTx/>
              <a:buNone/>
              <a:defRPr sz="3600" b="1">
                <a:solidFill>
                  <a:schemeClr val="tx1"/>
                </a:solidFill>
              </a:defRPr>
            </a:lvl1pPr>
            <a:lvl2pPr marL="457200" indent="0" algn="ctr">
              <a:buFontTx/>
              <a:buNone/>
              <a:defRPr sz="3600" b="1">
                <a:solidFill>
                  <a:schemeClr val="tx1"/>
                </a:solidFill>
              </a:defRPr>
            </a:lvl2pPr>
            <a:lvl3pPr marL="914400" indent="0" algn="ctr">
              <a:buFontTx/>
              <a:buNone/>
              <a:defRPr sz="3600" b="1">
                <a:solidFill>
                  <a:schemeClr val="tx1"/>
                </a:solidFill>
              </a:defRPr>
            </a:lvl3pPr>
            <a:lvl4pPr marL="1371600" indent="0" algn="ctr">
              <a:buFontTx/>
              <a:buNone/>
              <a:defRPr sz="3600" b="1">
                <a:solidFill>
                  <a:schemeClr val="tx1"/>
                </a:solidFill>
              </a:defRPr>
            </a:lvl4pPr>
            <a:lvl5pPr marL="1828800" indent="0" algn="ctr">
              <a:buFontTx/>
              <a:buNone/>
              <a:defRPr sz="3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타원 4"/>
          <p:cNvSpPr/>
          <p:nvPr userDrawn="1"/>
        </p:nvSpPr>
        <p:spPr>
          <a:xfrm>
            <a:off x="2785315" y="3815397"/>
            <a:ext cx="643332" cy="6433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1224E"/>
              </a:solidFill>
            </a:endParaRP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1608381" y="3886998"/>
            <a:ext cx="2997200" cy="500129"/>
          </a:xfrm>
          <a:prstGeom prst="rect">
            <a:avLst/>
          </a:prstGeom>
        </p:spPr>
        <p:txBody>
          <a:bodyPr lIns="0">
            <a:normAutofit/>
          </a:bodyPr>
          <a:lstStyle>
            <a:lvl1pPr algn="ctr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자유형 6"/>
          <p:cNvSpPr/>
          <p:nvPr userDrawn="1"/>
        </p:nvSpPr>
        <p:spPr>
          <a:xfrm>
            <a:off x="6467966" y="82550"/>
            <a:ext cx="11362834" cy="12253758"/>
          </a:xfrm>
          <a:custGeom>
            <a:avLst/>
            <a:gdLst>
              <a:gd name="connsiteX0" fmla="*/ 1718517 w 6282834"/>
              <a:gd name="connsiteY0" fmla="*/ 0 h 6775451"/>
              <a:gd name="connsiteX1" fmla="*/ 6282834 w 6282834"/>
              <a:gd name="connsiteY1" fmla="*/ 0 h 6775451"/>
              <a:gd name="connsiteX2" fmla="*/ 6282834 w 6282834"/>
              <a:gd name="connsiteY2" fmla="*/ 6775451 h 6775451"/>
              <a:gd name="connsiteX3" fmla="*/ 0 w 6282834"/>
              <a:gd name="connsiteY3" fmla="*/ 6775451 h 6775451"/>
              <a:gd name="connsiteX4" fmla="*/ 0 w 6282834"/>
              <a:gd name="connsiteY4" fmla="*/ 1718517 h 6775451"/>
              <a:gd name="connsiteX5" fmla="*/ 1718517 w 6282834"/>
              <a:gd name="connsiteY5" fmla="*/ 0 h 6775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82834" h="6775451">
                <a:moveTo>
                  <a:pt x="1718517" y="0"/>
                </a:moveTo>
                <a:lnTo>
                  <a:pt x="6282834" y="0"/>
                </a:lnTo>
                <a:lnTo>
                  <a:pt x="6282834" y="6775451"/>
                </a:lnTo>
                <a:lnTo>
                  <a:pt x="0" y="6775451"/>
                </a:lnTo>
                <a:lnTo>
                  <a:pt x="0" y="1718517"/>
                </a:lnTo>
                <a:cubicBezTo>
                  <a:pt x="0" y="769406"/>
                  <a:pt x="769406" y="0"/>
                  <a:pt x="171851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474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0"/>
            <a:ext cx="17830800" cy="5131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 userDrawn="1"/>
        </p:nvSpPr>
        <p:spPr>
          <a:xfrm>
            <a:off x="0" y="41944"/>
            <a:ext cx="1996440" cy="942429"/>
          </a:xfrm>
          <a:prstGeom prst="roundRect">
            <a:avLst>
              <a:gd name="adj" fmla="val 46584"/>
            </a:avLst>
          </a:prstGeom>
          <a:solidFill>
            <a:srgbClr val="FBFA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 userDrawn="1"/>
        </p:nvSpPr>
        <p:spPr>
          <a:xfrm>
            <a:off x="0" y="835356"/>
            <a:ext cx="17830800" cy="1041069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자유형 4"/>
          <p:cNvSpPr/>
          <p:nvPr userDrawn="1"/>
        </p:nvSpPr>
        <p:spPr>
          <a:xfrm>
            <a:off x="0" y="40640"/>
            <a:ext cx="17830800" cy="1030148"/>
          </a:xfrm>
          <a:custGeom>
            <a:avLst/>
            <a:gdLst>
              <a:gd name="connsiteX0" fmla="*/ 473245 w 9906000"/>
              <a:gd name="connsiteY0" fmla="*/ 0 h 1030148"/>
              <a:gd name="connsiteX1" fmla="*/ 9906000 w 9906000"/>
              <a:gd name="connsiteY1" fmla="*/ 0 h 1030148"/>
              <a:gd name="connsiteX2" fmla="*/ 9906000 w 9906000"/>
              <a:gd name="connsiteY2" fmla="*/ 1030148 h 1030148"/>
              <a:gd name="connsiteX3" fmla="*/ 0 w 9906000"/>
              <a:gd name="connsiteY3" fmla="*/ 1030148 h 1030148"/>
              <a:gd name="connsiteX4" fmla="*/ 0 w 9906000"/>
              <a:gd name="connsiteY4" fmla="*/ 473245 h 1030148"/>
              <a:gd name="connsiteX5" fmla="*/ 473245 w 9906000"/>
              <a:gd name="connsiteY5" fmla="*/ 0 h 1030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06000" h="1030148">
                <a:moveTo>
                  <a:pt x="473245" y="0"/>
                </a:moveTo>
                <a:lnTo>
                  <a:pt x="9906000" y="0"/>
                </a:lnTo>
                <a:lnTo>
                  <a:pt x="9906000" y="1030148"/>
                </a:lnTo>
                <a:lnTo>
                  <a:pt x="0" y="1030148"/>
                </a:lnTo>
                <a:lnTo>
                  <a:pt x="0" y="473245"/>
                </a:lnTo>
                <a:cubicBezTo>
                  <a:pt x="0" y="211879"/>
                  <a:pt x="211879" y="0"/>
                  <a:pt x="473245" y="0"/>
                </a:cubicBezTo>
                <a:close/>
              </a:path>
            </a:pathLst>
          </a:custGeom>
          <a:solidFill>
            <a:srgbClr val="FBFA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 userDrawn="1">
            <p:ph type="ctrTitle" hasCustomPrompt="1"/>
          </p:nvPr>
        </p:nvSpPr>
        <p:spPr>
          <a:xfrm>
            <a:off x="447288" y="543948"/>
            <a:ext cx="12354311" cy="44988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sz="2400" b="1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en-US" altLang="ko-KR" dirty="0"/>
              <a:t>t</a:t>
            </a:r>
            <a:endParaRPr lang="ko-KR" altLang="en-US" dirty="0"/>
          </a:p>
        </p:txBody>
      </p:sp>
      <p:sp>
        <p:nvSpPr>
          <p:cNvPr id="7" name="텍스트 개체 틀 16"/>
          <p:cNvSpPr>
            <a:spLocks noGrp="1"/>
          </p:cNvSpPr>
          <p:nvPr userDrawn="1">
            <p:ph type="body" sz="quarter" idx="10"/>
          </p:nvPr>
        </p:nvSpPr>
        <p:spPr>
          <a:xfrm>
            <a:off x="447289" y="1066850"/>
            <a:ext cx="14611736" cy="714325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 spc="-39" baseline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13940695" y="-42223"/>
            <a:ext cx="3658053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50" b="0" u="sng" smtClean="0">
                <a:solidFill>
                  <a:schemeClr val="tx1">
                    <a:lumMod val="95000"/>
                    <a:lumOff val="5000"/>
                  </a:schemeClr>
                </a:solidFill>
                <a:latin typeface="Noto Sans KR"/>
                <a:ea typeface="Noto Sans KR"/>
              </a:rPr>
              <a:t>LIFEPLUS </a:t>
            </a:r>
            <a:r>
              <a:rPr lang="ko-KR" altLang="en-US" sz="1050" b="0" u="sng" smtClean="0">
                <a:solidFill>
                  <a:schemeClr val="tx1">
                    <a:lumMod val="95000"/>
                    <a:lumOff val="5000"/>
                  </a:schemeClr>
                </a:solidFill>
                <a:latin typeface="Noto Sans KR"/>
                <a:ea typeface="Noto Sans KR"/>
              </a:rPr>
              <a:t>온</a:t>
            </a:r>
            <a:r>
              <a:rPr lang="en-US" altLang="ko-KR" sz="1050" b="0" u="sng" smtClean="0">
                <a:solidFill>
                  <a:schemeClr val="tx1">
                    <a:lumMod val="95000"/>
                    <a:lumOff val="5000"/>
                  </a:schemeClr>
                </a:solidFill>
                <a:latin typeface="Noto Sans KR"/>
                <a:ea typeface="Noto Sans KR"/>
              </a:rPr>
              <a:t>·</a:t>
            </a:r>
            <a:r>
              <a:rPr lang="ko-KR" altLang="en-US" sz="1050" b="0" u="sng" smtClean="0">
                <a:solidFill>
                  <a:schemeClr val="tx1">
                    <a:lumMod val="95000"/>
                    <a:lumOff val="5000"/>
                  </a:schemeClr>
                </a:solidFill>
                <a:latin typeface="Noto Sans KR"/>
                <a:ea typeface="Noto Sans KR"/>
              </a:rPr>
              <a:t>오프라인 통합 멤버십 </a:t>
            </a:r>
            <a:r>
              <a:rPr lang="en-US" altLang="ko-KR" sz="1050" b="0" u="sng" smtClean="0">
                <a:solidFill>
                  <a:schemeClr val="tx1">
                    <a:lumMod val="95000"/>
                    <a:lumOff val="5000"/>
                  </a:schemeClr>
                </a:solidFill>
                <a:latin typeface="Noto Sans KR"/>
                <a:ea typeface="Noto Sans KR"/>
              </a:rPr>
              <a:t>CXM </a:t>
            </a:r>
            <a:r>
              <a:rPr lang="ko-KR" altLang="en-US" sz="1050" b="0" u="sng" smtClean="0">
                <a:solidFill>
                  <a:schemeClr val="tx1">
                    <a:lumMod val="95000"/>
                    <a:lumOff val="5000"/>
                  </a:schemeClr>
                </a:solidFill>
                <a:latin typeface="Noto Sans KR"/>
                <a:ea typeface="Noto Sans KR"/>
              </a:rPr>
              <a:t>플랫폼 구축 제안 </a:t>
            </a:r>
            <a:r>
              <a:rPr lang="en-US" altLang="ko-KR" sz="3600" b="1" u="sng" smtClean="0">
                <a:solidFill>
                  <a:schemeClr val="tx1">
                    <a:lumMod val="95000"/>
                    <a:lumOff val="5000"/>
                  </a:schemeClr>
                </a:solidFill>
                <a:latin typeface="Noto Sans KR"/>
                <a:ea typeface="Noto Sans KR"/>
              </a:rPr>
              <a:t>.</a:t>
            </a:r>
            <a:endParaRPr lang="ko-KR" altLang="en-US" sz="3600" b="1" u="sng" dirty="0">
              <a:solidFill>
                <a:schemeClr val="tx1">
                  <a:lumMod val="95000"/>
                  <a:lumOff val="5000"/>
                </a:schemeClr>
              </a:solidFill>
              <a:latin typeface="Noto Sans KR"/>
              <a:ea typeface="Noto Sans KR"/>
            </a:endParaRPr>
          </a:p>
        </p:txBody>
      </p:sp>
      <p:sp>
        <p:nvSpPr>
          <p:cNvPr id="9" name="텍스트 개체 틀 36"/>
          <p:cNvSpPr>
            <a:spLocks noGrp="1"/>
          </p:cNvSpPr>
          <p:nvPr userDrawn="1">
            <p:ph type="body" sz="quarter" idx="11"/>
          </p:nvPr>
        </p:nvSpPr>
        <p:spPr>
          <a:xfrm>
            <a:off x="14554200" y="504593"/>
            <a:ext cx="3044548" cy="305470"/>
          </a:xfrm>
          <a:prstGeom prst="rect">
            <a:avLst/>
          </a:prstGeom>
        </p:spPr>
        <p:txBody>
          <a:bodyPr rIns="0">
            <a:noAutofit/>
          </a:bodyPr>
          <a:lstStyle>
            <a:lvl1pPr marL="0" indent="0" algn="r">
              <a:buFontTx/>
              <a:buNone/>
              <a:defRPr sz="14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r">
              <a:buFontTx/>
              <a:buNone/>
              <a:defRPr sz="1400" b="1">
                <a:solidFill>
                  <a:schemeClr val="tx1">
                    <a:lumMod val="95000"/>
                    <a:lumOff val="5000"/>
                  </a:schemeClr>
                </a:solidFill>
              </a:defRPr>
            </a:lvl2pPr>
            <a:lvl3pPr marL="914400" indent="0" algn="r">
              <a:buFontTx/>
              <a:buNone/>
              <a:defRPr sz="1400" b="1">
                <a:solidFill>
                  <a:schemeClr val="tx1">
                    <a:lumMod val="95000"/>
                    <a:lumOff val="5000"/>
                  </a:schemeClr>
                </a:solidFill>
              </a:defRPr>
            </a:lvl3pPr>
            <a:lvl4pPr marL="1371600" indent="0" algn="r">
              <a:buFontTx/>
              <a:buNone/>
              <a:defRPr sz="1400" b="1">
                <a:solidFill>
                  <a:schemeClr val="tx1">
                    <a:lumMod val="95000"/>
                    <a:lumOff val="5000"/>
                  </a:schemeClr>
                </a:solidFill>
              </a:defRPr>
            </a:lvl4pPr>
            <a:lvl5pPr marL="1828800" indent="0" algn="r">
              <a:buFontTx/>
              <a:buNone/>
              <a:defRPr sz="1400" b="1">
                <a:solidFill>
                  <a:schemeClr val="tx1">
                    <a:lumMod val="95000"/>
                    <a:lumOff val="5000"/>
                  </a:schemeClr>
                </a:solidFill>
              </a:defRPr>
            </a:lvl5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0" y="11843892"/>
            <a:ext cx="17830800" cy="5005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7E588D0-FBA9-452B-B06B-2B94F71D1BA5}"/>
              </a:ext>
            </a:extLst>
          </p:cNvPr>
          <p:cNvSpPr/>
          <p:nvPr userDrawn="1"/>
        </p:nvSpPr>
        <p:spPr>
          <a:xfrm>
            <a:off x="8694827" y="11934165"/>
            <a:ext cx="44114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fld id="{E7FF73EE-DEFA-DD40-A162-19EE85813BBC}" type="slidenum">
              <a:rPr kumimoji="1" lang="ko-KR" altLang="en-US" sz="1600" b="0" smtClean="0">
                <a:solidFill>
                  <a:schemeClr val="bg1">
                    <a:lumMod val="50000"/>
                  </a:schemeClr>
                </a:solidFill>
                <a:latin typeface="Noto Sans KR" panose="020B0503020000020004"/>
              </a:rPr>
              <a:pPr algn="ctr"/>
              <a:t>‹#›</a:t>
            </a:fld>
            <a:endParaRPr kumimoji="1" lang="ko-KR" altLang="en-US" sz="1600" b="0" dirty="0">
              <a:solidFill>
                <a:schemeClr val="bg1">
                  <a:lumMod val="50000"/>
                </a:schemeClr>
              </a:solidFill>
              <a:latin typeface="Noto Sans KR" panose="020B0503020000020004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B255F2C-3995-711E-B284-F92DA05CFC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495180" y="11950943"/>
            <a:ext cx="1103568" cy="28692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433C372-FFB6-F963-B17B-985FB6F9CA4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85" y="11935507"/>
            <a:ext cx="1405175" cy="335871"/>
          </a:xfrm>
          <a:prstGeom prst="rect">
            <a:avLst/>
          </a:prstGeom>
        </p:spPr>
      </p:pic>
      <p:sp>
        <p:nvSpPr>
          <p:cNvPr id="15" name="텍스트 개체 틀 36"/>
          <p:cNvSpPr>
            <a:spLocks noGrp="1"/>
          </p:cNvSpPr>
          <p:nvPr userDrawn="1">
            <p:ph type="body" sz="quarter" idx="12"/>
          </p:nvPr>
        </p:nvSpPr>
        <p:spPr>
          <a:xfrm>
            <a:off x="447287" y="128359"/>
            <a:ext cx="5931741" cy="305470"/>
          </a:xfrm>
          <a:prstGeom prst="rect">
            <a:avLst/>
          </a:prstGeom>
        </p:spPr>
        <p:txBody>
          <a:bodyPr rIns="0">
            <a:noAutofit/>
          </a:bodyPr>
          <a:lstStyle>
            <a:lvl1pPr marL="0" indent="0" algn="l">
              <a:buFontTx/>
              <a:buNone/>
              <a:defRPr sz="1400" b="1">
                <a:solidFill>
                  <a:srgbClr val="A8A192"/>
                </a:solidFill>
              </a:defRPr>
            </a:lvl1pPr>
            <a:lvl2pPr marL="457200" indent="0" algn="l">
              <a:buFontTx/>
              <a:buNone/>
              <a:defRPr sz="1400" b="1">
                <a:solidFill>
                  <a:srgbClr val="A8A192"/>
                </a:solidFill>
              </a:defRPr>
            </a:lvl2pPr>
            <a:lvl3pPr marL="914400" indent="0" algn="l">
              <a:buFontTx/>
              <a:buNone/>
              <a:defRPr sz="1400" b="1">
                <a:solidFill>
                  <a:srgbClr val="A8A192"/>
                </a:solidFill>
              </a:defRPr>
            </a:lvl3pPr>
            <a:lvl4pPr marL="1371600" indent="0" algn="l">
              <a:buFontTx/>
              <a:buNone/>
              <a:defRPr sz="1400" b="1">
                <a:solidFill>
                  <a:srgbClr val="A8A192"/>
                </a:solidFill>
              </a:defRPr>
            </a:lvl4pPr>
            <a:lvl5pPr marL="1828800" indent="0" algn="l">
              <a:buFontTx/>
              <a:buNone/>
              <a:defRPr sz="1400" b="1">
                <a:solidFill>
                  <a:srgbClr val="A8A192"/>
                </a:solidFill>
              </a:defRPr>
            </a:lvl5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18" name="Shape 12"/>
          <p:cNvSpPr/>
          <p:nvPr userDrawn="1"/>
        </p:nvSpPr>
        <p:spPr>
          <a:xfrm flipH="1">
            <a:off x="0" y="1781175"/>
            <a:ext cx="17830800" cy="47625"/>
          </a:xfrm>
          <a:prstGeom prst="rect">
            <a:avLst/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48907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Noto Sans KR"/>
          <a:ea typeface="Noto Sans KR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Noto Sans KR"/>
          <a:ea typeface="Noto Sans KR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Noto Sans KR"/>
          <a:ea typeface="Noto Sans KR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Noto Sans KR"/>
          <a:ea typeface="Noto Sans KR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Noto Sans KR"/>
          <a:ea typeface="Noto Sans KR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Noto Sans KR"/>
          <a:ea typeface="Noto Sans KR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Noto Sans KR"/>
          <a:ea typeface="Noto Sans KR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Noto Sans KR"/>
          <a:ea typeface="Noto Sans KR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Noto Sans KR"/>
          <a:ea typeface="Noto Sans KR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Noto Sans KR"/>
          <a:ea typeface="Noto Sans KR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Noto Sans KR"/>
          <a:ea typeface="Noto Sans KR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Noto Sans KR"/>
          <a:ea typeface="Noto Sans KR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Noto Sans KR"/>
          <a:ea typeface="Noto Sans KR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Noto Sans KR"/>
          <a:ea typeface="Noto Sans KR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Noto Sans KR"/>
          <a:ea typeface="Noto Sans KR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Noto Sans KR"/>
          <a:ea typeface="Noto Sans KR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Noto Sans KR"/>
          <a:ea typeface="Noto Sans KR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Noto Sans KR"/>
          <a:ea typeface="Noto Sans KR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Noto Sans KR"/>
          <a:ea typeface="Noto Sans KR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/>
        </p:nvSpPr>
        <p:spPr>
          <a:xfrm>
            <a:off x="990600" y="4293915"/>
            <a:ext cx="117348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/>
                <a:ea typeface="Noto Sans KR"/>
                <a:cs typeface="Noto Sans KR"/>
              </a:rPr>
              <a:t>온·오프라인 통합 멤버십 CXM 플랫폼 구축 제안</a:t>
            </a:r>
            <a:endParaRPr lang="en-US" sz="19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 5"/>
          <p:cNvSpPr/>
          <p:nvPr/>
        </p:nvSpPr>
        <p:spPr>
          <a:xfrm>
            <a:off x="990600" y="4860652"/>
            <a:ext cx="11247474" cy="2118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800" b="1" kern="0" spc="-234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/>
                <a:ea typeface="Noto Sans KR"/>
                <a:cs typeface="Noto Sans KR"/>
              </a:rPr>
              <a:t>LIFEPLUS 63 멤버십 플랫폼</a:t>
            </a:r>
            <a:endParaRPr lang="en-US" sz="7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Text 8"/>
          <p:cNvSpPr/>
          <p:nvPr/>
        </p:nvSpPr>
        <p:spPr>
          <a:xfrm>
            <a:off x="990600" y="11168063"/>
            <a:ext cx="94751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63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/>
                <a:ea typeface="Noto Sans KR"/>
                <a:cs typeface="Noto Sans KR"/>
              </a:rPr>
              <a:t>2026. 07</a:t>
            </a:r>
            <a:endParaRPr lang="en-US" sz="1763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036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8650" y="0"/>
            <a:ext cx="19050" cy="12344400"/>
          </a:xfrm>
          <a:prstGeom prst="rect">
            <a:avLst/>
          </a:prstGeom>
          <a:gradFill rotWithShape="1">
            <a:gsLst>
              <a:gs pos="0">
                <a:srgbClr val="BE883A">
                  <a:alpha val="0"/>
                </a:srgbClr>
              </a:gs>
              <a:gs pos="50000">
                <a:srgbClr val="BE883A">
                  <a:alpha val="50000"/>
                </a:srgbClr>
              </a:gs>
              <a:gs pos="100000">
                <a:srgbClr val="BE883A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104900" y="3266108"/>
            <a:ext cx="3572909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E2BE73"/>
                </a:solidFill>
                <a:latin typeface="Noto Sans KR"/>
                <a:ea typeface="Noto Sans KR"/>
                <a:cs typeface="Noto Sans KR"/>
              </a:rPr>
              <a:t>PROPOSAL MESSAGE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04900" y="3885233"/>
            <a:ext cx="15304770" cy="4230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4650" kern="0" spc="-93" dirty="0">
                <a:solidFill>
                  <a:srgbClr val="FBFAF7"/>
                </a:solidFill>
                <a:latin typeface="Noto Sans KR"/>
                <a:ea typeface="Noto Sans KR"/>
                <a:cs typeface="Noto Sans KR"/>
              </a:rPr>
              <a:t>퓨처젠은 검증된 </a:t>
            </a:r>
            <a:r>
              <a:rPr lang="en-US" sz="4650" b="1" kern="0" spc="-93" dirty="0">
                <a:solidFill>
                  <a:srgbClr val="FBFAF7"/>
                </a:solidFill>
                <a:latin typeface="Noto Sans KR"/>
                <a:ea typeface="Noto Sans KR"/>
                <a:cs typeface="Noto Sans KR"/>
              </a:rPr>
              <a:t>AI Native CXM</a:t>
            </a:r>
            <a:r>
              <a:rPr lang="en-US" sz="2790" kern="0" spc="-93" dirty="0">
                <a:solidFill>
                  <a:srgbClr val="A8A293"/>
                </a:solidFill>
                <a:latin typeface="Noto Sans KR"/>
                <a:ea typeface="Noto Sans KR"/>
                <a:cs typeface="Noto Sans KR"/>
              </a:rPr>
              <a:t>(고객 경험 관리) </a:t>
            </a:r>
            <a:r>
              <a:rPr lang="en-US" sz="4650" kern="0" spc="-93" dirty="0">
                <a:solidFill>
                  <a:srgbClr val="FBFAF7"/>
                </a:solidFill>
                <a:latin typeface="Noto Sans KR"/>
                <a:ea typeface="Noto Sans KR"/>
                <a:cs typeface="Noto Sans KR"/>
              </a:rPr>
              <a:t>역량을 기반으로 LIFEPLUS 63 멤버십을 모바일 앱 구현을 넘어, 방문·미션·쿠폰·활동점수·매장 CRM·캠페인·AI 인사이트가 연결되는 </a:t>
            </a:r>
            <a:r>
              <a:rPr lang="en-US" sz="4650" b="1" kern="0" spc="-93" dirty="0">
                <a:gradFill rotWithShape="1">
                  <a:gsLst>
                    <a:gs pos="0">
                      <a:srgbClr val="F2D89A">
                        <a:alpha val="100000"/>
                      </a:srgbClr>
                    </a:gs>
                    <a:gs pos="100000">
                      <a:srgbClr val="D4A857">
                        <a:alpha val="100000"/>
                      </a:srgbClr>
                    </a:gs>
                  </a:gsLst>
                  <a:lin ang="1800000" scaled="0"/>
                </a:gradFill>
                <a:latin typeface="Noto Sans KR"/>
                <a:ea typeface="Noto Sans KR"/>
                <a:cs typeface="Noto Sans KR"/>
              </a:rPr>
              <a:t>온·오프라인 통합 멤버십 플랫폼</a:t>
            </a:r>
            <a:r>
              <a:rPr lang="en-US" sz="4650" kern="0" spc="-93" dirty="0">
                <a:solidFill>
                  <a:srgbClr val="FBFAF7"/>
                </a:solidFill>
                <a:latin typeface="Noto Sans KR"/>
                <a:ea typeface="Noto Sans KR"/>
                <a:cs typeface="Noto Sans KR"/>
              </a:rPr>
              <a:t>으로 구축합니다.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1104900" y="8554343"/>
            <a:ext cx="2482007" cy="528638"/>
          </a:xfrm>
          <a:prstGeom prst="roundRect">
            <a:avLst>
              <a:gd name="adj" fmla="val 50000"/>
            </a:avLst>
          </a:prstGeom>
          <a:ln w="9525">
            <a:solidFill>
              <a:srgbClr val="E2BE73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343025" y="8678168"/>
            <a:ext cx="208195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38" b="1" dirty="0">
                <a:solidFill>
                  <a:srgbClr val="E2BE73"/>
                </a:solidFill>
                <a:latin typeface="Noto Sans KR"/>
                <a:ea typeface="Noto Sans KR"/>
                <a:cs typeface="Noto Sans KR"/>
              </a:rPr>
              <a:t>AI Native CXM 기반</a:t>
            </a:r>
            <a:endParaRPr lang="en-US" sz="1838" dirty="0"/>
          </a:p>
        </p:txBody>
      </p:sp>
      <p:sp>
        <p:nvSpPr>
          <p:cNvPr id="7" name="Shape 5"/>
          <p:cNvSpPr/>
          <p:nvPr/>
        </p:nvSpPr>
        <p:spPr>
          <a:xfrm>
            <a:off x="3701207" y="8554343"/>
            <a:ext cx="2259583" cy="5286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939332" y="8678168"/>
            <a:ext cx="185953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38" b="1" dirty="0">
                <a:solidFill>
                  <a:srgbClr val="C7C1B3"/>
                </a:solidFill>
                <a:latin typeface="Noto Sans KR"/>
                <a:ea typeface="Noto Sans KR"/>
                <a:cs typeface="Noto Sans KR"/>
              </a:rPr>
              <a:t>Phase별 안정 오픈</a:t>
            </a:r>
            <a:endParaRPr lang="en-US" sz="1838" dirty="0"/>
          </a:p>
        </p:txBody>
      </p:sp>
      <p:sp>
        <p:nvSpPr>
          <p:cNvPr id="9" name="Shape 7"/>
          <p:cNvSpPr/>
          <p:nvPr/>
        </p:nvSpPr>
        <p:spPr>
          <a:xfrm>
            <a:off x="6075090" y="8554343"/>
            <a:ext cx="2924547" cy="5286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313215" y="8678168"/>
            <a:ext cx="253603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38" b="1" dirty="0">
                <a:solidFill>
                  <a:srgbClr val="C7C1B3"/>
                </a:solidFill>
                <a:latin typeface="Noto Sans KR"/>
                <a:ea typeface="Noto Sans KR"/>
                <a:cs typeface="Noto Sans KR"/>
              </a:rPr>
              <a:t>금융 브랜드 수준 보안·운영</a:t>
            </a:r>
            <a:endParaRPr lang="en-US" sz="183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6302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mtClean="0"/>
              <a:t>01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제안 개요</a:t>
            </a:r>
          </a:p>
        </p:txBody>
      </p:sp>
      <p:sp>
        <p:nvSpPr>
          <p:cNvPr id="4" name="Text 4"/>
          <p:cNvSpPr/>
          <p:nvPr/>
        </p:nvSpPr>
        <p:spPr>
          <a:xfrm>
            <a:off x="7289566" y="4233948"/>
            <a:ext cx="314340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/>
                <a:ea typeface="Noto Sans KR"/>
                <a:cs typeface="Noto Sans KR"/>
              </a:rPr>
              <a:t>1.1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/>
                <a:ea typeface="Noto Sans KR"/>
                <a:cs typeface="Noto Sans KR"/>
              </a:rPr>
              <a:t>사업 추진 배경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Noto Sans KR"/>
              <a:ea typeface="Noto Sans KR"/>
            </a:endParaRPr>
          </a:p>
        </p:txBody>
      </p:sp>
      <p:sp>
        <p:nvSpPr>
          <p:cNvPr id="5" name="Text 5"/>
          <p:cNvSpPr/>
          <p:nvPr/>
        </p:nvSpPr>
        <p:spPr>
          <a:xfrm>
            <a:off x="7289565" y="4868889"/>
            <a:ext cx="420389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/>
                <a:ea typeface="Noto Sans KR"/>
                <a:cs typeface="Noto Sans KR"/>
              </a:rPr>
              <a:t>1.2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/>
                <a:ea typeface="Noto Sans KR"/>
                <a:cs typeface="Noto Sans KR"/>
              </a:rPr>
              <a:t>고객 행동의 데이터화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Noto Sans KR"/>
              <a:ea typeface="Noto Sans KR"/>
            </a:endParaRPr>
          </a:p>
        </p:txBody>
      </p:sp>
      <p:sp>
        <p:nvSpPr>
          <p:cNvPr id="6" name="Text 6"/>
          <p:cNvSpPr/>
          <p:nvPr/>
        </p:nvSpPr>
        <p:spPr>
          <a:xfrm>
            <a:off x="7289566" y="5503830"/>
            <a:ext cx="232288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/>
                <a:ea typeface="Noto Sans KR"/>
                <a:cs typeface="Noto Sans KR"/>
              </a:rPr>
              <a:t>1.3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/>
                <a:ea typeface="Noto Sans KR"/>
                <a:cs typeface="Noto Sans KR"/>
              </a:rPr>
              <a:t>사업 이해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Noto Sans KR"/>
              <a:ea typeface="Noto Sans KR"/>
            </a:endParaRPr>
          </a:p>
        </p:txBody>
      </p:sp>
      <p:sp>
        <p:nvSpPr>
          <p:cNvPr id="7" name="Text 7"/>
          <p:cNvSpPr/>
          <p:nvPr/>
        </p:nvSpPr>
        <p:spPr>
          <a:xfrm>
            <a:off x="7289565" y="6138771"/>
            <a:ext cx="349690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/>
                <a:ea typeface="Noto Sans KR"/>
                <a:cs typeface="Noto Sans KR"/>
              </a:rPr>
              <a:t>1.4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/>
                <a:ea typeface="Noto Sans KR"/>
                <a:cs typeface="Noto Sans KR"/>
              </a:rPr>
              <a:t>앱이 아닌 플랫폼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Noto Sans KR"/>
              <a:ea typeface="Noto Sans KR"/>
            </a:endParaRPr>
          </a:p>
        </p:txBody>
      </p:sp>
      <p:sp>
        <p:nvSpPr>
          <p:cNvPr id="8" name="Text 8"/>
          <p:cNvSpPr/>
          <p:nvPr/>
        </p:nvSpPr>
        <p:spPr>
          <a:xfrm>
            <a:off x="7289566" y="6773712"/>
            <a:ext cx="416519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/>
                <a:ea typeface="Noto Sans KR"/>
                <a:cs typeface="Noto Sans KR"/>
              </a:rPr>
              <a:t>1.5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/>
                <a:ea typeface="Noto Sans KR"/>
                <a:cs typeface="Noto Sans KR"/>
              </a:rPr>
              <a:t>사업 목표 · 핵심 KPI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Noto Sans KR"/>
              <a:ea typeface="Noto Sans KR"/>
            </a:endParaRPr>
          </a:p>
        </p:txBody>
      </p:sp>
      <p:sp>
        <p:nvSpPr>
          <p:cNvPr id="9" name="Text 9"/>
          <p:cNvSpPr/>
          <p:nvPr/>
        </p:nvSpPr>
        <p:spPr>
          <a:xfrm>
            <a:off x="7289566" y="7408655"/>
            <a:ext cx="314340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/>
                <a:ea typeface="Noto Sans KR"/>
                <a:cs typeface="Noto Sans KR"/>
              </a:rPr>
              <a:t>1.6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/>
                <a:ea typeface="Noto Sans KR"/>
                <a:cs typeface="Noto Sans KR"/>
              </a:rPr>
              <a:t>제안 핵심 방향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Noto Sans KR"/>
              <a:ea typeface="Noto Sans KR"/>
            </a:endParaRPr>
          </a:p>
        </p:txBody>
      </p:sp>
      <p:sp>
        <p:nvSpPr>
          <p:cNvPr id="10" name="Shape 0"/>
          <p:cNvSpPr/>
          <p:nvPr/>
        </p:nvSpPr>
        <p:spPr>
          <a:xfrm>
            <a:off x="-14288" y="0"/>
            <a:ext cx="28575" cy="12344400"/>
          </a:xfrm>
          <a:prstGeom prst="rect">
            <a:avLst/>
          </a:prstGeom>
          <a:gradFill rotWithShape="1">
            <a:gsLst>
              <a:gs pos="0">
                <a:srgbClr val="BE883A">
                  <a:alpha val="0"/>
                </a:srgbClr>
              </a:gs>
              <a:gs pos="52000">
                <a:srgbClr val="BE883A">
                  <a:alpha val="100000"/>
                </a:srgbClr>
              </a:gs>
              <a:gs pos="100000">
                <a:srgbClr val="BE883A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"/>
          <p:cNvSpPr/>
          <p:nvPr/>
        </p:nvSpPr>
        <p:spPr>
          <a:xfrm>
            <a:off x="538162" y="0"/>
            <a:ext cx="9525" cy="12344400"/>
          </a:xfrm>
          <a:prstGeom prst="rect">
            <a:avLst/>
          </a:prstGeom>
          <a:gradFill rotWithShape="1">
            <a:gsLst>
              <a:gs pos="0">
                <a:srgbClr val="BE883A">
                  <a:alpha val="0"/>
                </a:srgbClr>
              </a:gs>
              <a:gs pos="52000">
                <a:srgbClr val="BE883A">
                  <a:alpha val="38000"/>
                </a:srgbClr>
              </a:gs>
              <a:gs pos="100000">
                <a:srgbClr val="BE883A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2277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63</a:t>
            </a:r>
            <a:r>
              <a:rPr lang="ko-KR" altLang="en-US"/>
              <a:t>빌딩</a:t>
            </a:r>
            <a:r>
              <a:rPr lang="en-US" altLang="ko-KR"/>
              <a:t>, </a:t>
            </a:r>
            <a:r>
              <a:rPr lang="ko-KR" altLang="en-US"/>
              <a:t>오프라인 공간을 데이터 플랫폼으로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단일 앱 중심 멤버십이 아닌</a:t>
            </a:r>
            <a:r>
              <a:rPr lang="en-US" altLang="ko-KR"/>
              <a:t>, </a:t>
            </a:r>
            <a:r>
              <a:rPr lang="ko-KR" altLang="en-US"/>
              <a:t>방문</a:t>
            </a:r>
            <a:r>
              <a:rPr lang="en-US" altLang="ko-KR"/>
              <a:t>·</a:t>
            </a:r>
            <a:r>
              <a:rPr lang="ko-KR" altLang="en-US"/>
              <a:t>소비</a:t>
            </a:r>
            <a:r>
              <a:rPr lang="en-US" altLang="ko-KR"/>
              <a:t>·</a:t>
            </a:r>
            <a:r>
              <a:rPr lang="ko-KR" altLang="en-US"/>
              <a:t>탐험</a:t>
            </a:r>
            <a:r>
              <a:rPr lang="en-US" altLang="ko-KR"/>
              <a:t>·</a:t>
            </a:r>
            <a:r>
              <a:rPr lang="ko-KR" altLang="en-US"/>
              <a:t>참여를 데이터화하는 온</a:t>
            </a:r>
            <a:r>
              <a:rPr lang="en-US" altLang="ko-KR"/>
              <a:t>·</a:t>
            </a:r>
            <a:r>
              <a:rPr lang="ko-KR" altLang="en-US"/>
              <a:t>오프라인 통합 </a:t>
            </a:r>
            <a:r>
              <a:rPr lang="en-US" altLang="ko-KR"/>
              <a:t>CXM </a:t>
            </a:r>
            <a:r>
              <a:rPr lang="ko-KR" altLang="en-US"/>
              <a:t>사업입니다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01 </a:t>
            </a:r>
            <a:r>
              <a:rPr lang="ko-KR" altLang="en-US"/>
              <a:t>제안 개요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/>
              <a:t>1.1 </a:t>
            </a:r>
            <a:r>
              <a:rPr lang="ko-KR" altLang="en-US"/>
              <a:t>사업 추진 배경</a:t>
            </a:r>
          </a:p>
        </p:txBody>
      </p:sp>
      <p:sp>
        <p:nvSpPr>
          <p:cNvPr id="6" name="Shape 11"/>
          <p:cNvSpPr/>
          <p:nvPr/>
        </p:nvSpPr>
        <p:spPr>
          <a:xfrm>
            <a:off x="990600" y="2323877"/>
            <a:ext cx="2286000" cy="4608463"/>
          </a:xfrm>
          <a:prstGeom prst="roundRect">
            <a:avLst>
              <a:gd name="adj" fmla="val 6667"/>
            </a:avLst>
          </a:prstGeom>
          <a:solidFill>
            <a:srgbClr val="12141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13"/>
          <p:cNvSpPr/>
          <p:nvPr/>
        </p:nvSpPr>
        <p:spPr>
          <a:xfrm>
            <a:off x="1162050" y="2514377"/>
            <a:ext cx="1943100" cy="838200"/>
          </a:xfrm>
          <a:prstGeom prst="roundRect">
            <a:avLst>
              <a:gd name="adj" fmla="val 11364"/>
            </a:avLst>
          </a:prstGeom>
          <a:solidFill>
            <a:srgbClr val="FBF8F0"/>
          </a:solidFill>
          <a:ln w="9525">
            <a:solidFill>
              <a:srgbClr val="E2BE73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14"/>
          <p:cNvSpPr/>
          <p:nvPr/>
        </p:nvSpPr>
        <p:spPr>
          <a:xfrm>
            <a:off x="1266825" y="2631058"/>
            <a:ext cx="133350" cy="133350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15"/>
          <p:cNvSpPr/>
          <p:nvPr/>
        </p:nvSpPr>
        <p:spPr>
          <a:xfrm>
            <a:off x="1457325" y="2612008"/>
            <a:ext cx="8928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5C4D2E"/>
                </a:solidFill>
                <a:latin typeface="Noto Sans KR"/>
                <a:ea typeface="Noto Sans KR"/>
                <a:cs typeface="Noto Sans KR"/>
              </a:rPr>
              <a:t>63빌딩 체크인</a:t>
            </a:r>
            <a:endParaRPr lang="en-US" sz="1125" dirty="0"/>
          </a:p>
        </p:txBody>
      </p:sp>
      <p:sp>
        <p:nvSpPr>
          <p:cNvPr id="11" name="Text 16"/>
          <p:cNvSpPr/>
          <p:nvPr/>
        </p:nvSpPr>
        <p:spPr>
          <a:xfrm>
            <a:off x="2809131" y="2635821"/>
            <a:ext cx="26744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A99A78"/>
                </a:solidFill>
                <a:latin typeface="Noto Sans KR"/>
                <a:ea typeface="Noto Sans KR"/>
                <a:cs typeface="Noto Sans KR"/>
              </a:rPr>
              <a:t>63F</a:t>
            </a:r>
            <a:endParaRPr lang="en-US" sz="825" dirty="0"/>
          </a:p>
        </p:txBody>
      </p:sp>
      <p:sp>
        <p:nvSpPr>
          <p:cNvPr id="12" name="Shape 17"/>
          <p:cNvSpPr/>
          <p:nvPr/>
        </p:nvSpPr>
        <p:spPr>
          <a:xfrm>
            <a:off x="1266825" y="2935858"/>
            <a:ext cx="257175" cy="95250"/>
          </a:xfrm>
          <a:prstGeom prst="roundRect">
            <a:avLst>
              <a:gd name="adj" fmla="val 20000"/>
            </a:avLst>
          </a:prstGeom>
          <a:solidFill>
            <a:srgbClr val="E8DD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8"/>
          <p:cNvSpPr/>
          <p:nvPr/>
        </p:nvSpPr>
        <p:spPr>
          <a:xfrm>
            <a:off x="1562100" y="2893963"/>
            <a:ext cx="257175" cy="137145"/>
          </a:xfrm>
          <a:prstGeom prst="roundRect">
            <a:avLst>
              <a:gd name="adj" fmla="val 13890"/>
            </a:avLst>
          </a:prstGeom>
          <a:solidFill>
            <a:srgbClr val="E8DD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9"/>
          <p:cNvSpPr/>
          <p:nvPr/>
        </p:nvSpPr>
        <p:spPr>
          <a:xfrm>
            <a:off x="1857375" y="2840608"/>
            <a:ext cx="257175" cy="1905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20"/>
          <p:cNvSpPr/>
          <p:nvPr/>
        </p:nvSpPr>
        <p:spPr>
          <a:xfrm>
            <a:off x="2152650" y="2909218"/>
            <a:ext cx="257175" cy="121890"/>
          </a:xfrm>
          <a:prstGeom prst="roundRect">
            <a:avLst>
              <a:gd name="adj" fmla="val 15629"/>
            </a:avLst>
          </a:prstGeom>
          <a:solidFill>
            <a:srgbClr val="E8DD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21"/>
          <p:cNvSpPr/>
          <p:nvPr/>
        </p:nvSpPr>
        <p:spPr>
          <a:xfrm>
            <a:off x="2447925" y="2863528"/>
            <a:ext cx="257175" cy="167580"/>
          </a:xfrm>
          <a:prstGeom prst="roundRect">
            <a:avLst>
              <a:gd name="adj" fmla="val 11368"/>
            </a:avLst>
          </a:prstGeom>
          <a:solidFill>
            <a:srgbClr val="E8DD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22"/>
          <p:cNvSpPr/>
          <p:nvPr/>
        </p:nvSpPr>
        <p:spPr>
          <a:xfrm>
            <a:off x="2743200" y="2954908"/>
            <a:ext cx="257175" cy="76200"/>
          </a:xfrm>
          <a:prstGeom prst="roundRect">
            <a:avLst>
              <a:gd name="adj" fmla="val 25000"/>
            </a:avLst>
          </a:prstGeom>
          <a:solidFill>
            <a:srgbClr val="E8DD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23"/>
          <p:cNvSpPr/>
          <p:nvPr/>
        </p:nvSpPr>
        <p:spPr>
          <a:xfrm>
            <a:off x="1266825" y="3088258"/>
            <a:ext cx="615628" cy="166688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24"/>
          <p:cNvSpPr/>
          <p:nvPr/>
        </p:nvSpPr>
        <p:spPr>
          <a:xfrm>
            <a:off x="1333500" y="3107308"/>
            <a:ext cx="54384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체크인 완료</a:t>
            </a:r>
            <a:endParaRPr lang="en-US" sz="825" dirty="0"/>
          </a:p>
        </p:txBody>
      </p:sp>
      <p:sp>
        <p:nvSpPr>
          <p:cNvPr id="20" name="Shape 25"/>
          <p:cNvSpPr/>
          <p:nvPr/>
        </p:nvSpPr>
        <p:spPr>
          <a:xfrm>
            <a:off x="1930078" y="3143027"/>
            <a:ext cx="1070297" cy="57150"/>
          </a:xfrm>
          <a:prstGeom prst="roundRect">
            <a:avLst>
              <a:gd name="adj" fmla="val 50000"/>
            </a:avLst>
          </a:prstGeom>
          <a:solidFill>
            <a:srgbClr val="EAE0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26"/>
          <p:cNvSpPr/>
          <p:nvPr/>
        </p:nvSpPr>
        <p:spPr>
          <a:xfrm>
            <a:off x="1162050" y="3466877"/>
            <a:ext cx="213741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B68A36"/>
                </a:solidFill>
                <a:latin typeface="Noto Sans KR"/>
                <a:ea typeface="Noto Sans KR"/>
                <a:cs typeface="Noto Sans KR"/>
              </a:rPr>
              <a:t>오프라인 공간</a:t>
            </a:r>
            <a:endParaRPr lang="en-US" sz="1575" dirty="0"/>
          </a:p>
        </p:txBody>
      </p:sp>
      <p:sp>
        <p:nvSpPr>
          <p:cNvPr id="22" name="Text 27"/>
          <p:cNvSpPr/>
          <p:nvPr/>
        </p:nvSpPr>
        <p:spPr>
          <a:xfrm>
            <a:off x="1162050" y="4608835"/>
            <a:ext cx="2137410" cy="39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63빌딩</a:t>
            </a:r>
            <a:endParaRPr lang="en-US" sz="2550" dirty="0"/>
          </a:p>
        </p:txBody>
      </p:sp>
      <p:sp>
        <p:nvSpPr>
          <p:cNvPr id="23" name="Text 28"/>
          <p:cNvSpPr/>
          <p:nvPr/>
        </p:nvSpPr>
        <p:spPr>
          <a:xfrm>
            <a:off x="1162050" y="5079355"/>
            <a:ext cx="2019300" cy="672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13" dirty="0">
                <a:solidFill>
                  <a:srgbClr val="A8A293"/>
                </a:solidFill>
                <a:latin typeface="Noto Sans KR"/>
                <a:ea typeface="Noto Sans KR"/>
                <a:cs typeface="Noto Sans KR"/>
              </a:rPr>
              <a:t>방문 · 식음 · 관람 이벤트 · 매장 소비</a:t>
            </a:r>
            <a:endParaRPr lang="en-US" sz="1613" dirty="0"/>
          </a:p>
        </p:txBody>
      </p:sp>
      <p:sp>
        <p:nvSpPr>
          <p:cNvPr id="24" name="Shape 29"/>
          <p:cNvSpPr/>
          <p:nvPr/>
        </p:nvSpPr>
        <p:spPr>
          <a:xfrm>
            <a:off x="1162050" y="6479902"/>
            <a:ext cx="1332012" cy="261937"/>
          </a:xfrm>
          <a:prstGeom prst="roundRect">
            <a:avLst>
              <a:gd name="adj" fmla="val 50000"/>
            </a:avLst>
          </a:prstGeom>
          <a:ln w="9525">
            <a:solidFill>
              <a:srgbClr val="E2BE73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30"/>
          <p:cNvSpPr/>
          <p:nvPr/>
        </p:nvSpPr>
        <p:spPr>
          <a:xfrm>
            <a:off x="1266825" y="6518002"/>
            <a:ext cx="119866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D8C99E"/>
                </a:solidFill>
                <a:latin typeface="Noto Sans KR"/>
                <a:ea typeface="Noto Sans KR"/>
                <a:cs typeface="Noto Sans KR"/>
              </a:rPr>
              <a:t>5개 오프라인 접점</a:t>
            </a:r>
            <a:endParaRPr lang="en-US" sz="1238" dirty="0"/>
          </a:p>
        </p:txBody>
      </p:sp>
      <p:sp>
        <p:nvSpPr>
          <p:cNvPr id="26" name="Text 31"/>
          <p:cNvSpPr/>
          <p:nvPr/>
        </p:nvSpPr>
        <p:spPr>
          <a:xfrm>
            <a:off x="3454971" y="4394746"/>
            <a:ext cx="34810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A8792B"/>
                </a:solidFill>
                <a:latin typeface="Noto Sans KR"/>
                <a:ea typeface="Noto Sans KR"/>
                <a:cs typeface="Noto Sans KR"/>
              </a:rPr>
              <a:t>행동</a:t>
            </a:r>
            <a:endParaRPr lang="en-US" sz="1238" dirty="0"/>
          </a:p>
        </p:txBody>
      </p:sp>
      <p:sp>
        <p:nvSpPr>
          <p:cNvPr id="27" name="Text 32"/>
          <p:cNvSpPr/>
          <p:nvPr/>
        </p:nvSpPr>
        <p:spPr>
          <a:xfrm>
            <a:off x="3471863" y="4623346"/>
            <a:ext cx="3143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CBAE6E"/>
                </a:solidFill>
                <a:latin typeface="Noto Sans KR"/>
                <a:ea typeface="Noto Sans KR"/>
                <a:cs typeface="Noto Sans KR"/>
              </a:rPr>
              <a:t>→</a:t>
            </a:r>
            <a:endParaRPr lang="en-US" sz="1875" dirty="0"/>
          </a:p>
        </p:txBody>
      </p:sp>
      <p:sp>
        <p:nvSpPr>
          <p:cNvPr id="28" name="Shape 33"/>
          <p:cNvSpPr/>
          <p:nvPr/>
        </p:nvSpPr>
        <p:spPr>
          <a:xfrm>
            <a:off x="3905250" y="2323877"/>
            <a:ext cx="2759869" cy="4608463"/>
          </a:xfrm>
          <a:prstGeom prst="roundRect">
            <a:avLst>
              <a:gd name="adj" fmla="val 5522"/>
            </a:avLst>
          </a:prstGeom>
          <a:solidFill>
            <a:srgbClr val="FFFFFF"/>
          </a:solidFill>
          <a:ln w="9525">
            <a:solidFill>
              <a:srgbClr val="E7E1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34"/>
          <p:cNvSpPr/>
          <p:nvPr/>
        </p:nvSpPr>
        <p:spPr>
          <a:xfrm>
            <a:off x="4086225" y="2523902"/>
            <a:ext cx="2397919" cy="8382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ECE3D2"/>
            </a:solidFill>
            <a:prstDash val="solid"/>
          </a:ln>
          <a:effectLst>
            <a:outerShdw blurRad="28575" dist="9525" dir="5400000" algn="bl" rotWithShape="0">
              <a:srgbClr val="3C321E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35"/>
          <p:cNvSpPr/>
          <p:nvPr/>
        </p:nvSpPr>
        <p:spPr>
          <a:xfrm>
            <a:off x="4181475" y="2700114"/>
            <a:ext cx="142875" cy="142875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36"/>
          <p:cNvSpPr/>
          <p:nvPr/>
        </p:nvSpPr>
        <p:spPr>
          <a:xfrm>
            <a:off x="4381500" y="2690589"/>
            <a:ext cx="94982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33312B"/>
                </a:solidFill>
                <a:latin typeface="Noto Sans KR"/>
                <a:ea typeface="Noto Sans KR"/>
                <a:cs typeface="Noto Sans KR"/>
              </a:rPr>
              <a:t>LIFEPLUS 63</a:t>
            </a:r>
            <a:endParaRPr lang="en-US" sz="1125" dirty="0"/>
          </a:p>
        </p:txBody>
      </p:sp>
      <p:sp>
        <p:nvSpPr>
          <p:cNvPr id="32" name="Shape 37"/>
          <p:cNvSpPr/>
          <p:nvPr/>
        </p:nvSpPr>
        <p:spPr>
          <a:xfrm>
            <a:off x="6246019" y="2700114"/>
            <a:ext cx="142875" cy="142875"/>
          </a:xfrm>
          <a:prstGeom prst="ellipse">
            <a:avLst/>
          </a:prstGeom>
          <a:solidFill>
            <a:srgbClr val="F2EC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8"/>
          <p:cNvSpPr/>
          <p:nvPr/>
        </p:nvSpPr>
        <p:spPr>
          <a:xfrm>
            <a:off x="4181475" y="2909664"/>
            <a:ext cx="2207419" cy="285750"/>
          </a:xfrm>
          <a:prstGeom prst="roundRect">
            <a:avLst>
              <a:gd name="adj" fmla="val 23333"/>
            </a:avLst>
          </a:prstGeom>
          <a:gradFill rotWithShape="1">
            <a:gsLst>
              <a:gs pos="0">
                <a:srgbClr val="1C1E26">
                  <a:alpha val="100000"/>
                </a:srgbClr>
              </a:gs>
              <a:gs pos="100000">
                <a:srgbClr val="34323C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9"/>
          <p:cNvSpPr/>
          <p:nvPr/>
        </p:nvSpPr>
        <p:spPr>
          <a:xfrm>
            <a:off x="4267200" y="2932509"/>
            <a:ext cx="687735" cy="163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E2BE73"/>
                </a:solidFill>
                <a:latin typeface="Noto Sans KR"/>
                <a:ea typeface="Noto Sans KR"/>
                <a:cs typeface="Noto Sans KR"/>
              </a:rPr>
              <a:t>불꽃축제 VIP</a:t>
            </a:r>
            <a:endParaRPr lang="en-US" sz="900" dirty="0"/>
          </a:p>
        </p:txBody>
      </p:sp>
      <p:sp>
        <p:nvSpPr>
          <p:cNvPr id="35" name="Text 40"/>
          <p:cNvSpPr/>
          <p:nvPr/>
        </p:nvSpPr>
        <p:spPr>
          <a:xfrm>
            <a:off x="4267200" y="3067720"/>
            <a:ext cx="68773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9A9484"/>
                </a:solidFill>
                <a:latin typeface="Noto Sans KR"/>
                <a:ea typeface="Noto Sans KR"/>
                <a:cs typeface="Noto Sans KR"/>
              </a:rPr>
              <a:t>응모하기</a:t>
            </a:r>
            <a:endParaRPr lang="en-US" sz="750" dirty="0"/>
          </a:p>
        </p:txBody>
      </p:sp>
      <p:sp>
        <p:nvSpPr>
          <p:cNvPr id="36" name="Shape 41"/>
          <p:cNvSpPr/>
          <p:nvPr/>
        </p:nvSpPr>
        <p:spPr>
          <a:xfrm>
            <a:off x="5969496" y="2959671"/>
            <a:ext cx="333673" cy="185738"/>
          </a:xfrm>
          <a:prstGeom prst="roundRect">
            <a:avLst>
              <a:gd name="adj" fmla="val 30769"/>
            </a:avLst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42"/>
          <p:cNvSpPr/>
          <p:nvPr/>
        </p:nvSpPr>
        <p:spPr>
          <a:xfrm>
            <a:off x="6045696" y="2988246"/>
            <a:ext cx="25747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A2C10"/>
                </a:solidFill>
                <a:latin typeface="Noto Sans KR"/>
                <a:ea typeface="Noto Sans KR"/>
                <a:cs typeface="Noto Sans KR"/>
              </a:rPr>
              <a:t>참여</a:t>
            </a:r>
            <a:endParaRPr lang="en-US" sz="825" dirty="0"/>
          </a:p>
        </p:txBody>
      </p:sp>
      <p:sp>
        <p:nvSpPr>
          <p:cNvPr id="38" name="Text 43"/>
          <p:cNvSpPr/>
          <p:nvPr/>
        </p:nvSpPr>
        <p:spPr>
          <a:xfrm>
            <a:off x="4086225" y="3476402"/>
            <a:ext cx="2637711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B68A36"/>
                </a:solidFill>
                <a:latin typeface="Noto Sans KR"/>
                <a:ea typeface="Noto Sans KR"/>
                <a:cs typeface="Noto Sans KR"/>
              </a:rPr>
              <a:t>고객 행동</a:t>
            </a:r>
            <a:endParaRPr lang="en-US" sz="1575" dirty="0"/>
          </a:p>
        </p:txBody>
      </p:sp>
      <p:sp>
        <p:nvSpPr>
          <p:cNvPr id="39" name="Shape 44"/>
          <p:cNvSpPr/>
          <p:nvPr/>
        </p:nvSpPr>
        <p:spPr>
          <a:xfrm>
            <a:off x="4086225" y="3964558"/>
            <a:ext cx="57150" cy="57150"/>
          </a:xfrm>
          <a:prstGeom prst="ellipse">
            <a:avLst/>
          </a:prstGeom>
          <a:solidFill>
            <a:srgbClr val="C99B3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45"/>
          <p:cNvSpPr/>
          <p:nvPr/>
        </p:nvSpPr>
        <p:spPr>
          <a:xfrm>
            <a:off x="4219575" y="3862164"/>
            <a:ext cx="118660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33312B"/>
                </a:solidFill>
                <a:latin typeface="Noto Sans KR"/>
                <a:ea typeface="Noto Sans KR"/>
                <a:cs typeface="Noto Sans KR"/>
              </a:rPr>
              <a:t>방문 · 체크인</a:t>
            </a:r>
            <a:endParaRPr lang="en-US" sz="1725" dirty="0"/>
          </a:p>
        </p:txBody>
      </p:sp>
      <p:sp>
        <p:nvSpPr>
          <p:cNvPr id="41" name="Shape 46"/>
          <p:cNvSpPr/>
          <p:nvPr/>
        </p:nvSpPr>
        <p:spPr>
          <a:xfrm>
            <a:off x="4086225" y="4616648"/>
            <a:ext cx="57150" cy="57150"/>
          </a:xfrm>
          <a:prstGeom prst="ellipse">
            <a:avLst/>
          </a:prstGeom>
          <a:solidFill>
            <a:srgbClr val="C99B3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7"/>
          <p:cNvSpPr/>
          <p:nvPr/>
        </p:nvSpPr>
        <p:spPr>
          <a:xfrm>
            <a:off x="4219575" y="4514255"/>
            <a:ext cx="99722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33312B"/>
                </a:solidFill>
                <a:latin typeface="Noto Sans KR"/>
                <a:ea typeface="Noto Sans KR"/>
                <a:cs typeface="Noto Sans KR"/>
              </a:rPr>
              <a:t>미션 · 탐험</a:t>
            </a:r>
            <a:endParaRPr lang="en-US" sz="1725" dirty="0"/>
          </a:p>
        </p:txBody>
      </p:sp>
      <p:sp>
        <p:nvSpPr>
          <p:cNvPr id="43" name="Shape 48"/>
          <p:cNvSpPr/>
          <p:nvPr/>
        </p:nvSpPr>
        <p:spPr>
          <a:xfrm>
            <a:off x="4086225" y="5268664"/>
            <a:ext cx="57150" cy="57150"/>
          </a:xfrm>
          <a:prstGeom prst="ellipse">
            <a:avLst/>
          </a:prstGeom>
          <a:solidFill>
            <a:srgbClr val="C99B3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9"/>
          <p:cNvSpPr/>
          <p:nvPr/>
        </p:nvSpPr>
        <p:spPr>
          <a:xfrm>
            <a:off x="4219575" y="5166271"/>
            <a:ext cx="99722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33312B"/>
                </a:solidFill>
                <a:latin typeface="Noto Sans KR"/>
                <a:ea typeface="Noto Sans KR"/>
                <a:cs typeface="Noto Sans KR"/>
              </a:rPr>
              <a:t>결제 · 적립</a:t>
            </a:r>
            <a:endParaRPr lang="en-US" sz="1725" dirty="0"/>
          </a:p>
        </p:txBody>
      </p:sp>
      <p:sp>
        <p:nvSpPr>
          <p:cNvPr id="45" name="Shape 50"/>
          <p:cNvSpPr/>
          <p:nvPr/>
        </p:nvSpPr>
        <p:spPr>
          <a:xfrm>
            <a:off x="4086225" y="5920755"/>
            <a:ext cx="57150" cy="57150"/>
          </a:xfrm>
          <a:prstGeom prst="ellipse">
            <a:avLst/>
          </a:prstGeom>
          <a:solidFill>
            <a:srgbClr val="C99B3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51"/>
          <p:cNvSpPr/>
          <p:nvPr/>
        </p:nvSpPr>
        <p:spPr>
          <a:xfrm>
            <a:off x="4219575" y="5818361"/>
            <a:ext cx="885602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33312B"/>
                </a:solidFill>
                <a:latin typeface="Noto Sans KR"/>
                <a:ea typeface="Noto Sans KR"/>
                <a:cs typeface="Noto Sans KR"/>
              </a:rPr>
              <a:t>쿠폰 사용</a:t>
            </a:r>
            <a:endParaRPr lang="en-US" sz="1725" dirty="0"/>
          </a:p>
        </p:txBody>
      </p:sp>
      <p:sp>
        <p:nvSpPr>
          <p:cNvPr id="47" name="Shape 52"/>
          <p:cNvSpPr/>
          <p:nvPr/>
        </p:nvSpPr>
        <p:spPr>
          <a:xfrm>
            <a:off x="4086225" y="6572771"/>
            <a:ext cx="57150" cy="57150"/>
          </a:xfrm>
          <a:prstGeom prst="ellipse">
            <a:avLst/>
          </a:prstGeom>
          <a:solidFill>
            <a:srgbClr val="C99B3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53"/>
          <p:cNvSpPr/>
          <p:nvPr/>
        </p:nvSpPr>
        <p:spPr>
          <a:xfrm>
            <a:off x="4219575" y="6470377"/>
            <a:ext cx="107491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33312B"/>
                </a:solidFill>
                <a:latin typeface="Noto Sans KR"/>
                <a:ea typeface="Noto Sans KR"/>
                <a:cs typeface="Noto Sans KR"/>
              </a:rPr>
              <a:t>이벤트 참여</a:t>
            </a:r>
            <a:endParaRPr lang="en-US" sz="1725" dirty="0"/>
          </a:p>
        </p:txBody>
      </p:sp>
      <p:sp>
        <p:nvSpPr>
          <p:cNvPr id="49" name="Text 54"/>
          <p:cNvSpPr/>
          <p:nvPr/>
        </p:nvSpPr>
        <p:spPr>
          <a:xfrm>
            <a:off x="6775475" y="4394746"/>
            <a:ext cx="48406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A8792B"/>
                </a:solidFill>
                <a:latin typeface="Noto Sans KR"/>
                <a:ea typeface="Noto Sans KR"/>
                <a:cs typeface="Noto Sans KR"/>
              </a:rPr>
              <a:t>데이터</a:t>
            </a:r>
            <a:endParaRPr lang="en-US" sz="1238" dirty="0"/>
          </a:p>
        </p:txBody>
      </p:sp>
      <p:sp>
        <p:nvSpPr>
          <p:cNvPr id="50" name="Text 55"/>
          <p:cNvSpPr/>
          <p:nvPr/>
        </p:nvSpPr>
        <p:spPr>
          <a:xfrm>
            <a:off x="6860381" y="4623346"/>
            <a:ext cx="3143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CBAE6E"/>
                </a:solidFill>
                <a:latin typeface="Noto Sans KR"/>
                <a:ea typeface="Noto Sans KR"/>
                <a:cs typeface="Noto Sans KR"/>
              </a:rPr>
              <a:t>→</a:t>
            </a:r>
            <a:endParaRPr lang="en-US" sz="1875" dirty="0"/>
          </a:p>
        </p:txBody>
      </p:sp>
      <p:sp>
        <p:nvSpPr>
          <p:cNvPr id="51" name="Shape 56"/>
          <p:cNvSpPr/>
          <p:nvPr/>
        </p:nvSpPr>
        <p:spPr>
          <a:xfrm>
            <a:off x="7293769" y="2323877"/>
            <a:ext cx="2759869" cy="4608463"/>
          </a:xfrm>
          <a:prstGeom prst="roundRect">
            <a:avLst>
              <a:gd name="adj" fmla="val 5522"/>
            </a:avLst>
          </a:prstGeom>
          <a:solidFill>
            <a:srgbClr val="FFFFFF"/>
          </a:solidFill>
          <a:ln w="9525">
            <a:solidFill>
              <a:srgbClr val="E7E1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7"/>
          <p:cNvSpPr/>
          <p:nvPr/>
        </p:nvSpPr>
        <p:spPr>
          <a:xfrm>
            <a:off x="7474744" y="2523902"/>
            <a:ext cx="2397919" cy="838200"/>
          </a:xfrm>
          <a:prstGeom prst="roundRect">
            <a:avLst>
              <a:gd name="adj" fmla="val 11364"/>
            </a:avLst>
          </a:prstGeom>
          <a:solidFill>
            <a:srgbClr val="12141C"/>
          </a:solidFill>
          <a:ln w="9525">
            <a:solidFill>
              <a:srgbClr val="E2DB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8"/>
          <p:cNvSpPr/>
          <p:nvPr/>
        </p:nvSpPr>
        <p:spPr>
          <a:xfrm>
            <a:off x="7569994" y="2700114"/>
            <a:ext cx="66675" cy="66675"/>
          </a:xfrm>
          <a:prstGeom prst="ellipse">
            <a:avLst/>
          </a:prstGeom>
          <a:solidFill>
            <a:srgbClr val="E2BE7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9"/>
          <p:cNvSpPr/>
          <p:nvPr/>
        </p:nvSpPr>
        <p:spPr>
          <a:xfrm>
            <a:off x="7693819" y="2664396"/>
            <a:ext cx="689074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38" b="1" kern="0" spc="19" dirty="0">
                <a:solidFill>
                  <a:srgbClr val="E2BE73"/>
                </a:solidFill>
                <a:latin typeface="Noto Sans KR"/>
                <a:ea typeface="Noto Sans KR"/>
                <a:cs typeface="Noto Sans KR"/>
              </a:rPr>
              <a:t>Event Data</a:t>
            </a:r>
            <a:endParaRPr lang="en-US" sz="938" dirty="0"/>
          </a:p>
        </p:txBody>
      </p:sp>
      <p:sp>
        <p:nvSpPr>
          <p:cNvPr id="55" name="Text 60"/>
          <p:cNvSpPr/>
          <p:nvPr/>
        </p:nvSpPr>
        <p:spPr>
          <a:xfrm>
            <a:off x="9547994" y="2676302"/>
            <a:ext cx="30561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E7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750" dirty="0"/>
          </a:p>
        </p:txBody>
      </p:sp>
      <p:sp>
        <p:nvSpPr>
          <p:cNvPr id="56" name="Text 61"/>
          <p:cNvSpPr/>
          <p:nvPr/>
        </p:nvSpPr>
        <p:spPr>
          <a:xfrm>
            <a:off x="7569994" y="2850133"/>
            <a:ext cx="34863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13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14:02</a:t>
            </a:r>
            <a:endParaRPr lang="en-US" sz="713" dirty="0"/>
          </a:p>
        </p:txBody>
      </p:sp>
      <p:sp>
        <p:nvSpPr>
          <p:cNvPr id="57" name="Shape 62"/>
          <p:cNvSpPr/>
          <p:nvPr/>
        </p:nvSpPr>
        <p:spPr>
          <a:xfrm>
            <a:off x="7890049" y="2873946"/>
            <a:ext cx="1668289" cy="57150"/>
          </a:xfrm>
          <a:prstGeom prst="roundRect">
            <a:avLst>
              <a:gd name="adj" fmla="val 50000"/>
            </a:avLst>
          </a:prstGeom>
          <a:solidFill>
            <a:srgbClr val="E2BE73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63"/>
          <p:cNvSpPr/>
          <p:nvPr/>
        </p:nvSpPr>
        <p:spPr>
          <a:xfrm>
            <a:off x="9605963" y="2873946"/>
            <a:ext cx="1714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64"/>
          <p:cNvSpPr/>
          <p:nvPr/>
        </p:nvSpPr>
        <p:spPr>
          <a:xfrm>
            <a:off x="7569994" y="2983483"/>
            <a:ext cx="34863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13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14:03</a:t>
            </a:r>
            <a:endParaRPr lang="en-US" sz="713" dirty="0"/>
          </a:p>
        </p:txBody>
      </p:sp>
      <p:sp>
        <p:nvSpPr>
          <p:cNvPr id="60" name="Shape 65"/>
          <p:cNvSpPr/>
          <p:nvPr/>
        </p:nvSpPr>
        <p:spPr>
          <a:xfrm>
            <a:off x="7890049" y="3007296"/>
            <a:ext cx="1592089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66"/>
          <p:cNvSpPr/>
          <p:nvPr/>
        </p:nvSpPr>
        <p:spPr>
          <a:xfrm>
            <a:off x="9529763" y="3007296"/>
            <a:ext cx="247650" cy="57150"/>
          </a:xfrm>
          <a:prstGeom prst="roundRect">
            <a:avLst>
              <a:gd name="adj" fmla="val 50000"/>
            </a:avLst>
          </a:prstGeom>
          <a:solidFill>
            <a:srgbClr val="E2BE73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7"/>
          <p:cNvSpPr/>
          <p:nvPr/>
        </p:nvSpPr>
        <p:spPr>
          <a:xfrm>
            <a:off x="7569994" y="3116833"/>
            <a:ext cx="34863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13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14:05</a:t>
            </a:r>
            <a:endParaRPr lang="en-US" sz="713" dirty="0"/>
          </a:p>
        </p:txBody>
      </p:sp>
      <p:sp>
        <p:nvSpPr>
          <p:cNvPr id="63" name="Shape 68"/>
          <p:cNvSpPr/>
          <p:nvPr/>
        </p:nvSpPr>
        <p:spPr>
          <a:xfrm>
            <a:off x="7890049" y="3140646"/>
            <a:ext cx="1706389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9"/>
          <p:cNvSpPr/>
          <p:nvPr/>
        </p:nvSpPr>
        <p:spPr>
          <a:xfrm>
            <a:off x="9644063" y="3140646"/>
            <a:ext cx="1333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70"/>
          <p:cNvSpPr/>
          <p:nvPr/>
        </p:nvSpPr>
        <p:spPr>
          <a:xfrm>
            <a:off x="7474744" y="3752106"/>
            <a:ext cx="2637711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B68A36"/>
                </a:solidFill>
                <a:latin typeface="Noto Sans KR"/>
                <a:ea typeface="Noto Sans KR"/>
                <a:cs typeface="Noto Sans KR"/>
              </a:rPr>
              <a:t>데이터 전환</a:t>
            </a:r>
            <a:endParaRPr lang="en-US" sz="1575" dirty="0"/>
          </a:p>
        </p:txBody>
      </p:sp>
      <p:sp>
        <p:nvSpPr>
          <p:cNvPr id="66" name="Text 71"/>
          <p:cNvSpPr/>
          <p:nvPr/>
        </p:nvSpPr>
        <p:spPr>
          <a:xfrm>
            <a:off x="7474744" y="4423097"/>
            <a:ext cx="2474119" cy="59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800" b="1" dirty="0">
                <a:solidFill>
                  <a:srgbClr val="1C1E26"/>
                </a:solidFill>
                <a:latin typeface="Noto Sans KR"/>
                <a:ea typeface="Noto Sans KR"/>
                <a:cs typeface="Noto Sans KR"/>
              </a:rPr>
              <a:t>AI Native CXM Event Data</a:t>
            </a:r>
            <a:endParaRPr lang="en-US" sz="1800" dirty="0"/>
          </a:p>
        </p:txBody>
      </p:sp>
      <p:sp>
        <p:nvSpPr>
          <p:cNvPr id="67" name="Text 72"/>
          <p:cNvSpPr/>
          <p:nvPr/>
        </p:nvSpPr>
        <p:spPr>
          <a:xfrm>
            <a:off x="7474744" y="5408861"/>
            <a:ext cx="2474119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13" dirty="0">
                <a:solidFill>
                  <a:srgbClr val="6E6A60"/>
                </a:solidFill>
                <a:latin typeface="Noto Sans KR"/>
                <a:ea typeface="Noto Sans KR"/>
                <a:cs typeface="Noto Sans KR"/>
              </a:rPr>
              <a:t>행동을 회원 기반 이벤트로 식별·수집</a:t>
            </a:r>
            <a:endParaRPr lang="en-US" sz="1613" dirty="0"/>
          </a:p>
        </p:txBody>
      </p:sp>
      <p:sp>
        <p:nvSpPr>
          <p:cNvPr id="68" name="Shape 73"/>
          <p:cNvSpPr/>
          <p:nvPr/>
        </p:nvSpPr>
        <p:spPr>
          <a:xfrm>
            <a:off x="7474744" y="6470377"/>
            <a:ext cx="462186" cy="261937"/>
          </a:xfrm>
          <a:prstGeom prst="roundRect">
            <a:avLst>
              <a:gd name="adj" fmla="val 50000"/>
            </a:avLst>
          </a:prstGeom>
          <a:solidFill>
            <a:srgbClr val="FBF9F4"/>
          </a:solidFill>
          <a:ln w="9525">
            <a:solidFill>
              <a:srgbClr val="E2DB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74"/>
          <p:cNvSpPr/>
          <p:nvPr/>
        </p:nvSpPr>
        <p:spPr>
          <a:xfrm>
            <a:off x="7569994" y="6508477"/>
            <a:ext cx="34788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7C7460"/>
                </a:solidFill>
                <a:latin typeface="Noto Sans KR"/>
                <a:ea typeface="Noto Sans KR"/>
                <a:cs typeface="Noto Sans KR"/>
              </a:rPr>
              <a:t>식별</a:t>
            </a:r>
            <a:endParaRPr lang="en-US" sz="1238" dirty="0"/>
          </a:p>
        </p:txBody>
      </p:sp>
      <p:sp>
        <p:nvSpPr>
          <p:cNvPr id="70" name="Shape 75"/>
          <p:cNvSpPr/>
          <p:nvPr/>
        </p:nvSpPr>
        <p:spPr>
          <a:xfrm>
            <a:off x="7994079" y="6470377"/>
            <a:ext cx="462186" cy="261937"/>
          </a:xfrm>
          <a:prstGeom prst="roundRect">
            <a:avLst>
              <a:gd name="adj" fmla="val 50000"/>
            </a:avLst>
          </a:prstGeom>
          <a:solidFill>
            <a:srgbClr val="FBF9F4"/>
          </a:solidFill>
          <a:ln w="9525">
            <a:solidFill>
              <a:srgbClr val="E2DB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76"/>
          <p:cNvSpPr/>
          <p:nvPr/>
        </p:nvSpPr>
        <p:spPr>
          <a:xfrm>
            <a:off x="8089329" y="6508477"/>
            <a:ext cx="34788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7C7460"/>
                </a:solidFill>
                <a:latin typeface="Noto Sans KR"/>
                <a:ea typeface="Noto Sans KR"/>
                <a:cs typeface="Noto Sans KR"/>
              </a:rPr>
              <a:t>수집</a:t>
            </a:r>
            <a:endParaRPr lang="en-US" sz="1238" dirty="0"/>
          </a:p>
        </p:txBody>
      </p:sp>
      <p:sp>
        <p:nvSpPr>
          <p:cNvPr id="72" name="Text 77"/>
          <p:cNvSpPr/>
          <p:nvPr/>
        </p:nvSpPr>
        <p:spPr>
          <a:xfrm>
            <a:off x="10232008" y="4394746"/>
            <a:ext cx="34810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A8792B"/>
                </a:solidFill>
                <a:latin typeface="Noto Sans KR"/>
                <a:ea typeface="Noto Sans KR"/>
                <a:cs typeface="Noto Sans KR"/>
              </a:rPr>
              <a:t>통합</a:t>
            </a:r>
            <a:endParaRPr lang="en-US" sz="1238" dirty="0"/>
          </a:p>
        </p:txBody>
      </p:sp>
      <p:sp>
        <p:nvSpPr>
          <p:cNvPr id="73" name="Text 78"/>
          <p:cNvSpPr/>
          <p:nvPr/>
        </p:nvSpPr>
        <p:spPr>
          <a:xfrm>
            <a:off x="10248900" y="4623346"/>
            <a:ext cx="3143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CBAE6E"/>
                </a:solidFill>
                <a:latin typeface="Noto Sans KR"/>
                <a:ea typeface="Noto Sans KR"/>
                <a:cs typeface="Noto Sans KR"/>
              </a:rPr>
              <a:t>→</a:t>
            </a:r>
            <a:endParaRPr lang="en-US" sz="1875" dirty="0"/>
          </a:p>
        </p:txBody>
      </p:sp>
      <p:sp>
        <p:nvSpPr>
          <p:cNvPr id="74" name="Shape 79"/>
          <p:cNvSpPr/>
          <p:nvPr/>
        </p:nvSpPr>
        <p:spPr>
          <a:xfrm>
            <a:off x="10682288" y="2323877"/>
            <a:ext cx="2759869" cy="4608463"/>
          </a:xfrm>
          <a:prstGeom prst="roundRect">
            <a:avLst>
              <a:gd name="adj" fmla="val 5522"/>
            </a:avLst>
          </a:prstGeom>
          <a:solidFill>
            <a:srgbClr val="FFFFFF"/>
          </a:solidFill>
          <a:ln w="9525">
            <a:solidFill>
              <a:srgbClr val="E7E1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80"/>
          <p:cNvSpPr/>
          <p:nvPr/>
        </p:nvSpPr>
        <p:spPr>
          <a:xfrm>
            <a:off x="10863263" y="2523902"/>
            <a:ext cx="2397919" cy="8382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ECE3D2"/>
            </a:solidFill>
            <a:prstDash val="solid"/>
          </a:ln>
          <a:effectLst>
            <a:outerShdw blurRad="28575" dist="9525" dir="5400000" algn="bl" rotWithShape="0">
              <a:srgbClr val="3C321E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81"/>
          <p:cNvSpPr/>
          <p:nvPr/>
        </p:nvSpPr>
        <p:spPr>
          <a:xfrm>
            <a:off x="10958513" y="2742977"/>
            <a:ext cx="171450" cy="171450"/>
          </a:xfrm>
          <a:prstGeom prst="ellipse">
            <a:avLst/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82"/>
          <p:cNvSpPr/>
          <p:nvPr/>
        </p:nvSpPr>
        <p:spPr>
          <a:xfrm>
            <a:off x="11187113" y="2766789"/>
            <a:ext cx="514350" cy="57150"/>
          </a:xfrm>
          <a:prstGeom prst="roundRect">
            <a:avLst>
              <a:gd name="adj" fmla="val 50000"/>
            </a:avLst>
          </a:prstGeom>
          <a:solidFill>
            <a:srgbClr val="33312B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83"/>
          <p:cNvSpPr/>
          <p:nvPr/>
        </p:nvSpPr>
        <p:spPr>
          <a:xfrm>
            <a:off x="11187113" y="2842989"/>
            <a:ext cx="323850" cy="47625"/>
          </a:xfrm>
          <a:prstGeom prst="roundRect">
            <a:avLst>
              <a:gd name="adj" fmla="val 50000"/>
            </a:avLst>
          </a:prstGeom>
          <a:solidFill>
            <a:srgbClr val="D8CD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84"/>
          <p:cNvSpPr/>
          <p:nvPr/>
        </p:nvSpPr>
        <p:spPr>
          <a:xfrm>
            <a:off x="12997011" y="2766789"/>
            <a:ext cx="24512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A8792B"/>
                </a:solidFill>
                <a:latin typeface="Noto Sans KR"/>
                <a:ea typeface="Noto Sans KR"/>
                <a:cs typeface="Noto Sans KR"/>
              </a:rPr>
              <a:t>VIP</a:t>
            </a:r>
            <a:endParaRPr lang="en-US" sz="825" dirty="0"/>
          </a:p>
        </p:txBody>
      </p:sp>
      <p:sp>
        <p:nvSpPr>
          <p:cNvPr id="80" name="Shape 85"/>
          <p:cNvSpPr/>
          <p:nvPr/>
        </p:nvSpPr>
        <p:spPr>
          <a:xfrm>
            <a:off x="10958513" y="2971577"/>
            <a:ext cx="430560" cy="171450"/>
          </a:xfrm>
          <a:prstGeom prst="roundRect">
            <a:avLst>
              <a:gd name="adj" fmla="val 27778"/>
            </a:avLst>
          </a:prstGeom>
          <a:solidFill>
            <a:srgbClr val="E4C57F">
              <a:alpha val="20000"/>
            </a:srgbClr>
          </a:solidFill>
          <a:ln w="9525">
            <a:solidFill>
              <a:srgbClr val="E6D9B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86"/>
          <p:cNvSpPr/>
          <p:nvPr/>
        </p:nvSpPr>
        <p:spPr>
          <a:xfrm>
            <a:off x="11025188" y="3000152"/>
            <a:ext cx="37341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C6A45"/>
                </a:solidFill>
                <a:latin typeface="Noto Sans KR"/>
                <a:ea typeface="Noto Sans KR"/>
                <a:cs typeface="Noto Sans KR"/>
              </a:rPr>
              <a:t>방문 12</a:t>
            </a:r>
            <a:endParaRPr lang="en-US" sz="750" dirty="0"/>
          </a:p>
        </p:txBody>
      </p:sp>
      <p:sp>
        <p:nvSpPr>
          <p:cNvPr id="82" name="Shape 87"/>
          <p:cNvSpPr/>
          <p:nvPr/>
        </p:nvSpPr>
        <p:spPr>
          <a:xfrm>
            <a:off x="11427172" y="2971577"/>
            <a:ext cx="377577" cy="171450"/>
          </a:xfrm>
          <a:prstGeom prst="roundRect">
            <a:avLst>
              <a:gd name="adj" fmla="val 27778"/>
            </a:avLst>
          </a:prstGeom>
          <a:solidFill>
            <a:srgbClr val="E4C57F">
              <a:alpha val="20000"/>
            </a:srgbClr>
          </a:solidFill>
          <a:ln w="9525">
            <a:solidFill>
              <a:srgbClr val="E6D9B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8"/>
          <p:cNvSpPr/>
          <p:nvPr/>
        </p:nvSpPr>
        <p:spPr>
          <a:xfrm>
            <a:off x="11493847" y="3000152"/>
            <a:ext cx="32042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C6A45"/>
                </a:solidFill>
                <a:latin typeface="Noto Sans KR"/>
                <a:ea typeface="Noto Sans KR"/>
                <a:cs typeface="Noto Sans KR"/>
              </a:rPr>
              <a:t>쿠폰 5</a:t>
            </a:r>
            <a:endParaRPr lang="en-US" sz="750" dirty="0"/>
          </a:p>
        </p:txBody>
      </p:sp>
      <p:sp>
        <p:nvSpPr>
          <p:cNvPr id="84" name="Shape 89"/>
          <p:cNvSpPr/>
          <p:nvPr/>
        </p:nvSpPr>
        <p:spPr>
          <a:xfrm>
            <a:off x="11842849" y="2971577"/>
            <a:ext cx="388144" cy="171450"/>
          </a:xfrm>
          <a:prstGeom prst="roundRect">
            <a:avLst>
              <a:gd name="adj" fmla="val 27778"/>
            </a:avLst>
          </a:prstGeom>
          <a:solidFill>
            <a:srgbClr val="E4C57F">
              <a:alpha val="20000"/>
            </a:srgbClr>
          </a:solidFill>
          <a:ln w="9525">
            <a:solidFill>
              <a:srgbClr val="E6D9B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90"/>
          <p:cNvSpPr/>
          <p:nvPr/>
        </p:nvSpPr>
        <p:spPr>
          <a:xfrm>
            <a:off x="11909524" y="3000152"/>
            <a:ext cx="33099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C6A45"/>
                </a:solidFill>
                <a:latin typeface="Noto Sans KR"/>
                <a:ea typeface="Noto Sans KR"/>
                <a:cs typeface="Noto Sans KR"/>
              </a:rPr>
              <a:t>세그 A</a:t>
            </a:r>
            <a:endParaRPr lang="en-US" sz="750" dirty="0"/>
          </a:p>
        </p:txBody>
      </p:sp>
      <p:sp>
        <p:nvSpPr>
          <p:cNvPr id="86" name="Text 91"/>
          <p:cNvSpPr/>
          <p:nvPr/>
        </p:nvSpPr>
        <p:spPr>
          <a:xfrm>
            <a:off x="10863263" y="3476402"/>
            <a:ext cx="2637711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B68A36"/>
                </a:solidFill>
                <a:latin typeface="Noto Sans KR"/>
                <a:ea typeface="Noto Sans KR"/>
                <a:cs typeface="Noto Sans KR"/>
              </a:rPr>
              <a:t>고객 자산화</a:t>
            </a:r>
            <a:endParaRPr lang="en-US" sz="1575" dirty="0"/>
          </a:p>
        </p:txBody>
      </p:sp>
      <p:sp>
        <p:nvSpPr>
          <p:cNvPr id="87" name="Text 92"/>
          <p:cNvSpPr/>
          <p:nvPr/>
        </p:nvSpPr>
        <p:spPr>
          <a:xfrm>
            <a:off x="10863263" y="3862164"/>
            <a:ext cx="263771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33312B"/>
                </a:solidFill>
                <a:latin typeface="Noto Sans KR"/>
                <a:ea typeface="Noto Sans KR"/>
                <a:cs typeface="Noto Sans KR"/>
              </a:rPr>
              <a:t>Customer 360</a:t>
            </a:r>
            <a:endParaRPr lang="en-US" sz="1725" dirty="0"/>
          </a:p>
        </p:txBody>
      </p:sp>
      <p:sp>
        <p:nvSpPr>
          <p:cNvPr id="88" name="Text 93"/>
          <p:cNvSpPr/>
          <p:nvPr/>
        </p:nvSpPr>
        <p:spPr>
          <a:xfrm>
            <a:off x="10863263" y="4949577"/>
            <a:ext cx="263771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33312B"/>
                </a:solidFill>
                <a:latin typeface="Noto Sans KR"/>
                <a:ea typeface="Noto Sans KR"/>
                <a:cs typeface="Noto Sans KR"/>
              </a:rPr>
              <a:t>Store CRM</a:t>
            </a:r>
            <a:endParaRPr lang="en-US" sz="1725" dirty="0"/>
          </a:p>
        </p:txBody>
      </p:sp>
      <p:sp>
        <p:nvSpPr>
          <p:cNvPr id="89" name="Text 94"/>
          <p:cNvSpPr/>
          <p:nvPr/>
        </p:nvSpPr>
        <p:spPr>
          <a:xfrm>
            <a:off x="10863263" y="6036990"/>
            <a:ext cx="263771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33312B"/>
                </a:solidFill>
                <a:latin typeface="Noto Sans KR"/>
                <a:ea typeface="Noto Sans KR"/>
                <a:cs typeface="Noto Sans KR"/>
              </a:rPr>
              <a:t>AI Insight</a:t>
            </a:r>
            <a:endParaRPr lang="en-US" sz="1725" dirty="0"/>
          </a:p>
        </p:txBody>
      </p:sp>
      <p:sp>
        <p:nvSpPr>
          <p:cNvPr id="90" name="Shape 95"/>
          <p:cNvSpPr/>
          <p:nvPr/>
        </p:nvSpPr>
        <p:spPr>
          <a:xfrm>
            <a:off x="10863263" y="6470377"/>
            <a:ext cx="906959" cy="261937"/>
          </a:xfrm>
          <a:prstGeom prst="roundRect">
            <a:avLst>
              <a:gd name="adj" fmla="val 50000"/>
            </a:avLst>
          </a:prstGeom>
          <a:solidFill>
            <a:srgbClr val="FBF9F4"/>
          </a:solidFill>
          <a:ln w="9525">
            <a:solidFill>
              <a:srgbClr val="E2DB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96"/>
          <p:cNvSpPr/>
          <p:nvPr/>
        </p:nvSpPr>
        <p:spPr>
          <a:xfrm>
            <a:off x="10958513" y="6508477"/>
            <a:ext cx="79265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7C7460"/>
                </a:solidFill>
                <a:latin typeface="Noto Sans KR"/>
                <a:ea typeface="Noto Sans KR"/>
                <a:cs typeface="Noto Sans KR"/>
              </a:rPr>
              <a:t>통합 프로필</a:t>
            </a:r>
            <a:endParaRPr lang="en-US" sz="1238" dirty="0"/>
          </a:p>
        </p:txBody>
      </p:sp>
      <p:sp>
        <p:nvSpPr>
          <p:cNvPr id="92" name="Text 97"/>
          <p:cNvSpPr/>
          <p:nvPr/>
        </p:nvSpPr>
        <p:spPr>
          <a:xfrm>
            <a:off x="13620527" y="4394746"/>
            <a:ext cx="34810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A8792B"/>
                </a:solidFill>
                <a:latin typeface="Noto Sans KR"/>
                <a:ea typeface="Noto Sans KR"/>
                <a:cs typeface="Noto Sans KR"/>
              </a:rPr>
              <a:t>환원</a:t>
            </a:r>
            <a:endParaRPr lang="en-US" sz="1238" dirty="0"/>
          </a:p>
        </p:txBody>
      </p:sp>
      <p:sp>
        <p:nvSpPr>
          <p:cNvPr id="93" name="Text 98"/>
          <p:cNvSpPr/>
          <p:nvPr/>
        </p:nvSpPr>
        <p:spPr>
          <a:xfrm>
            <a:off x="13637419" y="4623346"/>
            <a:ext cx="3143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CBAE6E"/>
                </a:solidFill>
                <a:latin typeface="Noto Sans KR"/>
                <a:ea typeface="Noto Sans KR"/>
                <a:cs typeface="Noto Sans KR"/>
              </a:rPr>
              <a:t>→</a:t>
            </a:r>
            <a:endParaRPr lang="en-US" sz="1875" dirty="0"/>
          </a:p>
        </p:txBody>
      </p:sp>
      <p:sp>
        <p:nvSpPr>
          <p:cNvPr id="94" name="Shape 99"/>
          <p:cNvSpPr/>
          <p:nvPr/>
        </p:nvSpPr>
        <p:spPr>
          <a:xfrm>
            <a:off x="14070806" y="2323877"/>
            <a:ext cx="2769394" cy="4608463"/>
          </a:xfrm>
          <a:prstGeom prst="roundRect">
            <a:avLst>
              <a:gd name="adj" fmla="val 5503"/>
            </a:avLst>
          </a:prstGeom>
          <a:gradFill rotWithShape="1">
            <a:gsLst>
              <a:gs pos="0">
                <a:srgbClr val="E4C57F">
                  <a:alpha val="14000"/>
                </a:srgbClr>
              </a:gs>
              <a:gs pos="100000">
                <a:srgbClr val="BE883A">
                  <a:alpha val="5000"/>
                </a:srgbClr>
              </a:gs>
            </a:gsLst>
            <a:lin ang="3600000" scaled="0"/>
          </a:gradFill>
          <a:ln w="14288">
            <a:solidFill>
              <a:srgbClr val="C99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Shape 100"/>
          <p:cNvSpPr/>
          <p:nvPr/>
        </p:nvSpPr>
        <p:spPr>
          <a:xfrm>
            <a:off x="14256544" y="2528664"/>
            <a:ext cx="2397919" cy="838200"/>
          </a:xfrm>
          <a:prstGeom prst="roundRect">
            <a:avLst>
              <a:gd name="adj" fmla="val 11364"/>
            </a:avLst>
          </a:prstGeom>
          <a:gradFill rotWithShape="1">
            <a:gsLst>
              <a:gs pos="0">
                <a:srgbClr val="FFFDF8">
                  <a:alpha val="100000"/>
                </a:srgbClr>
              </a:gs>
              <a:gs pos="100000">
                <a:srgbClr val="FBF3E2">
                  <a:alpha val="100000"/>
                </a:srgbClr>
              </a:gs>
            </a:gsLst>
            <a:lin ang="3600000" scaled="0"/>
          </a:gradFill>
          <a:ln w="9525">
            <a:solidFill>
              <a:srgbClr val="E0CF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Shape 101"/>
          <p:cNvSpPr/>
          <p:nvPr/>
        </p:nvSpPr>
        <p:spPr>
          <a:xfrm>
            <a:off x="14351794" y="2710607"/>
            <a:ext cx="133350" cy="133350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" name="Text 102"/>
          <p:cNvSpPr/>
          <p:nvPr/>
        </p:nvSpPr>
        <p:spPr>
          <a:xfrm>
            <a:off x="14542294" y="2696319"/>
            <a:ext cx="7274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5C4D2E"/>
                </a:solidFill>
                <a:latin typeface="Noto Sans KR"/>
                <a:ea typeface="Noto Sans KR"/>
                <a:cs typeface="Noto Sans KR"/>
              </a:rPr>
              <a:t>Campaign</a:t>
            </a:r>
            <a:endParaRPr lang="en-US" sz="1125" dirty="0"/>
          </a:p>
        </p:txBody>
      </p:sp>
      <p:sp>
        <p:nvSpPr>
          <p:cNvPr id="98" name="Text 103"/>
          <p:cNvSpPr/>
          <p:nvPr/>
        </p:nvSpPr>
        <p:spPr>
          <a:xfrm>
            <a:off x="16394385" y="2720132"/>
            <a:ext cx="24102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99A78"/>
                </a:solidFill>
                <a:latin typeface="Noto Sans KR"/>
                <a:ea typeface="Noto Sans KR"/>
                <a:cs typeface="Noto Sans KR"/>
              </a:rPr>
              <a:t>발송</a:t>
            </a:r>
            <a:endParaRPr lang="en-US" sz="750" dirty="0"/>
          </a:p>
        </p:txBody>
      </p:sp>
      <p:sp>
        <p:nvSpPr>
          <p:cNvPr id="99" name="Shape 104"/>
          <p:cNvSpPr/>
          <p:nvPr/>
        </p:nvSpPr>
        <p:spPr>
          <a:xfrm>
            <a:off x="14351794" y="2947764"/>
            <a:ext cx="1750219" cy="219075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9525">
            <a:solidFill>
              <a:srgbClr val="ECE0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Shape 105"/>
          <p:cNvSpPr/>
          <p:nvPr/>
        </p:nvSpPr>
        <p:spPr>
          <a:xfrm>
            <a:off x="14418469" y="2995389"/>
            <a:ext cx="1293465" cy="47625"/>
          </a:xfrm>
          <a:prstGeom prst="roundRect">
            <a:avLst>
              <a:gd name="adj" fmla="val 50000"/>
            </a:avLst>
          </a:prstGeom>
          <a:solidFill>
            <a:srgbClr val="E3D6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" name="Shape 106"/>
          <p:cNvSpPr/>
          <p:nvPr/>
        </p:nvSpPr>
        <p:spPr>
          <a:xfrm>
            <a:off x="14418469" y="3071589"/>
            <a:ext cx="889248" cy="47625"/>
          </a:xfrm>
          <a:prstGeom prst="roundRect">
            <a:avLst>
              <a:gd name="adj" fmla="val 50000"/>
            </a:avLst>
          </a:prstGeom>
          <a:solidFill>
            <a:srgbClr val="EDE3C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" name="Shape 107"/>
          <p:cNvSpPr/>
          <p:nvPr/>
        </p:nvSpPr>
        <p:spPr>
          <a:xfrm>
            <a:off x="16159163" y="2915394"/>
            <a:ext cx="400050" cy="283815"/>
          </a:xfrm>
          <a:prstGeom prst="roundRect">
            <a:avLst>
              <a:gd name="adj" fmla="val 20136"/>
            </a:avLst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108"/>
          <p:cNvSpPr/>
          <p:nvPr/>
        </p:nvSpPr>
        <p:spPr>
          <a:xfrm>
            <a:off x="16121062" y="2953494"/>
            <a:ext cx="47625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3A2C10"/>
                </a:solidFill>
                <a:latin typeface="Noto Sans KR"/>
                <a:ea typeface="Noto Sans KR"/>
                <a:cs typeface="Noto Sans KR"/>
              </a:rPr>
              <a:t>10%</a:t>
            </a:r>
            <a:endParaRPr lang="en-US" sz="825" dirty="0"/>
          </a:p>
        </p:txBody>
      </p:sp>
      <p:sp>
        <p:nvSpPr>
          <p:cNvPr id="104" name="Text 109"/>
          <p:cNvSpPr/>
          <p:nvPr/>
        </p:nvSpPr>
        <p:spPr>
          <a:xfrm>
            <a:off x="16121062" y="3058269"/>
            <a:ext cx="476250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5C4513"/>
                </a:solidFill>
                <a:latin typeface="Noto Sans KR"/>
                <a:ea typeface="Noto Sans KR"/>
                <a:cs typeface="Noto Sans KR"/>
              </a:rPr>
              <a:t>쿠폰</a:t>
            </a:r>
            <a:endParaRPr lang="en-US" sz="675" dirty="0"/>
          </a:p>
        </p:txBody>
      </p:sp>
      <p:sp>
        <p:nvSpPr>
          <p:cNvPr id="105" name="Text 110"/>
          <p:cNvSpPr/>
          <p:nvPr/>
        </p:nvSpPr>
        <p:spPr>
          <a:xfrm>
            <a:off x="14256544" y="3909045"/>
            <a:ext cx="2637711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A8792B"/>
                </a:solidFill>
                <a:latin typeface="Noto Sans KR"/>
                <a:ea typeface="Noto Sans KR"/>
                <a:cs typeface="Noto Sans KR"/>
              </a:rPr>
              <a:t>마케팅 환원</a:t>
            </a:r>
            <a:endParaRPr lang="en-US" sz="1575" dirty="0"/>
          </a:p>
        </p:txBody>
      </p:sp>
      <p:sp>
        <p:nvSpPr>
          <p:cNvPr id="106" name="Text 111"/>
          <p:cNvSpPr/>
          <p:nvPr/>
        </p:nvSpPr>
        <p:spPr>
          <a:xfrm>
            <a:off x="14256544" y="4732213"/>
            <a:ext cx="2474119" cy="1172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000"/>
              </a:lnSpc>
              <a:buNone/>
            </a:pPr>
            <a:r>
              <a:rPr lang="en-US" sz="1838" b="1" dirty="0">
                <a:solidFill>
                  <a:srgbClr val="1C1E26"/>
                </a:solidFill>
                <a:latin typeface="Noto Sans KR"/>
                <a:ea typeface="Noto Sans KR"/>
                <a:cs typeface="Noto Sans KR"/>
              </a:rPr>
              <a:t>캠페인 · 혜택 재방문 유도 충성 고객 확대</a:t>
            </a:r>
            <a:endParaRPr lang="en-US" sz="1838" dirty="0"/>
          </a:p>
        </p:txBody>
      </p:sp>
      <p:sp>
        <p:nvSpPr>
          <p:cNvPr id="107" name="Shape 112"/>
          <p:cNvSpPr/>
          <p:nvPr/>
        </p:nvSpPr>
        <p:spPr>
          <a:xfrm>
            <a:off x="14256544" y="6465615"/>
            <a:ext cx="1042839" cy="261937"/>
          </a:xfrm>
          <a:prstGeom prst="roundRect">
            <a:avLst>
              <a:gd name="adj" fmla="val 50000"/>
            </a:avLst>
          </a:prstGeom>
          <a:solidFill>
            <a:srgbClr val="E4C57F">
              <a:alpha val="16000"/>
            </a:srgbClr>
          </a:solidFill>
          <a:ln w="9525">
            <a:solidFill>
              <a:srgbClr val="D9C08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Text 113"/>
          <p:cNvSpPr/>
          <p:nvPr/>
        </p:nvSpPr>
        <p:spPr>
          <a:xfrm>
            <a:off x="14351794" y="6503715"/>
            <a:ext cx="92853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90672A"/>
                </a:solidFill>
                <a:latin typeface="Noto Sans KR"/>
                <a:ea typeface="Noto Sans KR"/>
                <a:cs typeface="Noto Sans KR"/>
              </a:rPr>
              <a:t>세그먼트 타깃</a:t>
            </a:r>
            <a:endParaRPr lang="en-US" sz="1238" dirty="0"/>
          </a:p>
        </p:txBody>
      </p:sp>
      <p:sp>
        <p:nvSpPr>
          <p:cNvPr id="109" name="Shape 114"/>
          <p:cNvSpPr/>
          <p:nvPr/>
        </p:nvSpPr>
        <p:spPr>
          <a:xfrm>
            <a:off x="990600" y="7075215"/>
            <a:ext cx="15849600" cy="4259535"/>
          </a:xfrm>
          <a:prstGeom prst="roundRect">
            <a:avLst>
              <a:gd name="adj" fmla="val 3578"/>
            </a:avLst>
          </a:prstGeom>
          <a:solidFill>
            <a:srgbClr val="12141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" name="Text 116"/>
          <p:cNvSpPr/>
          <p:nvPr/>
        </p:nvSpPr>
        <p:spPr>
          <a:xfrm>
            <a:off x="1314450" y="7744941"/>
            <a:ext cx="1106537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63" b="1" dirty="0">
                <a:solidFill>
                  <a:srgbClr val="E2BE73"/>
                </a:solidFill>
                <a:latin typeface="Noto Sans KR"/>
                <a:ea typeface="Noto Sans KR"/>
                <a:cs typeface="Noto Sans KR"/>
              </a:rPr>
              <a:t>사업의 본질</a:t>
            </a:r>
            <a:endParaRPr lang="en-US" sz="1763" dirty="0"/>
          </a:p>
        </p:txBody>
      </p:sp>
      <p:sp>
        <p:nvSpPr>
          <p:cNvPr id="112" name="Text 117"/>
          <p:cNvSpPr/>
          <p:nvPr/>
        </p:nvSpPr>
        <p:spPr>
          <a:xfrm>
            <a:off x="2497187" y="7763991"/>
            <a:ext cx="6885518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A8A293"/>
                </a:solidFill>
                <a:latin typeface="Noto Sans KR"/>
                <a:ea typeface="Noto Sans KR"/>
                <a:cs typeface="Noto Sans KR"/>
              </a:rPr>
              <a:t>멤버십 앱 구축이 아니라, 오프라인 공간을 고객 경험 데이터로 전환하는 사업</a:t>
            </a:r>
            <a:endParaRPr lang="en-US" sz="1650" dirty="0"/>
          </a:p>
        </p:txBody>
      </p:sp>
      <p:sp>
        <p:nvSpPr>
          <p:cNvPr id="113" name="Text 118"/>
          <p:cNvSpPr/>
          <p:nvPr/>
        </p:nvSpPr>
        <p:spPr>
          <a:xfrm>
            <a:off x="1314450" y="8192616"/>
            <a:ext cx="5280087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7A7567"/>
                </a:solidFill>
                <a:latin typeface="Noto Sans KR"/>
                <a:ea typeface="Noto Sans KR"/>
                <a:cs typeface="Noto Sans KR"/>
              </a:rPr>
              <a:t>기존 관점</a:t>
            </a:r>
            <a:endParaRPr lang="en-US" sz="1650" dirty="0"/>
          </a:p>
        </p:txBody>
      </p:sp>
      <p:sp>
        <p:nvSpPr>
          <p:cNvPr id="114" name="Text 119"/>
          <p:cNvSpPr/>
          <p:nvPr/>
        </p:nvSpPr>
        <p:spPr>
          <a:xfrm>
            <a:off x="6647929" y="8192616"/>
            <a:ext cx="675856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E2BE73"/>
                </a:solidFill>
                <a:latin typeface="Noto Sans KR"/>
                <a:ea typeface="Noto Sans KR"/>
                <a:cs typeface="Noto Sans KR"/>
              </a:rPr>
              <a:t>전환 관점</a:t>
            </a:r>
            <a:endParaRPr lang="en-US" sz="1650" dirty="0"/>
          </a:p>
        </p:txBody>
      </p:sp>
      <p:sp>
        <p:nvSpPr>
          <p:cNvPr id="115" name="Text 120"/>
          <p:cNvSpPr/>
          <p:nvPr/>
        </p:nvSpPr>
        <p:spPr>
          <a:xfrm>
            <a:off x="1314450" y="8607847"/>
            <a:ext cx="5280087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9A9484"/>
                </a:solidFill>
                <a:latin typeface="Noto Sans KR"/>
                <a:ea typeface="Noto Sans KR"/>
                <a:cs typeface="Noto Sans KR"/>
              </a:rPr>
              <a:t>멤버십 앱 구축</a:t>
            </a:r>
            <a:endParaRPr lang="en-US" sz="1800" dirty="0"/>
          </a:p>
        </p:txBody>
      </p:sp>
      <p:sp>
        <p:nvSpPr>
          <p:cNvPr id="116" name="Text 121"/>
          <p:cNvSpPr/>
          <p:nvPr/>
        </p:nvSpPr>
        <p:spPr>
          <a:xfrm>
            <a:off x="6228829" y="8607847"/>
            <a:ext cx="30480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5E5A50"/>
                </a:solidFill>
                <a:latin typeface="Noto Sans KR"/>
                <a:ea typeface="Noto Sans KR"/>
                <a:cs typeface="Noto Sans KR"/>
              </a:rPr>
              <a:t>→</a:t>
            </a:r>
            <a:endParaRPr lang="en-US" sz="1800" dirty="0"/>
          </a:p>
        </p:txBody>
      </p:sp>
      <p:sp>
        <p:nvSpPr>
          <p:cNvPr id="117" name="Text 122"/>
          <p:cNvSpPr/>
          <p:nvPr/>
        </p:nvSpPr>
        <p:spPr>
          <a:xfrm>
            <a:off x="6647929" y="8607847"/>
            <a:ext cx="675856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BFAF7"/>
                </a:solidFill>
                <a:latin typeface="Noto Sans KR"/>
                <a:ea typeface="Noto Sans KR"/>
                <a:cs typeface="Noto Sans KR"/>
              </a:rPr>
              <a:t>오프라인 공간의 고객 경험 데이터화</a:t>
            </a:r>
            <a:endParaRPr lang="en-US" sz="1800" dirty="0"/>
          </a:p>
        </p:txBody>
      </p:sp>
      <p:sp>
        <p:nvSpPr>
          <p:cNvPr id="118" name="Text 123"/>
          <p:cNvSpPr/>
          <p:nvPr/>
        </p:nvSpPr>
        <p:spPr>
          <a:xfrm>
            <a:off x="1314450" y="9047857"/>
            <a:ext cx="5280087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9A9484"/>
                </a:solidFill>
                <a:latin typeface="Noto Sans KR"/>
                <a:ea typeface="Noto Sans KR"/>
                <a:cs typeface="Noto Sans KR"/>
              </a:rPr>
              <a:t>이벤트 응모 기능</a:t>
            </a:r>
            <a:endParaRPr lang="en-US" sz="1800" dirty="0"/>
          </a:p>
        </p:txBody>
      </p:sp>
      <p:sp>
        <p:nvSpPr>
          <p:cNvPr id="119" name="Text 124"/>
          <p:cNvSpPr/>
          <p:nvPr/>
        </p:nvSpPr>
        <p:spPr>
          <a:xfrm>
            <a:off x="6228829" y="9047857"/>
            <a:ext cx="30480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5E5A50"/>
                </a:solidFill>
                <a:latin typeface="Noto Sans KR"/>
                <a:ea typeface="Noto Sans KR"/>
                <a:cs typeface="Noto Sans KR"/>
              </a:rPr>
              <a:t>→</a:t>
            </a:r>
            <a:endParaRPr lang="en-US" sz="1800" dirty="0"/>
          </a:p>
        </p:txBody>
      </p:sp>
      <p:sp>
        <p:nvSpPr>
          <p:cNvPr id="120" name="Text 125"/>
          <p:cNvSpPr/>
          <p:nvPr/>
        </p:nvSpPr>
        <p:spPr>
          <a:xfrm>
            <a:off x="6647929" y="9047857"/>
            <a:ext cx="675856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BFAF7"/>
                </a:solidFill>
                <a:latin typeface="Noto Sans KR"/>
                <a:ea typeface="Noto Sans KR"/>
                <a:cs typeface="Noto Sans KR"/>
              </a:rPr>
              <a:t>신규 고객 유입·재방문 유도 캠페인</a:t>
            </a:r>
            <a:endParaRPr lang="en-US" sz="1800" dirty="0"/>
          </a:p>
        </p:txBody>
      </p:sp>
      <p:sp>
        <p:nvSpPr>
          <p:cNvPr id="121" name="Text 126"/>
          <p:cNvSpPr/>
          <p:nvPr/>
        </p:nvSpPr>
        <p:spPr>
          <a:xfrm>
            <a:off x="1314450" y="9487867"/>
            <a:ext cx="5280087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9A9484"/>
                </a:solidFill>
                <a:latin typeface="Noto Sans KR"/>
                <a:ea typeface="Noto Sans KR"/>
                <a:cs typeface="Noto Sans KR"/>
              </a:rPr>
              <a:t>쿠폰 · 포인트 기능</a:t>
            </a:r>
            <a:endParaRPr lang="en-US" sz="1800" dirty="0"/>
          </a:p>
        </p:txBody>
      </p:sp>
      <p:sp>
        <p:nvSpPr>
          <p:cNvPr id="122" name="Text 127"/>
          <p:cNvSpPr/>
          <p:nvPr/>
        </p:nvSpPr>
        <p:spPr>
          <a:xfrm>
            <a:off x="6228829" y="9487867"/>
            <a:ext cx="30480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5E5A50"/>
                </a:solidFill>
                <a:latin typeface="Noto Sans KR"/>
                <a:ea typeface="Noto Sans KR"/>
                <a:cs typeface="Noto Sans KR"/>
              </a:rPr>
              <a:t>→</a:t>
            </a:r>
            <a:endParaRPr lang="en-US" sz="1800" dirty="0"/>
          </a:p>
        </p:txBody>
      </p:sp>
      <p:sp>
        <p:nvSpPr>
          <p:cNvPr id="123" name="Text 128"/>
          <p:cNvSpPr/>
          <p:nvPr/>
        </p:nvSpPr>
        <p:spPr>
          <a:xfrm>
            <a:off x="6647929" y="9487867"/>
            <a:ext cx="675856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BFAF7"/>
                </a:solidFill>
                <a:latin typeface="Noto Sans KR"/>
                <a:ea typeface="Noto Sans KR"/>
                <a:cs typeface="Noto Sans KR"/>
              </a:rPr>
              <a:t>매장 소비·고객 선호 데이터 연결</a:t>
            </a:r>
            <a:endParaRPr lang="en-US" sz="1800" dirty="0"/>
          </a:p>
        </p:txBody>
      </p:sp>
      <p:sp>
        <p:nvSpPr>
          <p:cNvPr id="124" name="Text 129"/>
          <p:cNvSpPr/>
          <p:nvPr/>
        </p:nvSpPr>
        <p:spPr>
          <a:xfrm>
            <a:off x="1314450" y="9927878"/>
            <a:ext cx="5280087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9A9484"/>
                </a:solidFill>
                <a:latin typeface="Noto Sans KR"/>
                <a:ea typeface="Noto Sans KR"/>
                <a:cs typeface="Noto Sans KR"/>
              </a:rPr>
              <a:t>매장 정보 제공</a:t>
            </a:r>
            <a:endParaRPr lang="en-US" sz="1800" dirty="0"/>
          </a:p>
        </p:txBody>
      </p:sp>
      <p:sp>
        <p:nvSpPr>
          <p:cNvPr id="125" name="Text 130"/>
          <p:cNvSpPr/>
          <p:nvPr/>
        </p:nvSpPr>
        <p:spPr>
          <a:xfrm>
            <a:off x="6228829" y="9927878"/>
            <a:ext cx="30480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5E5A50"/>
                </a:solidFill>
                <a:latin typeface="Noto Sans KR"/>
                <a:ea typeface="Noto Sans KR"/>
                <a:cs typeface="Noto Sans KR"/>
              </a:rPr>
              <a:t>→</a:t>
            </a:r>
            <a:endParaRPr lang="en-US" sz="1800" dirty="0"/>
          </a:p>
        </p:txBody>
      </p:sp>
      <p:sp>
        <p:nvSpPr>
          <p:cNvPr id="126" name="Text 131"/>
          <p:cNvSpPr/>
          <p:nvPr/>
        </p:nvSpPr>
        <p:spPr>
          <a:xfrm>
            <a:off x="6647929" y="9927878"/>
            <a:ext cx="675856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BFAF7"/>
                </a:solidFill>
                <a:latin typeface="Noto Sans KR"/>
                <a:ea typeface="Noto Sans KR"/>
                <a:cs typeface="Noto Sans KR"/>
              </a:rPr>
              <a:t>입점 매장 CRM과 프로모션 운영</a:t>
            </a:r>
            <a:endParaRPr lang="en-US" sz="1800" dirty="0"/>
          </a:p>
        </p:txBody>
      </p:sp>
      <p:sp>
        <p:nvSpPr>
          <p:cNvPr id="127" name="Text 132"/>
          <p:cNvSpPr/>
          <p:nvPr/>
        </p:nvSpPr>
        <p:spPr>
          <a:xfrm>
            <a:off x="1314450" y="10367888"/>
            <a:ext cx="5280087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9A9484"/>
                </a:solidFill>
                <a:latin typeface="Noto Sans KR"/>
                <a:ea typeface="Noto Sans KR"/>
                <a:cs typeface="Noto Sans KR"/>
              </a:rPr>
              <a:t>운영 리포트</a:t>
            </a:r>
            <a:endParaRPr lang="en-US" sz="1800" dirty="0"/>
          </a:p>
        </p:txBody>
      </p:sp>
      <p:sp>
        <p:nvSpPr>
          <p:cNvPr id="128" name="Text 133"/>
          <p:cNvSpPr/>
          <p:nvPr/>
        </p:nvSpPr>
        <p:spPr>
          <a:xfrm>
            <a:off x="6228829" y="10367888"/>
            <a:ext cx="30480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5E5A50"/>
                </a:solidFill>
                <a:latin typeface="Noto Sans KR"/>
                <a:ea typeface="Noto Sans KR"/>
                <a:cs typeface="Noto Sans KR"/>
              </a:rPr>
              <a:t>→</a:t>
            </a:r>
            <a:endParaRPr lang="en-US" sz="1800" dirty="0"/>
          </a:p>
        </p:txBody>
      </p:sp>
      <p:sp>
        <p:nvSpPr>
          <p:cNvPr id="129" name="Text 134"/>
          <p:cNvSpPr/>
          <p:nvPr/>
        </p:nvSpPr>
        <p:spPr>
          <a:xfrm>
            <a:off x="6647929" y="10367888"/>
            <a:ext cx="675856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BFAF7"/>
                </a:solidFill>
                <a:latin typeface="Noto Sans KR"/>
                <a:ea typeface="Noto Sans KR"/>
                <a:cs typeface="Noto Sans KR"/>
              </a:rPr>
              <a:t>LIFEPLUS 고객 인사이트 자산화</a:t>
            </a:r>
            <a:endParaRPr lang="en-US" sz="1800" dirty="0"/>
          </a:p>
        </p:txBody>
      </p:sp>
      <p:sp>
        <p:nvSpPr>
          <p:cNvPr id="130" name="Shape 135"/>
          <p:cNvSpPr/>
          <p:nvPr/>
        </p:nvSpPr>
        <p:spPr>
          <a:xfrm>
            <a:off x="13077825" y="7284765"/>
            <a:ext cx="9525" cy="3840435"/>
          </a:xfrm>
          <a:prstGeom prst="rect">
            <a:avLst/>
          </a:prstGeom>
          <a:gradFill rotWithShape="1">
            <a:gsLst>
              <a:gs pos="0">
                <a:srgbClr val="BE883A">
                  <a:alpha val="0"/>
                </a:srgbClr>
              </a:gs>
              <a:gs pos="50000">
                <a:srgbClr val="BE883A">
                  <a:alpha val="45000"/>
                </a:srgbClr>
              </a:gs>
              <a:gs pos="100000">
                <a:srgbClr val="BE883A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" name="Shape 136"/>
          <p:cNvSpPr/>
          <p:nvPr/>
        </p:nvSpPr>
        <p:spPr>
          <a:xfrm>
            <a:off x="13373100" y="8395320"/>
            <a:ext cx="28575" cy="1619250"/>
          </a:xfrm>
          <a:prstGeom prst="rect">
            <a:avLst/>
          </a:prstGeom>
          <a:solidFill>
            <a:srgbClr val="C9A8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" name="Text 137"/>
          <p:cNvSpPr/>
          <p:nvPr/>
        </p:nvSpPr>
        <p:spPr>
          <a:xfrm>
            <a:off x="13573125" y="8395320"/>
            <a:ext cx="268003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30" dirty="0">
                <a:solidFill>
                  <a:srgbClr val="E2BE73"/>
                </a:solidFill>
                <a:latin typeface="Noto Sans KR"/>
                <a:ea typeface="Noto Sans KR"/>
                <a:cs typeface="Noto Sans KR"/>
              </a:rPr>
              <a:t>데이터 자산화 효과 (RFP 가정)</a:t>
            </a:r>
            <a:endParaRPr lang="en-US" sz="1500" dirty="0"/>
          </a:p>
        </p:txBody>
      </p:sp>
      <p:sp>
        <p:nvSpPr>
          <p:cNvPr id="133" name="Text 138"/>
          <p:cNvSpPr/>
          <p:nvPr/>
        </p:nvSpPr>
        <p:spPr>
          <a:xfrm>
            <a:off x="13573125" y="8752508"/>
            <a:ext cx="9424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13" dirty="0">
                <a:solidFill>
                  <a:srgbClr val="C7C1B3"/>
                </a:solidFill>
                <a:latin typeface="Noto Sans KR"/>
                <a:ea typeface="Noto Sans KR"/>
                <a:cs typeface="Noto Sans KR"/>
              </a:rPr>
              <a:t>목표 MAU</a:t>
            </a:r>
            <a:endParaRPr lang="en-US" sz="1613" dirty="0"/>
          </a:p>
        </p:txBody>
      </p:sp>
      <p:sp>
        <p:nvSpPr>
          <p:cNvPr id="134" name="Text 139"/>
          <p:cNvSpPr/>
          <p:nvPr/>
        </p:nvSpPr>
        <p:spPr>
          <a:xfrm>
            <a:off x="15942394" y="8728695"/>
            <a:ext cx="65015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763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약 3만</a:t>
            </a:r>
            <a:endParaRPr lang="en-US" sz="1763" dirty="0"/>
          </a:p>
        </p:txBody>
      </p:sp>
      <p:sp>
        <p:nvSpPr>
          <p:cNvPr id="135" name="Text 140"/>
          <p:cNvSpPr/>
          <p:nvPr/>
        </p:nvSpPr>
        <p:spPr>
          <a:xfrm>
            <a:off x="13573125" y="9114458"/>
            <a:ext cx="11896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13" dirty="0">
                <a:solidFill>
                  <a:srgbClr val="C7C1B3"/>
                </a:solidFill>
                <a:latin typeface="Noto Sans KR"/>
                <a:ea typeface="Noto Sans KR"/>
                <a:cs typeface="Noto Sans KR"/>
              </a:rPr>
              <a:t>1년 누적 가입</a:t>
            </a:r>
            <a:endParaRPr lang="en-US" sz="1613" dirty="0"/>
          </a:p>
        </p:txBody>
      </p:sp>
      <p:sp>
        <p:nvSpPr>
          <p:cNvPr id="136" name="Text 141"/>
          <p:cNvSpPr/>
          <p:nvPr/>
        </p:nvSpPr>
        <p:spPr>
          <a:xfrm>
            <a:off x="15817900" y="9090645"/>
            <a:ext cx="774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763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약 10만</a:t>
            </a:r>
            <a:endParaRPr lang="en-US" sz="1763" dirty="0"/>
          </a:p>
        </p:txBody>
      </p:sp>
      <p:sp>
        <p:nvSpPr>
          <p:cNvPr id="137" name="Text 142"/>
          <p:cNvSpPr/>
          <p:nvPr/>
        </p:nvSpPr>
        <p:spPr>
          <a:xfrm>
            <a:off x="13573125" y="9476408"/>
            <a:ext cx="14319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13" dirty="0">
                <a:solidFill>
                  <a:srgbClr val="C7C1B3"/>
                </a:solidFill>
                <a:latin typeface="Noto Sans KR"/>
                <a:ea typeface="Noto Sans KR"/>
                <a:cs typeface="Noto Sans KR"/>
              </a:rPr>
              <a:t>배치 · 대사 처리</a:t>
            </a:r>
            <a:endParaRPr lang="en-US" sz="1613" dirty="0"/>
          </a:p>
        </p:txBody>
      </p:sp>
      <p:sp>
        <p:nvSpPr>
          <p:cNvPr id="138" name="Text 143"/>
          <p:cNvSpPr/>
          <p:nvPr/>
        </p:nvSpPr>
        <p:spPr>
          <a:xfrm>
            <a:off x="15562064" y="9452595"/>
            <a:ext cx="10304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763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10만 건/회</a:t>
            </a:r>
            <a:endParaRPr lang="en-US" sz="1763" dirty="0"/>
          </a:p>
        </p:txBody>
      </p:sp>
      <p:sp>
        <p:nvSpPr>
          <p:cNvPr id="139" name="Text 144"/>
          <p:cNvSpPr/>
          <p:nvPr/>
        </p:nvSpPr>
        <p:spPr>
          <a:xfrm>
            <a:off x="13573125" y="9824070"/>
            <a:ext cx="323754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38" dirty="0">
                <a:solidFill>
                  <a:srgbClr val="7E7A6D"/>
                </a:solidFill>
                <a:latin typeface="Noto Sans KR"/>
                <a:ea typeface="Noto Sans KR"/>
                <a:cs typeface="Noto Sans KR"/>
              </a:rPr>
              <a:t>※ 세부 기준값은 착수 단계에서 합의</a:t>
            </a:r>
            <a:endParaRPr lang="en-US" sz="1238" dirty="0"/>
          </a:p>
        </p:txBody>
      </p:sp>
    </p:spTree>
    <p:extLst>
      <p:ext uri="{BB962C8B-B14F-4D97-AF65-F5344CB8AC3E}">
        <p14:creationId xmlns:p14="http://schemas.microsoft.com/office/powerpoint/2010/main" val="1317260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고객 행동의 데이터 전환 구조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63</a:t>
            </a:r>
            <a:r>
              <a:rPr lang="ko-KR" altLang="en-US"/>
              <a:t>빌딩 방문부터 재방문까지 </a:t>
            </a:r>
            <a:r>
              <a:rPr lang="en-US" altLang="ko-KR"/>
              <a:t>— 9</a:t>
            </a:r>
            <a:r>
              <a:rPr lang="ko-KR" altLang="en-US"/>
              <a:t>단계 행동을 회원 기반 이벤트로 전환</a:t>
            </a:r>
            <a:r>
              <a:rPr lang="en-US" altLang="ko-KR"/>
              <a:t>·</a:t>
            </a:r>
            <a:r>
              <a:rPr lang="ko-KR" altLang="en-US"/>
              <a:t>축적합니다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01 </a:t>
            </a:r>
            <a:r>
              <a:rPr lang="ko-KR" altLang="en-US"/>
              <a:t>제안 개요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/>
              <a:t>1.2 </a:t>
            </a:r>
            <a:r>
              <a:rPr lang="ko-KR" altLang="en-US"/>
              <a:t>사업 추진 배경 </a:t>
            </a:r>
            <a:r>
              <a:rPr lang="en-US" altLang="ko-KR"/>
              <a:t>· </a:t>
            </a:r>
            <a:r>
              <a:rPr lang="ko-KR" altLang="en-US"/>
              <a:t>행동 데이터화</a:t>
            </a:r>
          </a:p>
        </p:txBody>
      </p:sp>
      <p:sp>
        <p:nvSpPr>
          <p:cNvPr id="140" name="Shape 11"/>
          <p:cNvSpPr/>
          <p:nvPr/>
        </p:nvSpPr>
        <p:spPr>
          <a:xfrm>
            <a:off x="990600" y="2421806"/>
            <a:ext cx="6217072" cy="8389069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9525">
            <a:solidFill>
              <a:srgbClr val="E7E1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1" name="Text 12"/>
          <p:cNvSpPr/>
          <p:nvPr/>
        </p:nvSpPr>
        <p:spPr>
          <a:xfrm>
            <a:off x="1209675" y="2621831"/>
            <a:ext cx="635681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88" b="1" dirty="0">
                <a:solidFill>
                  <a:srgbClr val="B68A36"/>
                </a:solidFill>
                <a:latin typeface="Noto Sans KR"/>
                <a:ea typeface="Noto Sans KR"/>
                <a:cs typeface="Noto Sans KR"/>
              </a:rPr>
              <a:t>① 오프라인 행동</a:t>
            </a:r>
            <a:endParaRPr lang="en-US" sz="1688" dirty="0"/>
          </a:p>
        </p:txBody>
      </p:sp>
      <p:sp>
        <p:nvSpPr>
          <p:cNvPr id="142" name="Shape 13"/>
          <p:cNvSpPr/>
          <p:nvPr/>
        </p:nvSpPr>
        <p:spPr>
          <a:xfrm>
            <a:off x="1514475" y="3245718"/>
            <a:ext cx="19050" cy="711748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" name="Shape 14"/>
          <p:cNvSpPr/>
          <p:nvPr/>
        </p:nvSpPr>
        <p:spPr>
          <a:xfrm>
            <a:off x="1209675" y="2998068"/>
            <a:ext cx="5778922" cy="705073"/>
          </a:xfrm>
          <a:prstGeom prst="roundRect">
            <a:avLst>
              <a:gd name="adj" fmla="val 13509"/>
            </a:avLst>
          </a:prstGeom>
          <a:solidFill>
            <a:srgbClr val="FBFAF7"/>
          </a:solidFill>
          <a:ln w="9525">
            <a:solidFill>
              <a:srgbClr val="ECE5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4" name="Shape 15"/>
          <p:cNvSpPr/>
          <p:nvPr/>
        </p:nvSpPr>
        <p:spPr>
          <a:xfrm>
            <a:off x="1371600" y="3221980"/>
            <a:ext cx="343123" cy="257175"/>
          </a:xfrm>
          <a:prstGeom prst="roundRect">
            <a:avLst>
              <a:gd name="adj" fmla="val 18519"/>
            </a:avLst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" name="Text 16"/>
          <p:cNvSpPr/>
          <p:nvPr/>
        </p:nvSpPr>
        <p:spPr>
          <a:xfrm>
            <a:off x="1447800" y="3250555"/>
            <a:ext cx="22503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  <a:endParaRPr lang="en-US" sz="1350" dirty="0"/>
          </a:p>
        </p:txBody>
      </p:sp>
      <p:sp>
        <p:nvSpPr>
          <p:cNvPr id="146" name="Text 17"/>
          <p:cNvSpPr/>
          <p:nvPr/>
        </p:nvSpPr>
        <p:spPr>
          <a:xfrm>
            <a:off x="1838548" y="3102843"/>
            <a:ext cx="1117848" cy="295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63" b="1" dirty="0">
                <a:solidFill>
                  <a:srgbClr val="1C1E26"/>
                </a:solidFill>
                <a:latin typeface="Noto Sans KR"/>
                <a:ea typeface="Noto Sans KR"/>
                <a:cs typeface="Noto Sans KR"/>
              </a:rPr>
              <a:t>방문</a:t>
            </a:r>
            <a:endParaRPr lang="en-US" sz="1763" dirty="0"/>
          </a:p>
        </p:txBody>
      </p:sp>
      <p:sp>
        <p:nvSpPr>
          <p:cNvPr id="147" name="Text 18"/>
          <p:cNvSpPr/>
          <p:nvPr/>
        </p:nvSpPr>
        <p:spPr>
          <a:xfrm>
            <a:off x="1838548" y="3369766"/>
            <a:ext cx="11178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C887C"/>
                </a:solidFill>
                <a:latin typeface="Noto Sans KR"/>
                <a:ea typeface="Noto Sans KR"/>
                <a:cs typeface="Noto Sans KR"/>
              </a:rPr>
              <a:t>체크인 이벤트</a:t>
            </a:r>
            <a:endParaRPr lang="en-US" sz="1500" dirty="0"/>
          </a:p>
        </p:txBody>
      </p:sp>
      <p:sp>
        <p:nvSpPr>
          <p:cNvPr id="148" name="Shape 19"/>
          <p:cNvSpPr/>
          <p:nvPr/>
        </p:nvSpPr>
        <p:spPr>
          <a:xfrm>
            <a:off x="6483772" y="3112443"/>
            <a:ext cx="342900" cy="4762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DAD0BD"/>
            </a:solidFill>
            <a:prstDash val="solid"/>
          </a:ln>
          <a:effectLst>
            <a:outerShdw blurRad="19050" dist="9525" dir="5400000" algn="bl" rotWithShape="0">
              <a:srgbClr val="3C321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9" name="Shape 20"/>
          <p:cNvSpPr/>
          <p:nvPr/>
        </p:nvSpPr>
        <p:spPr>
          <a:xfrm>
            <a:off x="6526634" y="3155305"/>
            <a:ext cx="257175" cy="76200"/>
          </a:xfrm>
          <a:prstGeom prst="roundRect">
            <a:avLst>
              <a:gd name="adj" fmla="val 37500"/>
            </a:avLst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" name="Shape 21"/>
          <p:cNvSpPr/>
          <p:nvPr/>
        </p:nvSpPr>
        <p:spPr>
          <a:xfrm>
            <a:off x="6526634" y="3255318"/>
            <a:ext cx="257175" cy="200025"/>
          </a:xfrm>
          <a:prstGeom prst="roundRect">
            <a:avLst>
              <a:gd name="adj" fmla="val 14286"/>
            </a:avLst>
          </a:prstGeom>
          <a:solidFill>
            <a:srgbClr val="1C1E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" name="Shape 22"/>
          <p:cNvSpPr/>
          <p:nvPr/>
        </p:nvSpPr>
        <p:spPr>
          <a:xfrm>
            <a:off x="6550447" y="3393430"/>
            <a:ext cx="129853" cy="38100"/>
          </a:xfrm>
          <a:prstGeom prst="roundRect">
            <a:avLst>
              <a:gd name="adj" fmla="val 50000"/>
            </a:avLst>
          </a:prstGeom>
          <a:solidFill>
            <a:srgbClr val="E2BE7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" name="Shape 23"/>
          <p:cNvSpPr/>
          <p:nvPr/>
        </p:nvSpPr>
        <p:spPr>
          <a:xfrm>
            <a:off x="6526634" y="3479155"/>
            <a:ext cx="257175" cy="66675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" name="Shape 24"/>
          <p:cNvSpPr/>
          <p:nvPr/>
        </p:nvSpPr>
        <p:spPr>
          <a:xfrm>
            <a:off x="1209675" y="4724995"/>
            <a:ext cx="5778922" cy="705073"/>
          </a:xfrm>
          <a:prstGeom prst="roundRect">
            <a:avLst>
              <a:gd name="adj" fmla="val 13509"/>
            </a:avLst>
          </a:prstGeom>
          <a:solidFill>
            <a:srgbClr val="FBFAF7"/>
          </a:solidFill>
          <a:ln w="9525">
            <a:solidFill>
              <a:srgbClr val="ECE5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4" name="Shape 25"/>
          <p:cNvSpPr/>
          <p:nvPr/>
        </p:nvSpPr>
        <p:spPr>
          <a:xfrm>
            <a:off x="1371600" y="4948907"/>
            <a:ext cx="343123" cy="257175"/>
          </a:xfrm>
          <a:prstGeom prst="roundRect">
            <a:avLst>
              <a:gd name="adj" fmla="val 18519"/>
            </a:avLst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" name="Text 26"/>
          <p:cNvSpPr/>
          <p:nvPr/>
        </p:nvSpPr>
        <p:spPr>
          <a:xfrm>
            <a:off x="1447800" y="4977482"/>
            <a:ext cx="22503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  <a:endParaRPr lang="en-US" sz="1350" dirty="0"/>
          </a:p>
        </p:txBody>
      </p:sp>
      <p:sp>
        <p:nvSpPr>
          <p:cNvPr id="156" name="Text 27"/>
          <p:cNvSpPr/>
          <p:nvPr/>
        </p:nvSpPr>
        <p:spPr>
          <a:xfrm>
            <a:off x="1838548" y="4829770"/>
            <a:ext cx="1332034" cy="295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63" b="1" dirty="0">
                <a:solidFill>
                  <a:srgbClr val="1C1E26"/>
                </a:solidFill>
                <a:latin typeface="Noto Sans KR"/>
                <a:ea typeface="Noto Sans KR"/>
                <a:cs typeface="Noto Sans KR"/>
              </a:rPr>
              <a:t>체크인</a:t>
            </a:r>
            <a:endParaRPr lang="en-US" sz="1763" dirty="0"/>
          </a:p>
        </p:txBody>
      </p:sp>
      <p:sp>
        <p:nvSpPr>
          <p:cNvPr id="157" name="Text 28"/>
          <p:cNvSpPr/>
          <p:nvPr/>
        </p:nvSpPr>
        <p:spPr>
          <a:xfrm>
            <a:off x="1838548" y="5096694"/>
            <a:ext cx="133203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C887C"/>
                </a:solidFill>
                <a:latin typeface="Noto Sans KR"/>
                <a:ea typeface="Noto Sans KR"/>
                <a:cs typeface="Noto Sans KR"/>
              </a:rPr>
              <a:t>위치 · 시간 캡처</a:t>
            </a:r>
            <a:endParaRPr lang="en-US" sz="1500" dirty="0"/>
          </a:p>
        </p:txBody>
      </p:sp>
      <p:sp>
        <p:nvSpPr>
          <p:cNvPr id="158" name="Shape 29"/>
          <p:cNvSpPr/>
          <p:nvPr/>
        </p:nvSpPr>
        <p:spPr>
          <a:xfrm>
            <a:off x="6483772" y="4839370"/>
            <a:ext cx="342900" cy="4762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DAD0BD"/>
            </a:solidFill>
            <a:prstDash val="solid"/>
          </a:ln>
          <a:effectLst>
            <a:outerShdw blurRad="19050" dist="9525" dir="5400000" algn="bl" rotWithShape="0">
              <a:srgbClr val="3C321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9" name="Shape 30"/>
          <p:cNvSpPr/>
          <p:nvPr/>
        </p:nvSpPr>
        <p:spPr>
          <a:xfrm>
            <a:off x="6526634" y="4882232"/>
            <a:ext cx="257175" cy="66675"/>
          </a:xfrm>
          <a:prstGeom prst="roundRect">
            <a:avLst>
              <a:gd name="adj" fmla="val 42857"/>
            </a:avLst>
          </a:prstGeom>
          <a:solidFill>
            <a:srgbClr val="EDE4D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" name="Shape 31"/>
          <p:cNvSpPr/>
          <p:nvPr/>
        </p:nvSpPr>
        <p:spPr>
          <a:xfrm>
            <a:off x="6545684" y="5013201"/>
            <a:ext cx="219075" cy="219075"/>
          </a:xfrm>
          <a:prstGeom prst="roundRect">
            <a:avLst>
              <a:gd name="adj" fmla="val 13043"/>
            </a:avLst>
          </a:prstGeom>
          <a:solidFill>
            <a:srgbClr val="1C1E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1" name="Shape 32"/>
          <p:cNvSpPr/>
          <p:nvPr/>
        </p:nvSpPr>
        <p:spPr>
          <a:xfrm>
            <a:off x="6574259" y="5041776"/>
            <a:ext cx="71438" cy="7143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" name="Shape 33"/>
          <p:cNvSpPr/>
          <p:nvPr/>
        </p:nvSpPr>
        <p:spPr>
          <a:xfrm>
            <a:off x="6664747" y="5041776"/>
            <a:ext cx="71438" cy="71438"/>
          </a:xfrm>
          <a:prstGeom prst="roundRect">
            <a:avLst>
              <a:gd name="adj" fmla="val 13333"/>
            </a:avLst>
          </a:prstGeom>
          <a:solidFill>
            <a:srgbClr val="E2BE7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" name="Shape 34"/>
          <p:cNvSpPr/>
          <p:nvPr/>
        </p:nvSpPr>
        <p:spPr>
          <a:xfrm>
            <a:off x="6574259" y="5132263"/>
            <a:ext cx="71438" cy="71438"/>
          </a:xfrm>
          <a:prstGeom prst="roundRect">
            <a:avLst>
              <a:gd name="adj" fmla="val 13333"/>
            </a:avLst>
          </a:prstGeom>
          <a:solidFill>
            <a:srgbClr val="E2BE7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" name="Shape 35"/>
          <p:cNvSpPr/>
          <p:nvPr/>
        </p:nvSpPr>
        <p:spPr>
          <a:xfrm>
            <a:off x="6664747" y="5132263"/>
            <a:ext cx="71438" cy="7143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" name="Shape 36"/>
          <p:cNvSpPr/>
          <p:nvPr/>
        </p:nvSpPr>
        <p:spPr>
          <a:xfrm>
            <a:off x="1209675" y="6451922"/>
            <a:ext cx="5778922" cy="705073"/>
          </a:xfrm>
          <a:prstGeom prst="roundRect">
            <a:avLst>
              <a:gd name="adj" fmla="val 13509"/>
            </a:avLst>
          </a:prstGeom>
          <a:solidFill>
            <a:srgbClr val="FBFAF7"/>
          </a:solidFill>
          <a:ln w="9525">
            <a:solidFill>
              <a:srgbClr val="ECE5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6" name="Shape 37"/>
          <p:cNvSpPr/>
          <p:nvPr/>
        </p:nvSpPr>
        <p:spPr>
          <a:xfrm>
            <a:off x="1371600" y="6675834"/>
            <a:ext cx="343123" cy="257175"/>
          </a:xfrm>
          <a:prstGeom prst="roundRect">
            <a:avLst>
              <a:gd name="adj" fmla="val 18519"/>
            </a:avLst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7" name="Text 38"/>
          <p:cNvSpPr/>
          <p:nvPr/>
        </p:nvSpPr>
        <p:spPr>
          <a:xfrm>
            <a:off x="1447800" y="6704409"/>
            <a:ext cx="22503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  <a:endParaRPr lang="en-US" sz="1350" dirty="0"/>
          </a:p>
        </p:txBody>
      </p:sp>
      <p:sp>
        <p:nvSpPr>
          <p:cNvPr id="168" name="Text 39"/>
          <p:cNvSpPr/>
          <p:nvPr/>
        </p:nvSpPr>
        <p:spPr>
          <a:xfrm>
            <a:off x="1838548" y="6556697"/>
            <a:ext cx="1332034" cy="295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63" b="1" dirty="0">
                <a:solidFill>
                  <a:srgbClr val="1C1E26"/>
                </a:solidFill>
                <a:latin typeface="Noto Sans KR"/>
                <a:ea typeface="Noto Sans KR"/>
                <a:cs typeface="Noto Sans KR"/>
              </a:rPr>
              <a:t>미션</a:t>
            </a:r>
            <a:endParaRPr lang="en-US" sz="1763" dirty="0"/>
          </a:p>
        </p:txBody>
      </p:sp>
      <p:sp>
        <p:nvSpPr>
          <p:cNvPr id="169" name="Text 40"/>
          <p:cNvSpPr/>
          <p:nvPr/>
        </p:nvSpPr>
        <p:spPr>
          <a:xfrm>
            <a:off x="1838548" y="6823621"/>
            <a:ext cx="133203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C887C"/>
                </a:solidFill>
                <a:latin typeface="Noto Sans KR"/>
                <a:ea typeface="Noto Sans KR"/>
                <a:cs typeface="Noto Sans KR"/>
              </a:rPr>
              <a:t>탐험 · 참여 로그</a:t>
            </a:r>
            <a:endParaRPr lang="en-US" sz="1500" dirty="0"/>
          </a:p>
        </p:txBody>
      </p:sp>
      <p:sp>
        <p:nvSpPr>
          <p:cNvPr id="170" name="Shape 41"/>
          <p:cNvSpPr/>
          <p:nvPr/>
        </p:nvSpPr>
        <p:spPr>
          <a:xfrm>
            <a:off x="6483772" y="6566297"/>
            <a:ext cx="342900" cy="4762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DAD0BD"/>
            </a:solidFill>
            <a:prstDash val="solid"/>
          </a:ln>
          <a:effectLst>
            <a:outerShdw blurRad="19050" dist="9525" dir="5400000" algn="bl" rotWithShape="0">
              <a:srgbClr val="3C321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1" name="Shape 42"/>
          <p:cNvSpPr/>
          <p:nvPr/>
        </p:nvSpPr>
        <p:spPr>
          <a:xfrm>
            <a:off x="6526634" y="6609159"/>
            <a:ext cx="257175" cy="66675"/>
          </a:xfrm>
          <a:prstGeom prst="roundRect">
            <a:avLst>
              <a:gd name="adj" fmla="val 42857"/>
            </a:avLst>
          </a:prstGeom>
          <a:solidFill>
            <a:srgbClr val="EDE4D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2" name="Shape 43"/>
          <p:cNvSpPr/>
          <p:nvPr/>
        </p:nvSpPr>
        <p:spPr>
          <a:xfrm>
            <a:off x="6536159" y="6908825"/>
            <a:ext cx="45244" cy="81335"/>
          </a:xfrm>
          <a:prstGeom prst="roundRect">
            <a:avLst>
              <a:gd name="adj" fmla="val 31579"/>
            </a:avLst>
          </a:prstGeom>
          <a:solidFill>
            <a:srgbClr val="E8DD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" name="Shape 44"/>
          <p:cNvSpPr/>
          <p:nvPr/>
        </p:nvSpPr>
        <p:spPr>
          <a:xfrm>
            <a:off x="6600453" y="6850782"/>
            <a:ext cx="45244" cy="139378"/>
          </a:xfrm>
          <a:prstGeom prst="roundRect">
            <a:avLst>
              <a:gd name="adj" fmla="val 31579"/>
            </a:avLst>
          </a:prstGeom>
          <a:solidFill>
            <a:srgbClr val="E8DD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" name="Shape 45"/>
          <p:cNvSpPr/>
          <p:nvPr/>
        </p:nvSpPr>
        <p:spPr>
          <a:xfrm>
            <a:off x="6664747" y="6792664"/>
            <a:ext cx="45244" cy="197495"/>
          </a:xfrm>
          <a:prstGeom prst="roundRect">
            <a:avLst>
              <a:gd name="adj" fmla="val 31579"/>
            </a:avLst>
          </a:prstGeom>
          <a:solidFill>
            <a:srgbClr val="E8DD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" name="Shape 46"/>
          <p:cNvSpPr/>
          <p:nvPr/>
        </p:nvSpPr>
        <p:spPr>
          <a:xfrm>
            <a:off x="6729040" y="6699647"/>
            <a:ext cx="45244" cy="290513"/>
          </a:xfrm>
          <a:prstGeom prst="roundRect">
            <a:avLst>
              <a:gd name="adj" fmla="val 31579"/>
            </a:avLst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6" name="Shape 47"/>
          <p:cNvSpPr/>
          <p:nvPr/>
        </p:nvSpPr>
        <p:spPr>
          <a:xfrm>
            <a:off x="1209675" y="8178850"/>
            <a:ext cx="5778922" cy="705073"/>
          </a:xfrm>
          <a:prstGeom prst="roundRect">
            <a:avLst>
              <a:gd name="adj" fmla="val 13509"/>
            </a:avLst>
          </a:prstGeom>
          <a:solidFill>
            <a:srgbClr val="FBFAF7"/>
          </a:solidFill>
          <a:ln w="9525">
            <a:solidFill>
              <a:srgbClr val="ECE5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7" name="Shape 48"/>
          <p:cNvSpPr/>
          <p:nvPr/>
        </p:nvSpPr>
        <p:spPr>
          <a:xfrm>
            <a:off x="1371600" y="8402762"/>
            <a:ext cx="343123" cy="257175"/>
          </a:xfrm>
          <a:prstGeom prst="roundRect">
            <a:avLst>
              <a:gd name="adj" fmla="val 18519"/>
            </a:avLst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" name="Text 49"/>
          <p:cNvSpPr/>
          <p:nvPr/>
        </p:nvSpPr>
        <p:spPr>
          <a:xfrm>
            <a:off x="1447800" y="8431337"/>
            <a:ext cx="22503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  <a:endParaRPr lang="en-US" sz="1350" dirty="0"/>
          </a:p>
        </p:txBody>
      </p:sp>
      <p:sp>
        <p:nvSpPr>
          <p:cNvPr id="179" name="Text 50"/>
          <p:cNvSpPr/>
          <p:nvPr/>
        </p:nvSpPr>
        <p:spPr>
          <a:xfrm>
            <a:off x="1838548" y="8283625"/>
            <a:ext cx="1332034" cy="295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63" b="1" dirty="0">
                <a:solidFill>
                  <a:srgbClr val="1C1E26"/>
                </a:solidFill>
                <a:latin typeface="Noto Sans KR"/>
                <a:ea typeface="Noto Sans KR"/>
                <a:cs typeface="Noto Sans KR"/>
              </a:rPr>
              <a:t>쿠폰</a:t>
            </a:r>
            <a:endParaRPr lang="en-US" sz="1763" dirty="0"/>
          </a:p>
        </p:txBody>
      </p:sp>
      <p:sp>
        <p:nvSpPr>
          <p:cNvPr id="180" name="Text 51"/>
          <p:cNvSpPr/>
          <p:nvPr/>
        </p:nvSpPr>
        <p:spPr>
          <a:xfrm>
            <a:off x="1838548" y="8550548"/>
            <a:ext cx="133203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C887C"/>
                </a:solidFill>
                <a:latin typeface="Noto Sans KR"/>
                <a:ea typeface="Noto Sans KR"/>
                <a:cs typeface="Noto Sans KR"/>
              </a:rPr>
              <a:t>발급 · 사용 이력</a:t>
            </a:r>
            <a:endParaRPr lang="en-US" sz="1500" dirty="0"/>
          </a:p>
        </p:txBody>
      </p:sp>
      <p:sp>
        <p:nvSpPr>
          <p:cNvPr id="181" name="Shape 52"/>
          <p:cNvSpPr/>
          <p:nvPr/>
        </p:nvSpPr>
        <p:spPr>
          <a:xfrm>
            <a:off x="6483772" y="8293224"/>
            <a:ext cx="342900" cy="4762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DAD0BD"/>
            </a:solidFill>
            <a:prstDash val="solid"/>
          </a:ln>
          <a:effectLst>
            <a:outerShdw blurRad="19050" dist="9525" dir="5400000" algn="bl" rotWithShape="0">
              <a:srgbClr val="3C321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2" name="Shape 53"/>
          <p:cNvSpPr/>
          <p:nvPr/>
        </p:nvSpPr>
        <p:spPr>
          <a:xfrm>
            <a:off x="6526634" y="8336087"/>
            <a:ext cx="257175" cy="66675"/>
          </a:xfrm>
          <a:prstGeom prst="roundRect">
            <a:avLst>
              <a:gd name="adj" fmla="val 42857"/>
            </a:avLst>
          </a:prstGeom>
          <a:solidFill>
            <a:srgbClr val="EDE4D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" name="Shape 54"/>
          <p:cNvSpPr/>
          <p:nvPr/>
        </p:nvSpPr>
        <p:spPr>
          <a:xfrm>
            <a:off x="6545684" y="8481343"/>
            <a:ext cx="219075" cy="1905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4" name="Shape 55"/>
          <p:cNvSpPr/>
          <p:nvPr/>
        </p:nvSpPr>
        <p:spPr>
          <a:xfrm>
            <a:off x="6681490" y="8481343"/>
            <a:ext cx="14288" cy="19050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" name="Shape 56"/>
          <p:cNvSpPr/>
          <p:nvPr/>
        </p:nvSpPr>
        <p:spPr>
          <a:xfrm>
            <a:off x="1209675" y="9905777"/>
            <a:ext cx="5778922" cy="705073"/>
          </a:xfrm>
          <a:prstGeom prst="roundRect">
            <a:avLst>
              <a:gd name="adj" fmla="val 13509"/>
            </a:avLst>
          </a:prstGeom>
          <a:solidFill>
            <a:srgbClr val="FBFAF7"/>
          </a:solidFill>
          <a:ln w="9525">
            <a:solidFill>
              <a:srgbClr val="ECE5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6" name="Shape 57"/>
          <p:cNvSpPr/>
          <p:nvPr/>
        </p:nvSpPr>
        <p:spPr>
          <a:xfrm>
            <a:off x="1371600" y="10129689"/>
            <a:ext cx="343123" cy="257175"/>
          </a:xfrm>
          <a:prstGeom prst="roundRect">
            <a:avLst>
              <a:gd name="adj" fmla="val 18519"/>
            </a:avLst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7" name="Text 58"/>
          <p:cNvSpPr/>
          <p:nvPr/>
        </p:nvSpPr>
        <p:spPr>
          <a:xfrm>
            <a:off x="1447800" y="10158264"/>
            <a:ext cx="22503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05</a:t>
            </a:r>
            <a:endParaRPr lang="en-US" sz="1350" dirty="0"/>
          </a:p>
        </p:txBody>
      </p:sp>
      <p:sp>
        <p:nvSpPr>
          <p:cNvPr id="188" name="Text 59"/>
          <p:cNvSpPr/>
          <p:nvPr/>
        </p:nvSpPr>
        <p:spPr>
          <a:xfrm>
            <a:off x="1838548" y="10010552"/>
            <a:ext cx="1142181" cy="295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63" b="1" dirty="0">
                <a:solidFill>
                  <a:srgbClr val="1C1E26"/>
                </a:solidFill>
                <a:latin typeface="Noto Sans KR"/>
                <a:ea typeface="Noto Sans KR"/>
                <a:cs typeface="Noto Sans KR"/>
              </a:rPr>
              <a:t>결제 · 적립</a:t>
            </a:r>
            <a:endParaRPr lang="en-US" sz="1763" dirty="0"/>
          </a:p>
        </p:txBody>
      </p:sp>
      <p:sp>
        <p:nvSpPr>
          <p:cNvPr id="189" name="Text 60"/>
          <p:cNvSpPr/>
          <p:nvPr/>
        </p:nvSpPr>
        <p:spPr>
          <a:xfrm>
            <a:off x="1838548" y="10277475"/>
            <a:ext cx="114218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C887C"/>
                </a:solidFill>
                <a:latin typeface="Noto Sans KR"/>
                <a:ea typeface="Noto Sans KR"/>
                <a:cs typeface="Noto Sans KR"/>
              </a:rPr>
              <a:t>영수증 · POS</a:t>
            </a:r>
            <a:endParaRPr lang="en-US" sz="1500" dirty="0"/>
          </a:p>
        </p:txBody>
      </p:sp>
      <p:sp>
        <p:nvSpPr>
          <p:cNvPr id="190" name="Shape 61"/>
          <p:cNvSpPr/>
          <p:nvPr/>
        </p:nvSpPr>
        <p:spPr>
          <a:xfrm>
            <a:off x="6483772" y="10020151"/>
            <a:ext cx="342900" cy="4762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DAD0BD"/>
            </a:solidFill>
            <a:prstDash val="solid"/>
          </a:ln>
          <a:effectLst>
            <a:outerShdw blurRad="19050" dist="9525" dir="5400000" algn="bl" rotWithShape="0">
              <a:srgbClr val="3C321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1" name="Shape 62"/>
          <p:cNvSpPr/>
          <p:nvPr/>
        </p:nvSpPr>
        <p:spPr>
          <a:xfrm>
            <a:off x="6526634" y="10063014"/>
            <a:ext cx="257175" cy="76200"/>
          </a:xfrm>
          <a:prstGeom prst="roundRect">
            <a:avLst>
              <a:gd name="adj" fmla="val 37500"/>
            </a:avLst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2" name="Text 63"/>
          <p:cNvSpPr/>
          <p:nvPr/>
        </p:nvSpPr>
        <p:spPr>
          <a:xfrm>
            <a:off x="6558558" y="10191601"/>
            <a:ext cx="269528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A8792B"/>
                </a:solidFill>
                <a:latin typeface="Noto Sans KR"/>
                <a:ea typeface="Noto Sans KR"/>
                <a:cs typeface="Noto Sans KR"/>
              </a:rPr>
              <a:t>+1%</a:t>
            </a:r>
            <a:endParaRPr lang="en-US" sz="750" dirty="0"/>
          </a:p>
        </p:txBody>
      </p:sp>
      <p:sp>
        <p:nvSpPr>
          <p:cNvPr id="193" name="Shape 64"/>
          <p:cNvSpPr/>
          <p:nvPr/>
        </p:nvSpPr>
        <p:spPr>
          <a:xfrm>
            <a:off x="6593309" y="10301139"/>
            <a:ext cx="123825" cy="123825"/>
          </a:xfrm>
          <a:prstGeom prst="ellipse">
            <a:avLst/>
          </a:prstGeom>
          <a:solidFill>
            <a:srgbClr val="E4C57F">
              <a:alpha val="25000"/>
            </a:srgbClr>
          </a:solidFill>
          <a:ln w="9525">
            <a:solidFill>
              <a:srgbClr val="D9C08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4" name="Text 65"/>
          <p:cNvSpPr/>
          <p:nvPr/>
        </p:nvSpPr>
        <p:spPr>
          <a:xfrm>
            <a:off x="6564734" y="10310664"/>
            <a:ext cx="18097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A8792B"/>
                </a:solidFill>
                <a:latin typeface="Noto Sans KR"/>
                <a:ea typeface="Noto Sans KR"/>
                <a:cs typeface="Noto Sans KR"/>
              </a:rPr>
              <a:t>✓</a:t>
            </a:r>
            <a:endParaRPr lang="en-US" sz="600" dirty="0"/>
          </a:p>
        </p:txBody>
      </p:sp>
      <p:sp>
        <p:nvSpPr>
          <p:cNvPr id="195" name="Text 66"/>
          <p:cNvSpPr/>
          <p:nvPr/>
        </p:nvSpPr>
        <p:spPr>
          <a:xfrm>
            <a:off x="7334696" y="6182916"/>
            <a:ext cx="64122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A8792B"/>
                </a:solidFill>
                <a:latin typeface="Noto Sans KR"/>
                <a:ea typeface="Noto Sans KR"/>
                <a:cs typeface="Noto Sans KR"/>
              </a:rPr>
              <a:t>행동 N건</a:t>
            </a:r>
            <a:endParaRPr lang="en-US" sz="1238" dirty="0"/>
          </a:p>
        </p:txBody>
      </p:sp>
      <p:sp>
        <p:nvSpPr>
          <p:cNvPr id="196" name="Text 67"/>
          <p:cNvSpPr/>
          <p:nvPr/>
        </p:nvSpPr>
        <p:spPr>
          <a:xfrm>
            <a:off x="7498184" y="6401991"/>
            <a:ext cx="3143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CBAE6E"/>
                </a:solidFill>
                <a:latin typeface="Noto Sans KR"/>
                <a:ea typeface="Noto Sans KR"/>
                <a:cs typeface="Noto Sans KR"/>
              </a:rPr>
              <a:t>→</a:t>
            </a:r>
            <a:endParaRPr lang="en-US" sz="1875" dirty="0"/>
          </a:p>
        </p:txBody>
      </p:sp>
      <p:sp>
        <p:nvSpPr>
          <p:cNvPr id="197" name="Text 68"/>
          <p:cNvSpPr/>
          <p:nvPr/>
        </p:nvSpPr>
        <p:spPr>
          <a:xfrm>
            <a:off x="7312447" y="6668691"/>
            <a:ext cx="6858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A8792B"/>
                </a:solidFill>
                <a:latin typeface="Noto Sans KR"/>
                <a:ea typeface="Noto Sans KR"/>
                <a:cs typeface="Noto Sans KR"/>
              </a:rPr>
              <a:t>이벤트 1줄</a:t>
            </a:r>
            <a:endParaRPr lang="en-US" sz="1238" dirty="0"/>
          </a:p>
        </p:txBody>
      </p:sp>
      <p:sp>
        <p:nvSpPr>
          <p:cNvPr id="198" name="Shape 69"/>
          <p:cNvSpPr/>
          <p:nvPr/>
        </p:nvSpPr>
        <p:spPr>
          <a:xfrm>
            <a:off x="8026822" y="2421806"/>
            <a:ext cx="4323755" cy="8389069"/>
          </a:xfrm>
          <a:prstGeom prst="roundRect">
            <a:avLst>
              <a:gd name="adj" fmla="val 3525"/>
            </a:avLst>
          </a:prstGeom>
          <a:solidFill>
            <a:srgbClr val="12141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0" name="Text 71"/>
          <p:cNvSpPr/>
          <p:nvPr/>
        </p:nvSpPr>
        <p:spPr>
          <a:xfrm>
            <a:off x="8236372" y="2612306"/>
            <a:ext cx="429512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88" b="1" dirty="0">
                <a:solidFill>
                  <a:srgbClr val="E2BE73"/>
                </a:solidFill>
                <a:latin typeface="Noto Sans KR"/>
                <a:ea typeface="Noto Sans KR"/>
                <a:cs typeface="Noto Sans KR"/>
              </a:rPr>
              <a:t>② 데이터화 · 축적 </a:t>
            </a:r>
            <a:r>
              <a:rPr lang="en-US" sz="1538" dirty="0">
                <a:solidFill>
                  <a:srgbClr val="8C8676"/>
                </a:solidFill>
                <a:latin typeface="Noto Sans KR"/>
                <a:ea typeface="Noto Sans KR"/>
                <a:cs typeface="Noto Sans KR"/>
              </a:rPr>
              <a:t>+ AI Insight</a:t>
            </a:r>
            <a:endParaRPr lang="en-US" sz="1688" dirty="0"/>
          </a:p>
        </p:txBody>
      </p:sp>
      <p:sp>
        <p:nvSpPr>
          <p:cNvPr id="201" name="Shape 72"/>
          <p:cNvSpPr/>
          <p:nvPr/>
        </p:nvSpPr>
        <p:spPr>
          <a:xfrm>
            <a:off x="8236372" y="4276130"/>
            <a:ext cx="318790" cy="247650"/>
          </a:xfrm>
          <a:prstGeom prst="roundRect">
            <a:avLst>
              <a:gd name="adj" fmla="val 19231"/>
            </a:avLst>
          </a:prstGeom>
          <a:solidFill>
            <a:srgbClr val="E2BE7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" name="Text 73"/>
          <p:cNvSpPr/>
          <p:nvPr/>
        </p:nvSpPr>
        <p:spPr>
          <a:xfrm>
            <a:off x="8303047" y="4304705"/>
            <a:ext cx="2173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313" b="1" dirty="0">
                <a:solidFill>
                  <a:srgbClr val="12141C"/>
                </a:solidFill>
                <a:latin typeface="Noto Sans KR"/>
                <a:ea typeface="Noto Sans KR"/>
                <a:cs typeface="Noto Sans KR"/>
              </a:rPr>
              <a:t>06</a:t>
            </a:r>
            <a:endParaRPr lang="en-US" sz="1313" dirty="0"/>
          </a:p>
        </p:txBody>
      </p:sp>
      <p:sp>
        <p:nvSpPr>
          <p:cNvPr id="203" name="Text 74"/>
          <p:cNvSpPr/>
          <p:nvPr/>
        </p:nvSpPr>
        <p:spPr>
          <a:xfrm>
            <a:off x="8650412" y="4266605"/>
            <a:ext cx="16123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38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Customer 360</a:t>
            </a:r>
            <a:endParaRPr lang="en-US" sz="1838" dirty="0"/>
          </a:p>
        </p:txBody>
      </p:sp>
      <p:sp>
        <p:nvSpPr>
          <p:cNvPr id="204" name="Text 75"/>
          <p:cNvSpPr/>
          <p:nvPr/>
        </p:nvSpPr>
        <p:spPr>
          <a:xfrm>
            <a:off x="8550697" y="4571405"/>
            <a:ext cx="3980795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9A9484"/>
                </a:solidFill>
                <a:latin typeface="Noto Sans KR"/>
                <a:ea typeface="Noto Sans KR"/>
                <a:cs typeface="Noto Sans KR"/>
              </a:rPr>
              <a:t>통합 고객 프로필 · 세그먼트</a:t>
            </a:r>
            <a:endParaRPr lang="en-US" sz="1575" dirty="0"/>
          </a:p>
        </p:txBody>
      </p:sp>
      <p:sp>
        <p:nvSpPr>
          <p:cNvPr id="205" name="Shape 76"/>
          <p:cNvSpPr/>
          <p:nvPr/>
        </p:nvSpPr>
        <p:spPr>
          <a:xfrm>
            <a:off x="8236372" y="6206728"/>
            <a:ext cx="318790" cy="247650"/>
          </a:xfrm>
          <a:prstGeom prst="roundRect">
            <a:avLst>
              <a:gd name="adj" fmla="val 19231"/>
            </a:avLst>
          </a:prstGeom>
          <a:solidFill>
            <a:srgbClr val="E2BE7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6" name="Text 77"/>
          <p:cNvSpPr/>
          <p:nvPr/>
        </p:nvSpPr>
        <p:spPr>
          <a:xfrm>
            <a:off x="8303047" y="6235303"/>
            <a:ext cx="2173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313" b="1" dirty="0">
                <a:solidFill>
                  <a:srgbClr val="12141C"/>
                </a:solidFill>
                <a:latin typeface="Noto Sans KR"/>
                <a:ea typeface="Noto Sans KR"/>
                <a:cs typeface="Noto Sans KR"/>
              </a:rPr>
              <a:t>07</a:t>
            </a:r>
            <a:endParaRPr lang="en-US" sz="1313" dirty="0"/>
          </a:p>
        </p:txBody>
      </p:sp>
      <p:sp>
        <p:nvSpPr>
          <p:cNvPr id="207" name="Text 78"/>
          <p:cNvSpPr/>
          <p:nvPr/>
        </p:nvSpPr>
        <p:spPr>
          <a:xfrm>
            <a:off x="8650412" y="6187678"/>
            <a:ext cx="10762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38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매장 CRM</a:t>
            </a:r>
            <a:endParaRPr lang="en-US" sz="1838" dirty="0"/>
          </a:p>
        </p:txBody>
      </p:sp>
      <p:sp>
        <p:nvSpPr>
          <p:cNvPr id="208" name="Text 79"/>
          <p:cNvSpPr/>
          <p:nvPr/>
        </p:nvSpPr>
        <p:spPr>
          <a:xfrm>
            <a:off x="8550697" y="6511528"/>
            <a:ext cx="3980795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9A9484"/>
                </a:solidFill>
                <a:latin typeface="Noto Sans KR"/>
                <a:ea typeface="Noto Sans KR"/>
                <a:cs typeface="Noto Sans KR"/>
              </a:rPr>
              <a:t>매장별 방문 · 혜택 이력</a:t>
            </a:r>
            <a:endParaRPr lang="en-US" sz="1575" dirty="0"/>
          </a:p>
        </p:txBody>
      </p:sp>
      <p:sp>
        <p:nvSpPr>
          <p:cNvPr id="209" name="Shape 80"/>
          <p:cNvSpPr/>
          <p:nvPr/>
        </p:nvSpPr>
        <p:spPr>
          <a:xfrm>
            <a:off x="8236372" y="8137327"/>
            <a:ext cx="249808" cy="247650"/>
          </a:xfrm>
          <a:prstGeom prst="roundRect">
            <a:avLst>
              <a:gd name="adj" fmla="val 19231"/>
            </a:avLst>
          </a:prstGeom>
          <a:ln w="9525">
            <a:solidFill>
              <a:srgbClr val="E2BE7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0" name="Text 81"/>
          <p:cNvSpPr/>
          <p:nvPr/>
        </p:nvSpPr>
        <p:spPr>
          <a:xfrm>
            <a:off x="8312572" y="8165902"/>
            <a:ext cx="12238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13" b="1" dirty="0">
                <a:solidFill>
                  <a:srgbClr val="E2BE73"/>
                </a:solidFill>
                <a:latin typeface="Noto Sans KR"/>
                <a:ea typeface="Noto Sans KR"/>
                <a:cs typeface="Noto Sans KR"/>
              </a:rPr>
              <a:t>+</a:t>
            </a:r>
            <a:endParaRPr lang="en-US" sz="1313" dirty="0"/>
          </a:p>
        </p:txBody>
      </p:sp>
      <p:sp>
        <p:nvSpPr>
          <p:cNvPr id="211" name="Text 82"/>
          <p:cNvSpPr/>
          <p:nvPr/>
        </p:nvSpPr>
        <p:spPr>
          <a:xfrm>
            <a:off x="8581430" y="8127802"/>
            <a:ext cx="18694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38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 Insight Studio</a:t>
            </a:r>
            <a:endParaRPr lang="en-US" sz="1838" dirty="0"/>
          </a:p>
        </p:txBody>
      </p:sp>
      <p:sp>
        <p:nvSpPr>
          <p:cNvPr id="212" name="Text 83"/>
          <p:cNvSpPr/>
          <p:nvPr/>
        </p:nvSpPr>
        <p:spPr>
          <a:xfrm>
            <a:off x="8550697" y="8432602"/>
            <a:ext cx="3980795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9A9484"/>
                </a:solidFill>
                <a:latin typeface="Noto Sans KR"/>
                <a:ea typeface="Noto Sans KR"/>
                <a:cs typeface="Noto Sans KR"/>
              </a:rPr>
              <a:t>세그먼트 · 추천 분석</a:t>
            </a:r>
            <a:endParaRPr lang="en-US" sz="1575" dirty="0"/>
          </a:p>
        </p:txBody>
      </p:sp>
      <p:sp>
        <p:nvSpPr>
          <p:cNvPr id="213" name="Shape 84"/>
          <p:cNvSpPr/>
          <p:nvPr/>
        </p:nvSpPr>
        <p:spPr>
          <a:xfrm>
            <a:off x="8236372" y="10048875"/>
            <a:ext cx="3904655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4" name="Text 85"/>
          <p:cNvSpPr/>
          <p:nvPr/>
        </p:nvSpPr>
        <p:spPr>
          <a:xfrm>
            <a:off x="8236372" y="10163175"/>
            <a:ext cx="402179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7C1B3"/>
                </a:solidFill>
                <a:latin typeface="Noto Sans KR"/>
                <a:ea typeface="Noto Sans KR"/>
                <a:cs typeface="Noto Sans KR"/>
              </a:rPr>
              <a:t>통합 프로필 목표 누적 </a:t>
            </a:r>
            <a:r>
              <a:rPr lang="en-US" sz="1500" b="1" dirty="0">
                <a:solidFill>
                  <a:srgbClr val="E2BE73"/>
                </a:solidFill>
                <a:latin typeface="Noto Sans KR"/>
                <a:ea typeface="Noto Sans KR"/>
                <a:cs typeface="Noto Sans KR"/>
              </a:rPr>
              <a:t>약 10만 </a:t>
            </a:r>
            <a:r>
              <a:rPr lang="en-US" sz="1500" dirty="0">
                <a:solidFill>
                  <a:srgbClr val="C7C1B3"/>
                </a:solidFill>
                <a:latin typeface="Noto Sans KR"/>
                <a:ea typeface="Noto Sans KR"/>
                <a:cs typeface="Noto Sans KR"/>
              </a:rPr>
              <a:t>· 세부 착수 단계 합의</a:t>
            </a:r>
            <a:endParaRPr lang="en-US" sz="1500" dirty="0"/>
          </a:p>
        </p:txBody>
      </p:sp>
      <p:sp>
        <p:nvSpPr>
          <p:cNvPr id="215" name="Text 86"/>
          <p:cNvSpPr/>
          <p:nvPr/>
        </p:nvSpPr>
        <p:spPr>
          <a:xfrm>
            <a:off x="12459667" y="6387703"/>
            <a:ext cx="62001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A8792B"/>
                </a:solidFill>
                <a:latin typeface="Noto Sans KR"/>
                <a:ea typeface="Noto Sans KR"/>
                <a:cs typeface="Noto Sans KR"/>
              </a:rPr>
              <a:t>세그먼트</a:t>
            </a:r>
            <a:endParaRPr lang="en-US" sz="1238" dirty="0"/>
          </a:p>
        </p:txBody>
      </p:sp>
      <p:sp>
        <p:nvSpPr>
          <p:cNvPr id="216" name="Text 87"/>
          <p:cNvSpPr/>
          <p:nvPr/>
        </p:nvSpPr>
        <p:spPr>
          <a:xfrm>
            <a:off x="12612514" y="6606778"/>
            <a:ext cx="3143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CBAE6E"/>
                </a:solidFill>
                <a:latin typeface="Noto Sans KR"/>
                <a:ea typeface="Noto Sans KR"/>
                <a:cs typeface="Noto Sans KR"/>
              </a:rPr>
              <a:t>→</a:t>
            </a:r>
            <a:endParaRPr lang="en-US" sz="1875" dirty="0"/>
          </a:p>
        </p:txBody>
      </p:sp>
      <p:sp>
        <p:nvSpPr>
          <p:cNvPr id="217" name="Shape 88"/>
          <p:cNvSpPr/>
          <p:nvPr/>
        </p:nvSpPr>
        <p:spPr>
          <a:xfrm>
            <a:off x="13112576" y="2421806"/>
            <a:ext cx="3727624" cy="8389069"/>
          </a:xfrm>
          <a:prstGeom prst="roundRect">
            <a:avLst>
              <a:gd name="adj" fmla="val 4088"/>
            </a:avLst>
          </a:prstGeom>
          <a:gradFill rotWithShape="1">
            <a:gsLst>
              <a:gs pos="0">
                <a:srgbClr val="E4C57F">
                  <a:alpha val="14000"/>
                </a:srgbClr>
              </a:gs>
              <a:gs pos="100000">
                <a:srgbClr val="BE883A">
                  <a:alpha val="5000"/>
                </a:srgbClr>
              </a:gs>
            </a:gsLst>
            <a:lin ang="3600000" scaled="0"/>
          </a:gradFill>
          <a:ln w="14288">
            <a:solidFill>
              <a:srgbClr val="C99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8" name="Text 89"/>
          <p:cNvSpPr/>
          <p:nvPr/>
        </p:nvSpPr>
        <p:spPr>
          <a:xfrm>
            <a:off x="13336414" y="2626593"/>
            <a:ext cx="360794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88" b="1" dirty="0">
                <a:solidFill>
                  <a:srgbClr val="A8792B"/>
                </a:solidFill>
                <a:latin typeface="Noto Sans KR"/>
                <a:ea typeface="Noto Sans KR"/>
                <a:cs typeface="Noto Sans KR"/>
              </a:rPr>
              <a:t>③ 마케팅 환원</a:t>
            </a:r>
            <a:endParaRPr lang="en-US" sz="1688" dirty="0"/>
          </a:p>
        </p:txBody>
      </p:sp>
      <p:sp>
        <p:nvSpPr>
          <p:cNvPr id="219" name="Shape 90"/>
          <p:cNvSpPr/>
          <p:nvPr/>
        </p:nvSpPr>
        <p:spPr>
          <a:xfrm>
            <a:off x="13336414" y="4892725"/>
            <a:ext cx="318790" cy="247650"/>
          </a:xfrm>
          <a:prstGeom prst="roundRect">
            <a:avLst>
              <a:gd name="adj" fmla="val 19231"/>
            </a:avLst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0" name="Text 91"/>
          <p:cNvSpPr/>
          <p:nvPr/>
        </p:nvSpPr>
        <p:spPr>
          <a:xfrm>
            <a:off x="13403089" y="4921300"/>
            <a:ext cx="2173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313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08</a:t>
            </a:r>
            <a:endParaRPr lang="en-US" sz="1313" dirty="0"/>
          </a:p>
        </p:txBody>
      </p:sp>
      <p:sp>
        <p:nvSpPr>
          <p:cNvPr id="221" name="Text 92"/>
          <p:cNvSpPr/>
          <p:nvPr/>
        </p:nvSpPr>
        <p:spPr>
          <a:xfrm>
            <a:off x="13750454" y="4873675"/>
            <a:ext cx="13384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38" b="1" dirty="0">
                <a:solidFill>
                  <a:srgbClr val="1C1E26"/>
                </a:solidFill>
                <a:latin typeface="Noto Sans KR"/>
                <a:ea typeface="Noto Sans KR"/>
                <a:cs typeface="Noto Sans KR"/>
              </a:rPr>
              <a:t>캠페인 · 혜택</a:t>
            </a:r>
            <a:endParaRPr lang="en-US" sz="1838" dirty="0"/>
          </a:p>
        </p:txBody>
      </p:sp>
      <p:sp>
        <p:nvSpPr>
          <p:cNvPr id="222" name="Text 93"/>
          <p:cNvSpPr/>
          <p:nvPr/>
        </p:nvSpPr>
        <p:spPr>
          <a:xfrm>
            <a:off x="13650739" y="5197525"/>
            <a:ext cx="3293618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9C8A5E"/>
                </a:solidFill>
                <a:latin typeface="Noto Sans KR"/>
                <a:ea typeface="Noto Sans KR"/>
                <a:cs typeface="Noto Sans KR"/>
              </a:rPr>
              <a:t>세그먼트 타깃 발송</a:t>
            </a:r>
            <a:endParaRPr lang="en-US" sz="1575" dirty="0"/>
          </a:p>
        </p:txBody>
      </p:sp>
      <p:sp>
        <p:nvSpPr>
          <p:cNvPr id="223" name="Shape 94"/>
          <p:cNvSpPr/>
          <p:nvPr/>
        </p:nvSpPr>
        <p:spPr>
          <a:xfrm>
            <a:off x="13336414" y="7425556"/>
            <a:ext cx="318790" cy="247650"/>
          </a:xfrm>
          <a:prstGeom prst="roundRect">
            <a:avLst>
              <a:gd name="adj" fmla="val 19231"/>
            </a:avLst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4" name="Text 95"/>
          <p:cNvSpPr/>
          <p:nvPr/>
        </p:nvSpPr>
        <p:spPr>
          <a:xfrm>
            <a:off x="13403089" y="7454131"/>
            <a:ext cx="2173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313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09</a:t>
            </a:r>
            <a:endParaRPr lang="en-US" sz="1313" dirty="0"/>
          </a:p>
        </p:txBody>
      </p:sp>
      <p:sp>
        <p:nvSpPr>
          <p:cNvPr id="225" name="Text 96"/>
          <p:cNvSpPr/>
          <p:nvPr/>
        </p:nvSpPr>
        <p:spPr>
          <a:xfrm>
            <a:off x="13750454" y="7406506"/>
            <a:ext cx="68178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38" b="1" dirty="0">
                <a:solidFill>
                  <a:srgbClr val="1C1E26"/>
                </a:solidFill>
                <a:latin typeface="Noto Sans KR"/>
                <a:ea typeface="Noto Sans KR"/>
                <a:cs typeface="Noto Sans KR"/>
              </a:rPr>
              <a:t>재방문</a:t>
            </a:r>
            <a:endParaRPr lang="en-US" sz="1838" dirty="0"/>
          </a:p>
        </p:txBody>
      </p:sp>
      <p:sp>
        <p:nvSpPr>
          <p:cNvPr id="226" name="Text 97"/>
          <p:cNvSpPr/>
          <p:nvPr/>
        </p:nvSpPr>
        <p:spPr>
          <a:xfrm>
            <a:off x="13650739" y="7730356"/>
            <a:ext cx="3293618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9C8A5E"/>
                </a:solidFill>
                <a:latin typeface="Noto Sans KR"/>
                <a:ea typeface="Noto Sans KR"/>
                <a:cs typeface="Noto Sans KR"/>
              </a:rPr>
              <a:t>반복 방문 · LTV 상승</a:t>
            </a:r>
            <a:endParaRPr lang="en-US" sz="1575" dirty="0"/>
          </a:p>
        </p:txBody>
      </p:sp>
      <p:sp>
        <p:nvSpPr>
          <p:cNvPr id="227" name="Shape 98"/>
          <p:cNvSpPr/>
          <p:nvPr/>
        </p:nvSpPr>
        <p:spPr>
          <a:xfrm>
            <a:off x="13336414" y="9939338"/>
            <a:ext cx="3279949" cy="9525"/>
          </a:xfrm>
          <a:prstGeom prst="rect">
            <a:avLst/>
          </a:prstGeom>
          <a:solidFill>
            <a:srgbClr val="E6D9B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" name="Text 99"/>
          <p:cNvSpPr/>
          <p:nvPr/>
        </p:nvSpPr>
        <p:spPr>
          <a:xfrm>
            <a:off x="13336414" y="10063163"/>
            <a:ext cx="360794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13" b="1" dirty="0">
                <a:solidFill>
                  <a:srgbClr val="A8792B"/>
                </a:solidFill>
                <a:latin typeface="Noto Sans KR"/>
                <a:ea typeface="Noto Sans KR"/>
                <a:cs typeface="Noto Sans KR"/>
              </a:rPr>
              <a:t>환원 채널</a:t>
            </a:r>
            <a:endParaRPr lang="en-US" sz="1313" dirty="0"/>
          </a:p>
        </p:txBody>
      </p:sp>
      <p:sp>
        <p:nvSpPr>
          <p:cNvPr id="229" name="Shape 100"/>
          <p:cNvSpPr/>
          <p:nvPr/>
        </p:nvSpPr>
        <p:spPr>
          <a:xfrm>
            <a:off x="13336414" y="10334625"/>
            <a:ext cx="516731" cy="271463"/>
          </a:xfrm>
          <a:prstGeom prst="roundRect">
            <a:avLst>
              <a:gd name="adj" fmla="val 50000"/>
            </a:avLst>
          </a:prstGeom>
          <a:solidFill>
            <a:srgbClr val="E4C57F">
              <a:alpha val="18000"/>
            </a:srgbClr>
          </a:solidFill>
          <a:ln w="9525">
            <a:solidFill>
              <a:srgbClr val="D9C08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0" name="Text 101"/>
          <p:cNvSpPr/>
          <p:nvPr/>
        </p:nvSpPr>
        <p:spPr>
          <a:xfrm>
            <a:off x="13450714" y="10372725"/>
            <a:ext cx="364331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13" b="1" dirty="0">
                <a:solidFill>
                  <a:srgbClr val="90672A"/>
                </a:solidFill>
                <a:latin typeface="Noto Sans KR"/>
                <a:ea typeface="Noto Sans KR"/>
                <a:cs typeface="Noto Sans KR"/>
              </a:rPr>
              <a:t>푸시</a:t>
            </a:r>
            <a:endParaRPr lang="en-US" sz="1313" dirty="0"/>
          </a:p>
        </p:txBody>
      </p:sp>
      <p:sp>
        <p:nvSpPr>
          <p:cNvPr id="231" name="Shape 102"/>
          <p:cNvSpPr/>
          <p:nvPr/>
        </p:nvSpPr>
        <p:spPr>
          <a:xfrm>
            <a:off x="13910295" y="10334625"/>
            <a:ext cx="660797" cy="271463"/>
          </a:xfrm>
          <a:prstGeom prst="roundRect">
            <a:avLst>
              <a:gd name="adj" fmla="val 50000"/>
            </a:avLst>
          </a:prstGeom>
          <a:solidFill>
            <a:srgbClr val="E4C57F">
              <a:alpha val="18000"/>
            </a:srgbClr>
          </a:solidFill>
          <a:ln w="9525">
            <a:solidFill>
              <a:srgbClr val="D9C08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2" name="Text 103"/>
          <p:cNvSpPr/>
          <p:nvPr/>
        </p:nvSpPr>
        <p:spPr>
          <a:xfrm>
            <a:off x="14024595" y="10372725"/>
            <a:ext cx="508397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13" b="1" dirty="0">
                <a:solidFill>
                  <a:srgbClr val="90672A"/>
                </a:solidFill>
                <a:latin typeface="Noto Sans KR"/>
                <a:ea typeface="Noto Sans KR"/>
                <a:cs typeface="Noto Sans KR"/>
              </a:rPr>
              <a:t>캠페인</a:t>
            </a:r>
            <a:endParaRPr lang="en-US" sz="1313" dirty="0"/>
          </a:p>
        </p:txBody>
      </p:sp>
      <p:sp>
        <p:nvSpPr>
          <p:cNvPr id="233" name="Shape 104"/>
          <p:cNvSpPr/>
          <p:nvPr/>
        </p:nvSpPr>
        <p:spPr>
          <a:xfrm>
            <a:off x="14628242" y="10334625"/>
            <a:ext cx="516731" cy="271463"/>
          </a:xfrm>
          <a:prstGeom prst="roundRect">
            <a:avLst>
              <a:gd name="adj" fmla="val 50000"/>
            </a:avLst>
          </a:prstGeom>
          <a:solidFill>
            <a:srgbClr val="E4C57F">
              <a:alpha val="18000"/>
            </a:srgbClr>
          </a:solidFill>
          <a:ln w="9525">
            <a:solidFill>
              <a:srgbClr val="D9C08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4" name="Text 105"/>
          <p:cNvSpPr/>
          <p:nvPr/>
        </p:nvSpPr>
        <p:spPr>
          <a:xfrm>
            <a:off x="14742542" y="10372725"/>
            <a:ext cx="364331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13" b="1" dirty="0">
                <a:solidFill>
                  <a:srgbClr val="90672A"/>
                </a:solidFill>
                <a:latin typeface="Noto Sans KR"/>
                <a:ea typeface="Noto Sans KR"/>
                <a:cs typeface="Noto Sans KR"/>
              </a:rPr>
              <a:t>쿠폰</a:t>
            </a:r>
            <a:endParaRPr lang="en-US" sz="1313" dirty="0"/>
          </a:p>
        </p:txBody>
      </p:sp>
      <p:sp>
        <p:nvSpPr>
          <p:cNvPr id="235" name="Shape 106"/>
          <p:cNvSpPr/>
          <p:nvPr/>
        </p:nvSpPr>
        <p:spPr>
          <a:xfrm>
            <a:off x="990600" y="10934700"/>
            <a:ext cx="15849600" cy="609600"/>
          </a:xfrm>
          <a:prstGeom prst="roundRect">
            <a:avLst>
              <a:gd name="adj" fmla="val 21875"/>
            </a:avLst>
          </a:prstGeom>
          <a:solidFill>
            <a:srgbClr val="12141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7" name="Text 108"/>
          <p:cNvSpPr/>
          <p:nvPr/>
        </p:nvSpPr>
        <p:spPr>
          <a:xfrm>
            <a:off x="1314450" y="11106150"/>
            <a:ext cx="2367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E2BE73"/>
                </a:solidFill>
                <a:latin typeface="Noto Sans KR"/>
                <a:ea typeface="Noto Sans KR"/>
                <a:cs typeface="Noto Sans KR"/>
              </a:rPr>
              <a:t>↺</a:t>
            </a:r>
            <a:endParaRPr lang="en-US" sz="2100" dirty="0"/>
          </a:p>
        </p:txBody>
      </p:sp>
      <p:sp>
        <p:nvSpPr>
          <p:cNvPr id="238" name="Text 109"/>
          <p:cNvSpPr/>
          <p:nvPr/>
        </p:nvSpPr>
        <p:spPr>
          <a:xfrm>
            <a:off x="1646486" y="11106150"/>
            <a:ext cx="9227649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63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재방문(⑨)은 다시 새로운 </a:t>
            </a:r>
            <a:r>
              <a:rPr lang="en-US" sz="1763" b="1" dirty="0">
                <a:solidFill>
                  <a:srgbClr val="E2BE73"/>
                </a:solidFill>
                <a:latin typeface="Noto Sans KR"/>
                <a:ea typeface="Noto Sans KR"/>
                <a:cs typeface="Noto Sans KR"/>
              </a:rPr>
              <a:t>방문(①) 데이터</a:t>
            </a:r>
            <a:r>
              <a:rPr lang="en-US" sz="1763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 됩니다 — 이어지는 </a:t>
            </a:r>
            <a:r>
              <a:rPr lang="en-US" sz="1763" b="1" dirty="0">
                <a:solidFill>
                  <a:srgbClr val="E2BE73"/>
                </a:solidFill>
                <a:latin typeface="Noto Sans KR"/>
                <a:ea typeface="Noto Sans KR"/>
                <a:cs typeface="Noto Sans KR"/>
              </a:rPr>
              <a:t>운영 순환 구조 (Closed-loop)</a:t>
            </a:r>
            <a:endParaRPr lang="en-US" sz="1763" dirty="0"/>
          </a:p>
        </p:txBody>
      </p:sp>
    </p:spTree>
    <p:extLst>
      <p:ext uri="{BB962C8B-B14F-4D97-AF65-F5344CB8AC3E}">
        <p14:creationId xmlns:p14="http://schemas.microsoft.com/office/powerpoint/2010/main" val="2765707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여섯 요소가 결합된 통합 사업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멤버십</a:t>
            </a:r>
            <a:r>
              <a:rPr lang="en-US" altLang="ko-KR"/>
              <a:t>·</a:t>
            </a:r>
            <a:r>
              <a:rPr lang="ko-KR" altLang="en-US"/>
              <a:t>매장</a:t>
            </a:r>
            <a:r>
              <a:rPr lang="en-US" altLang="ko-KR"/>
              <a:t>·</a:t>
            </a:r>
            <a:r>
              <a:rPr lang="ko-KR" altLang="en-US"/>
              <a:t>이벤트</a:t>
            </a:r>
            <a:r>
              <a:rPr lang="en-US" altLang="ko-KR"/>
              <a:t>·</a:t>
            </a:r>
            <a:r>
              <a:rPr lang="ko-KR" altLang="en-US"/>
              <a:t>쿠폰</a:t>
            </a:r>
            <a:r>
              <a:rPr lang="en-US" altLang="ko-KR"/>
              <a:t>·</a:t>
            </a:r>
            <a:r>
              <a:rPr lang="ko-KR" altLang="en-US"/>
              <a:t>활동점수</a:t>
            </a:r>
            <a:r>
              <a:rPr lang="en-US" altLang="ko-KR"/>
              <a:t>·CRM</a:t>
            </a:r>
            <a:r>
              <a:rPr lang="ko-KR" altLang="en-US"/>
              <a:t>이 하나로 묶이는 온</a:t>
            </a:r>
            <a:r>
              <a:rPr lang="en-US" altLang="ko-KR"/>
              <a:t>·</a:t>
            </a:r>
            <a:r>
              <a:rPr lang="ko-KR" altLang="en-US"/>
              <a:t>오프라인 통합 </a:t>
            </a:r>
            <a:r>
              <a:rPr lang="en-US" altLang="ko-KR"/>
              <a:t>CXM </a:t>
            </a:r>
            <a:r>
              <a:rPr lang="ko-KR" altLang="en-US"/>
              <a:t>사업입니다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01 </a:t>
            </a:r>
            <a:r>
              <a:rPr lang="ko-KR" altLang="en-US"/>
              <a:t>제안 개요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rgbClr val="9C9789"/>
                </a:solidFill>
                <a:latin typeface="Noto Sans KR"/>
                <a:ea typeface="Noto Sans KR"/>
                <a:cs typeface="Noto Sans KR"/>
              </a:rPr>
              <a:t>1.3 사업 이해</a:t>
            </a:r>
            <a:endParaRPr lang="en-US" altLang="ko-KR" dirty="0"/>
          </a:p>
        </p:txBody>
      </p:sp>
      <p:sp>
        <p:nvSpPr>
          <p:cNvPr id="105" name="Shape 11"/>
          <p:cNvSpPr/>
          <p:nvPr/>
        </p:nvSpPr>
        <p:spPr>
          <a:xfrm>
            <a:off x="8905875" y="3943051"/>
            <a:ext cx="19050" cy="247650"/>
          </a:xfrm>
          <a:prstGeom prst="rect">
            <a:avLst/>
          </a:prstGeom>
          <a:gradFill rotWithShape="1">
            <a:gsLst>
              <a:gs pos="0">
                <a:srgbClr val="C99B3E">
                  <a:alpha val="0"/>
                </a:srgbClr>
              </a:gs>
              <a:gs pos="100000">
                <a:srgbClr val="C99B3E">
                  <a:alpha val="100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" name="Shape 12"/>
          <p:cNvSpPr/>
          <p:nvPr/>
        </p:nvSpPr>
        <p:spPr>
          <a:xfrm>
            <a:off x="990600" y="2361901"/>
            <a:ext cx="5200650" cy="1581150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9525">
            <a:solidFill>
              <a:srgbClr val="E7E1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Text 13"/>
          <p:cNvSpPr/>
          <p:nvPr/>
        </p:nvSpPr>
        <p:spPr>
          <a:xfrm>
            <a:off x="1209675" y="2504776"/>
            <a:ext cx="5238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63" b="1" dirty="0">
                <a:solidFill>
                  <a:srgbClr val="1C1E26"/>
                </a:solidFill>
                <a:latin typeface="Noto Sans KR"/>
                <a:ea typeface="Noto Sans KR"/>
                <a:cs typeface="Noto Sans KR"/>
              </a:rPr>
              <a:t>이벤트 / 캠페인</a:t>
            </a:r>
            <a:endParaRPr lang="en-US" sz="1763" dirty="0"/>
          </a:p>
        </p:txBody>
      </p:sp>
      <p:sp>
        <p:nvSpPr>
          <p:cNvPr id="108" name="Text 14"/>
          <p:cNvSpPr/>
          <p:nvPr/>
        </p:nvSpPr>
        <p:spPr>
          <a:xfrm>
            <a:off x="1209675" y="2809576"/>
            <a:ext cx="5238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13" dirty="0">
                <a:solidFill>
                  <a:srgbClr val="6E6A60"/>
                </a:solidFill>
                <a:latin typeface="Noto Sans KR"/>
                <a:ea typeface="Noto Sans KR"/>
                <a:cs typeface="Noto Sans KR"/>
              </a:rPr>
              <a:t>불꽃축제 · 응모 · 당첨 · 알림</a:t>
            </a:r>
            <a:endParaRPr lang="en-US" sz="1613" dirty="0"/>
          </a:p>
        </p:txBody>
      </p:sp>
      <p:sp>
        <p:nvSpPr>
          <p:cNvPr id="109" name="Shape 15"/>
          <p:cNvSpPr/>
          <p:nvPr/>
        </p:nvSpPr>
        <p:spPr>
          <a:xfrm>
            <a:off x="1209675" y="3152476"/>
            <a:ext cx="497681" cy="271463"/>
          </a:xfrm>
          <a:prstGeom prst="roundRect">
            <a:avLst>
              <a:gd name="adj" fmla="val 50000"/>
            </a:avLst>
          </a:prstGeom>
          <a:solidFill>
            <a:srgbClr val="FBF9F4"/>
          </a:solidFill>
          <a:ln w="9525">
            <a:solidFill>
              <a:srgbClr val="E2DB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Text 16"/>
          <p:cNvSpPr/>
          <p:nvPr/>
        </p:nvSpPr>
        <p:spPr>
          <a:xfrm>
            <a:off x="1314450" y="3190576"/>
            <a:ext cx="364331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13" b="1" dirty="0">
                <a:solidFill>
                  <a:srgbClr val="7C7460"/>
                </a:solidFill>
                <a:latin typeface="Noto Sans KR"/>
                <a:ea typeface="Noto Sans KR"/>
                <a:cs typeface="Noto Sans KR"/>
              </a:rPr>
              <a:t>알림</a:t>
            </a:r>
            <a:endParaRPr lang="en-US" sz="1313" dirty="0"/>
          </a:p>
        </p:txBody>
      </p:sp>
      <p:sp>
        <p:nvSpPr>
          <p:cNvPr id="111" name="Shape 17"/>
          <p:cNvSpPr/>
          <p:nvPr/>
        </p:nvSpPr>
        <p:spPr>
          <a:xfrm>
            <a:off x="1764506" y="3152476"/>
            <a:ext cx="497681" cy="271463"/>
          </a:xfrm>
          <a:prstGeom prst="roundRect">
            <a:avLst>
              <a:gd name="adj" fmla="val 50000"/>
            </a:avLst>
          </a:prstGeom>
          <a:solidFill>
            <a:srgbClr val="FBF9F4"/>
          </a:solidFill>
          <a:ln w="9525">
            <a:solidFill>
              <a:srgbClr val="E2DB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Text 18"/>
          <p:cNvSpPr/>
          <p:nvPr/>
        </p:nvSpPr>
        <p:spPr>
          <a:xfrm>
            <a:off x="1869281" y="3190576"/>
            <a:ext cx="364331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13" b="1" dirty="0">
                <a:solidFill>
                  <a:srgbClr val="7C7460"/>
                </a:solidFill>
                <a:latin typeface="Noto Sans KR"/>
                <a:ea typeface="Noto Sans KR"/>
                <a:cs typeface="Noto Sans KR"/>
              </a:rPr>
              <a:t>추첨</a:t>
            </a:r>
            <a:endParaRPr lang="en-US" sz="1313" dirty="0"/>
          </a:p>
        </p:txBody>
      </p:sp>
      <p:sp>
        <p:nvSpPr>
          <p:cNvPr id="113" name="Shape 19"/>
          <p:cNvSpPr/>
          <p:nvPr/>
        </p:nvSpPr>
        <p:spPr>
          <a:xfrm>
            <a:off x="1209675" y="3509664"/>
            <a:ext cx="4762500" cy="9525"/>
          </a:xfrm>
          <a:prstGeom prst="rect">
            <a:avLst/>
          </a:prstGeom>
          <a:solidFill>
            <a:srgbClr val="F2EC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" name="Shape 20"/>
          <p:cNvSpPr/>
          <p:nvPr/>
        </p:nvSpPr>
        <p:spPr>
          <a:xfrm>
            <a:off x="1209675" y="3614439"/>
            <a:ext cx="662360" cy="166688"/>
          </a:xfrm>
          <a:prstGeom prst="roundRect">
            <a:avLst>
              <a:gd name="adj" fmla="val 22857"/>
            </a:avLst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" name="Text 21"/>
          <p:cNvSpPr/>
          <p:nvPr/>
        </p:nvSpPr>
        <p:spPr>
          <a:xfrm>
            <a:off x="1266825" y="3623964"/>
            <a:ext cx="61429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연결 산출물</a:t>
            </a:r>
            <a:endParaRPr lang="en-US" sz="938" dirty="0"/>
          </a:p>
        </p:txBody>
      </p:sp>
      <p:sp>
        <p:nvSpPr>
          <p:cNvPr id="116" name="Text 22"/>
          <p:cNvSpPr/>
          <p:nvPr/>
        </p:nvSpPr>
        <p:spPr>
          <a:xfrm>
            <a:off x="1938710" y="3595389"/>
            <a:ext cx="185091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13" dirty="0">
                <a:solidFill>
                  <a:srgbClr val="6E6A60"/>
                </a:solidFill>
                <a:latin typeface="Noto Sans KR"/>
                <a:ea typeface="Noto Sans KR"/>
                <a:cs typeface="Noto Sans KR"/>
              </a:rPr>
              <a:t>이벤트 로그 · 캠페인 규칙</a:t>
            </a:r>
            <a:endParaRPr lang="en-US" sz="1313" dirty="0"/>
          </a:p>
        </p:txBody>
      </p:sp>
      <p:sp>
        <p:nvSpPr>
          <p:cNvPr id="117" name="Shape 23"/>
          <p:cNvSpPr/>
          <p:nvPr/>
        </p:nvSpPr>
        <p:spPr>
          <a:xfrm>
            <a:off x="6315075" y="2361901"/>
            <a:ext cx="5200650" cy="1581150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9525">
            <a:solidFill>
              <a:srgbClr val="E7E1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Text 24"/>
          <p:cNvSpPr/>
          <p:nvPr/>
        </p:nvSpPr>
        <p:spPr>
          <a:xfrm>
            <a:off x="6534150" y="2504776"/>
            <a:ext cx="5238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63" b="1" dirty="0">
                <a:solidFill>
                  <a:srgbClr val="1C1E26"/>
                </a:solidFill>
                <a:latin typeface="Noto Sans KR"/>
                <a:ea typeface="Noto Sans KR"/>
                <a:cs typeface="Noto Sans KR"/>
              </a:rPr>
              <a:t>멤버십 / 등급</a:t>
            </a:r>
            <a:endParaRPr lang="en-US" sz="1763" dirty="0"/>
          </a:p>
        </p:txBody>
      </p:sp>
      <p:sp>
        <p:nvSpPr>
          <p:cNvPr id="119" name="Text 25"/>
          <p:cNvSpPr/>
          <p:nvPr/>
        </p:nvSpPr>
        <p:spPr>
          <a:xfrm>
            <a:off x="6534150" y="2809576"/>
            <a:ext cx="5238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13" dirty="0">
                <a:solidFill>
                  <a:srgbClr val="6E6A60"/>
                </a:solidFill>
                <a:latin typeface="Noto Sans KR"/>
                <a:ea typeface="Noto Sans KR"/>
                <a:cs typeface="Noto Sans KR"/>
              </a:rPr>
              <a:t>가입 · 등급 · 혜택 · 활동점수</a:t>
            </a:r>
            <a:endParaRPr lang="en-US" sz="1613" dirty="0"/>
          </a:p>
        </p:txBody>
      </p:sp>
      <p:sp>
        <p:nvSpPr>
          <p:cNvPr id="120" name="Shape 26"/>
          <p:cNvSpPr/>
          <p:nvPr/>
        </p:nvSpPr>
        <p:spPr>
          <a:xfrm>
            <a:off x="6534150" y="3152476"/>
            <a:ext cx="1588145" cy="271463"/>
          </a:xfrm>
          <a:prstGeom prst="roundRect">
            <a:avLst>
              <a:gd name="adj" fmla="val 50000"/>
            </a:avLst>
          </a:prstGeom>
          <a:solidFill>
            <a:srgbClr val="FBF9F4"/>
          </a:solidFill>
          <a:ln w="9525">
            <a:solidFill>
              <a:srgbClr val="E2DB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Text 27"/>
          <p:cNvSpPr/>
          <p:nvPr/>
        </p:nvSpPr>
        <p:spPr>
          <a:xfrm>
            <a:off x="6638925" y="3190576"/>
            <a:ext cx="1454795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313" b="1" dirty="0">
                <a:solidFill>
                  <a:srgbClr val="7C7460"/>
                </a:solidFill>
                <a:latin typeface="Noto Sans KR"/>
                <a:ea typeface="Noto Sans KR"/>
                <a:cs typeface="Noto Sans KR"/>
              </a:rPr>
              <a:t>활동점수 = 등급 기준</a:t>
            </a:r>
            <a:endParaRPr lang="en-US" sz="1313" dirty="0"/>
          </a:p>
        </p:txBody>
      </p:sp>
      <p:sp>
        <p:nvSpPr>
          <p:cNvPr id="122" name="Shape 28"/>
          <p:cNvSpPr/>
          <p:nvPr/>
        </p:nvSpPr>
        <p:spPr>
          <a:xfrm>
            <a:off x="6534150" y="3509664"/>
            <a:ext cx="4762500" cy="9525"/>
          </a:xfrm>
          <a:prstGeom prst="rect">
            <a:avLst/>
          </a:prstGeom>
          <a:solidFill>
            <a:srgbClr val="F2EC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29"/>
          <p:cNvSpPr/>
          <p:nvPr/>
        </p:nvSpPr>
        <p:spPr>
          <a:xfrm>
            <a:off x="6534150" y="3614439"/>
            <a:ext cx="662360" cy="166688"/>
          </a:xfrm>
          <a:prstGeom prst="roundRect">
            <a:avLst>
              <a:gd name="adj" fmla="val 22857"/>
            </a:avLst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" name="Text 30"/>
          <p:cNvSpPr/>
          <p:nvPr/>
        </p:nvSpPr>
        <p:spPr>
          <a:xfrm>
            <a:off x="6591300" y="3623964"/>
            <a:ext cx="61429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연결 산출물</a:t>
            </a:r>
            <a:endParaRPr lang="en-US" sz="938" dirty="0"/>
          </a:p>
        </p:txBody>
      </p:sp>
      <p:sp>
        <p:nvSpPr>
          <p:cNvPr id="125" name="Text 31"/>
          <p:cNvSpPr/>
          <p:nvPr/>
        </p:nvSpPr>
        <p:spPr>
          <a:xfrm>
            <a:off x="7263185" y="3595389"/>
            <a:ext cx="185091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13" dirty="0">
                <a:solidFill>
                  <a:srgbClr val="6E6A60"/>
                </a:solidFill>
                <a:latin typeface="Noto Sans KR"/>
                <a:ea typeface="Noto Sans KR"/>
                <a:cs typeface="Noto Sans KR"/>
              </a:rPr>
              <a:t>등급 정책 · 활동점수 산식</a:t>
            </a:r>
            <a:endParaRPr lang="en-US" sz="1313" dirty="0"/>
          </a:p>
        </p:txBody>
      </p:sp>
      <p:sp>
        <p:nvSpPr>
          <p:cNvPr id="126" name="Shape 32"/>
          <p:cNvSpPr/>
          <p:nvPr/>
        </p:nvSpPr>
        <p:spPr>
          <a:xfrm>
            <a:off x="11639550" y="2361901"/>
            <a:ext cx="5200650" cy="1581150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9525">
            <a:solidFill>
              <a:srgbClr val="E7E1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7" name="Text 33"/>
          <p:cNvSpPr/>
          <p:nvPr/>
        </p:nvSpPr>
        <p:spPr>
          <a:xfrm>
            <a:off x="11858625" y="2504776"/>
            <a:ext cx="5238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63" b="1" dirty="0">
                <a:solidFill>
                  <a:srgbClr val="1C1E26"/>
                </a:solidFill>
                <a:latin typeface="Noto Sans KR"/>
                <a:ea typeface="Noto Sans KR"/>
                <a:cs typeface="Noto Sans KR"/>
              </a:rPr>
              <a:t>쿠폰 / 활동점수</a:t>
            </a:r>
            <a:endParaRPr lang="en-US" sz="1763" dirty="0"/>
          </a:p>
        </p:txBody>
      </p:sp>
      <p:sp>
        <p:nvSpPr>
          <p:cNvPr id="128" name="Text 34"/>
          <p:cNvSpPr/>
          <p:nvPr/>
        </p:nvSpPr>
        <p:spPr>
          <a:xfrm>
            <a:off x="11858625" y="2809576"/>
            <a:ext cx="5238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13" dirty="0">
                <a:solidFill>
                  <a:srgbClr val="6E6A60"/>
                </a:solidFill>
                <a:latin typeface="Noto Sans KR"/>
                <a:ea typeface="Noto Sans KR"/>
                <a:cs typeface="Noto Sans KR"/>
              </a:rPr>
              <a:t>발급 · 사용 · 적립 · 대사</a:t>
            </a:r>
            <a:endParaRPr lang="en-US" sz="1613" dirty="0"/>
          </a:p>
        </p:txBody>
      </p:sp>
      <p:sp>
        <p:nvSpPr>
          <p:cNvPr id="129" name="Shape 35"/>
          <p:cNvSpPr/>
          <p:nvPr/>
        </p:nvSpPr>
        <p:spPr>
          <a:xfrm>
            <a:off x="11858625" y="3152476"/>
            <a:ext cx="1113532" cy="271463"/>
          </a:xfrm>
          <a:prstGeom prst="roundRect">
            <a:avLst>
              <a:gd name="adj" fmla="val 50000"/>
            </a:avLst>
          </a:prstGeom>
          <a:solidFill>
            <a:srgbClr val="FBF9F4"/>
          </a:solidFill>
          <a:ln w="9525">
            <a:solidFill>
              <a:srgbClr val="E2DB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0" name="Text 36"/>
          <p:cNvSpPr/>
          <p:nvPr/>
        </p:nvSpPr>
        <p:spPr>
          <a:xfrm>
            <a:off x="11963400" y="3190576"/>
            <a:ext cx="980182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313" b="1" dirty="0">
                <a:solidFill>
                  <a:srgbClr val="7C7460"/>
                </a:solidFill>
                <a:latin typeface="Noto Sans KR"/>
                <a:ea typeface="Noto Sans KR"/>
                <a:cs typeface="Noto Sans KR"/>
              </a:rPr>
              <a:t>표준화면 기본</a:t>
            </a:r>
            <a:endParaRPr lang="en-US" sz="1313" dirty="0"/>
          </a:p>
        </p:txBody>
      </p:sp>
      <p:sp>
        <p:nvSpPr>
          <p:cNvPr id="131" name="Shape 37"/>
          <p:cNvSpPr/>
          <p:nvPr/>
        </p:nvSpPr>
        <p:spPr>
          <a:xfrm>
            <a:off x="11858625" y="3509664"/>
            <a:ext cx="4762500" cy="9525"/>
          </a:xfrm>
          <a:prstGeom prst="rect">
            <a:avLst/>
          </a:prstGeom>
          <a:solidFill>
            <a:srgbClr val="F2EC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" name="Shape 38"/>
          <p:cNvSpPr/>
          <p:nvPr/>
        </p:nvSpPr>
        <p:spPr>
          <a:xfrm>
            <a:off x="11858625" y="3614439"/>
            <a:ext cx="662360" cy="166688"/>
          </a:xfrm>
          <a:prstGeom prst="roundRect">
            <a:avLst>
              <a:gd name="adj" fmla="val 22857"/>
            </a:avLst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" name="Text 39"/>
          <p:cNvSpPr/>
          <p:nvPr/>
        </p:nvSpPr>
        <p:spPr>
          <a:xfrm>
            <a:off x="11915775" y="3623964"/>
            <a:ext cx="61429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연결 산출물</a:t>
            </a:r>
            <a:endParaRPr lang="en-US" sz="938" dirty="0"/>
          </a:p>
        </p:txBody>
      </p:sp>
      <p:sp>
        <p:nvSpPr>
          <p:cNvPr id="134" name="Text 40"/>
          <p:cNvSpPr/>
          <p:nvPr/>
        </p:nvSpPr>
        <p:spPr>
          <a:xfrm>
            <a:off x="12587660" y="3595389"/>
            <a:ext cx="153372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13" dirty="0">
                <a:solidFill>
                  <a:srgbClr val="6E6A60"/>
                </a:solidFill>
                <a:latin typeface="Noto Sans KR"/>
                <a:ea typeface="Noto Sans KR"/>
                <a:cs typeface="Noto Sans KR"/>
              </a:rPr>
              <a:t>쿠폰 원장 · 대사 규칙</a:t>
            </a:r>
            <a:endParaRPr lang="en-US" sz="1313" dirty="0"/>
          </a:p>
        </p:txBody>
      </p:sp>
      <p:sp>
        <p:nvSpPr>
          <p:cNvPr id="135" name="Shape 41"/>
          <p:cNvSpPr/>
          <p:nvPr/>
        </p:nvSpPr>
        <p:spPr>
          <a:xfrm>
            <a:off x="990600" y="4190701"/>
            <a:ext cx="15849600" cy="885825"/>
          </a:xfrm>
          <a:prstGeom prst="roundRect">
            <a:avLst>
              <a:gd name="adj" fmla="val 15054"/>
            </a:avLst>
          </a:prstGeom>
          <a:solidFill>
            <a:srgbClr val="12141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" name="Text 43"/>
          <p:cNvSpPr/>
          <p:nvPr/>
        </p:nvSpPr>
        <p:spPr>
          <a:xfrm>
            <a:off x="1314450" y="4362151"/>
            <a:ext cx="120841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A8A293"/>
                </a:solidFill>
                <a:latin typeface="Noto Sans KR"/>
                <a:ea typeface="Noto Sans KR"/>
                <a:cs typeface="Noto Sans KR"/>
              </a:rPr>
              <a:t>중심 운영 엔진</a:t>
            </a:r>
            <a:endParaRPr lang="en-US" sz="1575" dirty="0"/>
          </a:p>
        </p:txBody>
      </p:sp>
      <p:sp>
        <p:nvSpPr>
          <p:cNvPr id="138" name="Text 44"/>
          <p:cNvSpPr/>
          <p:nvPr/>
        </p:nvSpPr>
        <p:spPr>
          <a:xfrm>
            <a:off x="1314450" y="4609801"/>
            <a:ext cx="3254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 Native CXM </a:t>
            </a:r>
            <a:r>
              <a:rPr lang="en-US" sz="2025" b="1" dirty="0">
                <a:solidFill>
                  <a:srgbClr val="E2BE73"/>
                </a:solidFill>
                <a:latin typeface="Noto Sans KR"/>
                <a:ea typeface="Noto Sans KR"/>
                <a:cs typeface="Noto Sans KR"/>
              </a:rPr>
              <a:t>CXM Core</a:t>
            </a:r>
            <a:endParaRPr lang="en-US" sz="2025" dirty="0"/>
          </a:p>
        </p:txBody>
      </p:sp>
      <p:sp>
        <p:nvSpPr>
          <p:cNvPr id="139" name="Text 45"/>
          <p:cNvSpPr/>
          <p:nvPr/>
        </p:nvSpPr>
        <p:spPr>
          <a:xfrm>
            <a:off x="12982411" y="4371676"/>
            <a:ext cx="3533939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C7C1B3"/>
                </a:solidFill>
                <a:latin typeface="Noto Sans KR"/>
                <a:ea typeface="Noto Sans KR"/>
                <a:cs typeface="Noto Sans KR"/>
              </a:rPr>
              <a:t>회원 · 동의 · 이벤트 · 권한 · 감사 · API가 여섯 요소를 하나의 운영 루프로 연결</a:t>
            </a:r>
            <a:endParaRPr lang="en-US" sz="1725" dirty="0"/>
          </a:p>
        </p:txBody>
      </p:sp>
      <p:sp>
        <p:nvSpPr>
          <p:cNvPr id="239" name="Shape 46"/>
          <p:cNvSpPr/>
          <p:nvPr/>
        </p:nvSpPr>
        <p:spPr>
          <a:xfrm>
            <a:off x="8905875" y="5076526"/>
            <a:ext cx="19050" cy="247650"/>
          </a:xfrm>
          <a:prstGeom prst="rect">
            <a:avLst/>
          </a:prstGeom>
          <a:gradFill rotWithShape="1">
            <a:gsLst>
              <a:gs pos="0">
                <a:srgbClr val="C99B3E">
                  <a:alpha val="100000"/>
                </a:srgbClr>
              </a:gs>
              <a:gs pos="100000">
                <a:srgbClr val="C99B3E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" name="Shape 47"/>
          <p:cNvSpPr/>
          <p:nvPr/>
        </p:nvSpPr>
        <p:spPr>
          <a:xfrm>
            <a:off x="990600" y="5324176"/>
            <a:ext cx="5200650" cy="1581150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9525">
            <a:solidFill>
              <a:srgbClr val="E7E1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1" name="Text 48"/>
          <p:cNvSpPr/>
          <p:nvPr/>
        </p:nvSpPr>
        <p:spPr>
          <a:xfrm>
            <a:off x="1209675" y="5467051"/>
            <a:ext cx="5238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63" b="1" dirty="0">
                <a:solidFill>
                  <a:srgbClr val="1C1E26"/>
                </a:solidFill>
                <a:latin typeface="Noto Sans KR"/>
                <a:ea typeface="Noto Sans KR"/>
                <a:cs typeface="Noto Sans KR"/>
              </a:rPr>
              <a:t>매장 / POS</a:t>
            </a:r>
            <a:endParaRPr lang="en-US" sz="1763" dirty="0"/>
          </a:p>
        </p:txBody>
      </p:sp>
      <p:sp>
        <p:nvSpPr>
          <p:cNvPr id="242" name="Text 49"/>
          <p:cNvSpPr/>
          <p:nvPr/>
        </p:nvSpPr>
        <p:spPr>
          <a:xfrm>
            <a:off x="1209675" y="5771851"/>
            <a:ext cx="5238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13" dirty="0">
                <a:solidFill>
                  <a:srgbClr val="6E6A60"/>
                </a:solidFill>
                <a:latin typeface="Noto Sans KR"/>
                <a:ea typeface="Noto Sans KR"/>
                <a:cs typeface="Noto Sans KR"/>
              </a:rPr>
              <a:t>입점 매장 · 결제 연동</a:t>
            </a:r>
            <a:endParaRPr lang="en-US" sz="1613" dirty="0"/>
          </a:p>
        </p:txBody>
      </p:sp>
      <p:sp>
        <p:nvSpPr>
          <p:cNvPr id="243" name="Shape 50"/>
          <p:cNvSpPr/>
          <p:nvPr/>
        </p:nvSpPr>
        <p:spPr>
          <a:xfrm>
            <a:off x="1209675" y="6114751"/>
            <a:ext cx="933004" cy="271463"/>
          </a:xfrm>
          <a:prstGeom prst="roundRect">
            <a:avLst>
              <a:gd name="adj" fmla="val 50000"/>
            </a:avLst>
          </a:prstGeom>
          <a:solidFill>
            <a:srgbClr val="FBF9F4"/>
          </a:solidFill>
          <a:ln w="9525">
            <a:solidFill>
              <a:srgbClr val="E2DB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4" name="Text 51"/>
          <p:cNvSpPr/>
          <p:nvPr/>
        </p:nvSpPr>
        <p:spPr>
          <a:xfrm>
            <a:off x="1314450" y="6152851"/>
            <a:ext cx="799654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13" b="1" dirty="0">
                <a:solidFill>
                  <a:srgbClr val="7C7460"/>
                </a:solidFill>
                <a:latin typeface="Noto Sans KR"/>
                <a:ea typeface="Noto Sans KR"/>
                <a:cs typeface="Noto Sans KR"/>
              </a:rPr>
              <a:t>폴백 4단계</a:t>
            </a:r>
            <a:endParaRPr lang="en-US" sz="1313" dirty="0"/>
          </a:p>
        </p:txBody>
      </p:sp>
      <p:sp>
        <p:nvSpPr>
          <p:cNvPr id="245" name="Shape 52"/>
          <p:cNvSpPr/>
          <p:nvPr/>
        </p:nvSpPr>
        <p:spPr>
          <a:xfrm>
            <a:off x="1209675" y="6471939"/>
            <a:ext cx="4762500" cy="9525"/>
          </a:xfrm>
          <a:prstGeom prst="rect">
            <a:avLst/>
          </a:prstGeom>
          <a:solidFill>
            <a:srgbClr val="F2EC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6" name="Shape 53"/>
          <p:cNvSpPr/>
          <p:nvPr/>
        </p:nvSpPr>
        <p:spPr>
          <a:xfrm>
            <a:off x="1209675" y="6576714"/>
            <a:ext cx="662360" cy="166688"/>
          </a:xfrm>
          <a:prstGeom prst="roundRect">
            <a:avLst>
              <a:gd name="adj" fmla="val 22857"/>
            </a:avLst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7" name="Text 54"/>
          <p:cNvSpPr/>
          <p:nvPr/>
        </p:nvSpPr>
        <p:spPr>
          <a:xfrm>
            <a:off x="1266825" y="6586239"/>
            <a:ext cx="61429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연결 산출물</a:t>
            </a:r>
            <a:endParaRPr lang="en-US" sz="938" dirty="0"/>
          </a:p>
        </p:txBody>
      </p:sp>
      <p:sp>
        <p:nvSpPr>
          <p:cNvPr id="248" name="Text 55"/>
          <p:cNvSpPr/>
          <p:nvPr/>
        </p:nvSpPr>
        <p:spPr>
          <a:xfrm>
            <a:off x="1938710" y="6557664"/>
            <a:ext cx="207953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13" dirty="0">
                <a:solidFill>
                  <a:srgbClr val="6E6A60"/>
                </a:solidFill>
                <a:latin typeface="Noto Sans KR"/>
                <a:ea typeface="Noto Sans KR"/>
                <a:cs typeface="Noto Sans KR"/>
              </a:rPr>
              <a:t>POS 어댑터 · 폴백 시나리오</a:t>
            </a:r>
            <a:endParaRPr lang="en-US" sz="1313" dirty="0"/>
          </a:p>
        </p:txBody>
      </p:sp>
      <p:sp>
        <p:nvSpPr>
          <p:cNvPr id="249" name="Shape 56"/>
          <p:cNvSpPr/>
          <p:nvPr/>
        </p:nvSpPr>
        <p:spPr>
          <a:xfrm>
            <a:off x="6315075" y="5324176"/>
            <a:ext cx="5200650" cy="1581150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9525">
            <a:solidFill>
              <a:srgbClr val="E7E1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0" name="Text 57"/>
          <p:cNvSpPr/>
          <p:nvPr/>
        </p:nvSpPr>
        <p:spPr>
          <a:xfrm>
            <a:off x="6534150" y="5467051"/>
            <a:ext cx="5238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63" b="1" dirty="0">
                <a:solidFill>
                  <a:srgbClr val="1C1E26"/>
                </a:solidFill>
                <a:latin typeface="Noto Sans KR"/>
                <a:ea typeface="Noto Sans KR"/>
                <a:cs typeface="Noto Sans KR"/>
              </a:rPr>
              <a:t>회원 / 인증 / 원장</a:t>
            </a:r>
            <a:endParaRPr lang="en-US" sz="1763" dirty="0"/>
          </a:p>
        </p:txBody>
      </p:sp>
      <p:sp>
        <p:nvSpPr>
          <p:cNvPr id="251" name="Text 58"/>
          <p:cNvSpPr/>
          <p:nvPr/>
        </p:nvSpPr>
        <p:spPr>
          <a:xfrm>
            <a:off x="6534150" y="5771851"/>
            <a:ext cx="5238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13" dirty="0">
                <a:solidFill>
                  <a:srgbClr val="6E6A60"/>
                </a:solidFill>
                <a:latin typeface="Noto Sans KR"/>
                <a:ea typeface="Noto Sans KR"/>
                <a:cs typeface="Noto Sans KR"/>
              </a:rPr>
              <a:t>CI/DI · 동의 · 회원 마스터</a:t>
            </a:r>
            <a:endParaRPr lang="en-US" sz="1613" dirty="0"/>
          </a:p>
        </p:txBody>
      </p:sp>
      <p:sp>
        <p:nvSpPr>
          <p:cNvPr id="252" name="Shape 59"/>
          <p:cNvSpPr/>
          <p:nvPr/>
        </p:nvSpPr>
        <p:spPr>
          <a:xfrm>
            <a:off x="6534150" y="6114751"/>
            <a:ext cx="699418" cy="271463"/>
          </a:xfrm>
          <a:prstGeom prst="roundRect">
            <a:avLst>
              <a:gd name="adj" fmla="val 50000"/>
            </a:avLst>
          </a:prstGeom>
          <a:solidFill>
            <a:srgbClr val="FBF9F4"/>
          </a:solidFill>
          <a:ln w="9525">
            <a:solidFill>
              <a:srgbClr val="E2DB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3" name="Text 60"/>
          <p:cNvSpPr/>
          <p:nvPr/>
        </p:nvSpPr>
        <p:spPr>
          <a:xfrm>
            <a:off x="6638925" y="6152851"/>
            <a:ext cx="566068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13" b="1" dirty="0">
                <a:solidFill>
                  <a:srgbClr val="7C7460"/>
                </a:solidFill>
                <a:latin typeface="Noto Sans KR"/>
                <a:ea typeface="Noto Sans KR"/>
                <a:cs typeface="Noto Sans KR"/>
              </a:rPr>
              <a:t>CI 대사</a:t>
            </a:r>
            <a:endParaRPr lang="en-US" sz="1313" dirty="0"/>
          </a:p>
        </p:txBody>
      </p:sp>
      <p:sp>
        <p:nvSpPr>
          <p:cNvPr id="254" name="Shape 61"/>
          <p:cNvSpPr/>
          <p:nvPr/>
        </p:nvSpPr>
        <p:spPr>
          <a:xfrm>
            <a:off x="6534150" y="6471939"/>
            <a:ext cx="4762500" cy="9525"/>
          </a:xfrm>
          <a:prstGeom prst="rect">
            <a:avLst/>
          </a:prstGeom>
          <a:solidFill>
            <a:srgbClr val="F2EC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5" name="Shape 62"/>
          <p:cNvSpPr/>
          <p:nvPr/>
        </p:nvSpPr>
        <p:spPr>
          <a:xfrm>
            <a:off x="6534150" y="6576714"/>
            <a:ext cx="662360" cy="166688"/>
          </a:xfrm>
          <a:prstGeom prst="roundRect">
            <a:avLst>
              <a:gd name="adj" fmla="val 22857"/>
            </a:avLst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6" name="Text 63"/>
          <p:cNvSpPr/>
          <p:nvPr/>
        </p:nvSpPr>
        <p:spPr>
          <a:xfrm>
            <a:off x="6591300" y="6586239"/>
            <a:ext cx="61429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연결 산출물</a:t>
            </a:r>
            <a:endParaRPr lang="en-US" sz="938" dirty="0"/>
          </a:p>
        </p:txBody>
      </p:sp>
      <p:sp>
        <p:nvSpPr>
          <p:cNvPr id="257" name="Text 64"/>
          <p:cNvSpPr/>
          <p:nvPr/>
        </p:nvSpPr>
        <p:spPr>
          <a:xfrm>
            <a:off x="7263185" y="6557664"/>
            <a:ext cx="171708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13" dirty="0">
                <a:solidFill>
                  <a:srgbClr val="6E6A60"/>
                </a:solidFill>
                <a:latin typeface="Noto Sans KR"/>
                <a:ea typeface="Noto Sans KR"/>
                <a:cs typeface="Noto Sans KR"/>
              </a:rPr>
              <a:t>회원 마스터 · CI 대사표</a:t>
            </a:r>
            <a:endParaRPr lang="en-US" sz="1313" dirty="0"/>
          </a:p>
        </p:txBody>
      </p:sp>
      <p:sp>
        <p:nvSpPr>
          <p:cNvPr id="258" name="Shape 65"/>
          <p:cNvSpPr/>
          <p:nvPr/>
        </p:nvSpPr>
        <p:spPr>
          <a:xfrm>
            <a:off x="11639550" y="5324176"/>
            <a:ext cx="5200650" cy="1581150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9525">
            <a:solidFill>
              <a:srgbClr val="E7E1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9" name="Text 66"/>
          <p:cNvSpPr/>
          <p:nvPr/>
        </p:nvSpPr>
        <p:spPr>
          <a:xfrm>
            <a:off x="11858625" y="5467051"/>
            <a:ext cx="5238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63" b="1" dirty="0">
                <a:solidFill>
                  <a:srgbClr val="1C1E26"/>
                </a:solidFill>
                <a:latin typeface="Noto Sans KR"/>
                <a:ea typeface="Noto Sans KR"/>
                <a:cs typeface="Noto Sans KR"/>
              </a:rPr>
              <a:t>CRM / Insight</a:t>
            </a:r>
            <a:endParaRPr lang="en-US" sz="1763" dirty="0"/>
          </a:p>
        </p:txBody>
      </p:sp>
      <p:sp>
        <p:nvSpPr>
          <p:cNvPr id="260" name="Text 67"/>
          <p:cNvSpPr/>
          <p:nvPr/>
        </p:nvSpPr>
        <p:spPr>
          <a:xfrm>
            <a:off x="11858625" y="5757564"/>
            <a:ext cx="5238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13" dirty="0">
                <a:solidFill>
                  <a:srgbClr val="6E6A60"/>
                </a:solidFill>
                <a:latin typeface="Noto Sans KR"/>
                <a:ea typeface="Noto Sans KR"/>
                <a:cs typeface="Noto Sans KR"/>
              </a:rPr>
              <a:t>Customer 360 · 운영 리포트</a:t>
            </a:r>
            <a:endParaRPr lang="en-US" sz="1613" dirty="0"/>
          </a:p>
        </p:txBody>
      </p:sp>
      <p:sp>
        <p:nvSpPr>
          <p:cNvPr id="261" name="Shape 68"/>
          <p:cNvSpPr/>
          <p:nvPr/>
        </p:nvSpPr>
        <p:spPr>
          <a:xfrm>
            <a:off x="11858625" y="6100464"/>
            <a:ext cx="969466" cy="271463"/>
          </a:xfrm>
          <a:prstGeom prst="roundRect">
            <a:avLst>
              <a:gd name="adj" fmla="val 50000"/>
            </a:avLst>
          </a:prstGeom>
          <a:solidFill>
            <a:srgbClr val="FBF9F4"/>
          </a:solidFill>
          <a:ln w="9525">
            <a:solidFill>
              <a:srgbClr val="E2DB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2" name="Text 69"/>
          <p:cNvSpPr/>
          <p:nvPr/>
        </p:nvSpPr>
        <p:spPr>
          <a:xfrm>
            <a:off x="11963400" y="6138564"/>
            <a:ext cx="836116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313" b="1" dirty="0">
                <a:solidFill>
                  <a:srgbClr val="7C7460"/>
                </a:solidFill>
                <a:latin typeface="Noto Sans KR"/>
                <a:ea typeface="Noto Sans KR"/>
                <a:cs typeface="Noto Sans KR"/>
              </a:rPr>
              <a:t>운영 리포트</a:t>
            </a:r>
            <a:endParaRPr lang="en-US" sz="1313" dirty="0"/>
          </a:p>
        </p:txBody>
      </p:sp>
      <p:sp>
        <p:nvSpPr>
          <p:cNvPr id="263" name="Shape 70"/>
          <p:cNvSpPr/>
          <p:nvPr/>
        </p:nvSpPr>
        <p:spPr>
          <a:xfrm>
            <a:off x="11858625" y="6457651"/>
            <a:ext cx="4762500" cy="9525"/>
          </a:xfrm>
          <a:prstGeom prst="rect">
            <a:avLst/>
          </a:prstGeom>
          <a:solidFill>
            <a:srgbClr val="F2EC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4" name="Shape 71"/>
          <p:cNvSpPr/>
          <p:nvPr/>
        </p:nvSpPr>
        <p:spPr>
          <a:xfrm>
            <a:off x="11858625" y="6562426"/>
            <a:ext cx="662360" cy="166688"/>
          </a:xfrm>
          <a:prstGeom prst="roundRect">
            <a:avLst>
              <a:gd name="adj" fmla="val 22857"/>
            </a:avLst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5" name="Text 72"/>
          <p:cNvSpPr/>
          <p:nvPr/>
        </p:nvSpPr>
        <p:spPr>
          <a:xfrm>
            <a:off x="11915775" y="6571951"/>
            <a:ext cx="61429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연결 산출물</a:t>
            </a:r>
            <a:endParaRPr lang="en-US" sz="938" dirty="0"/>
          </a:p>
        </p:txBody>
      </p:sp>
      <p:sp>
        <p:nvSpPr>
          <p:cNvPr id="266" name="Text 73"/>
          <p:cNvSpPr/>
          <p:nvPr/>
        </p:nvSpPr>
        <p:spPr>
          <a:xfrm>
            <a:off x="12587660" y="6543376"/>
            <a:ext cx="215852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13" dirty="0">
                <a:solidFill>
                  <a:srgbClr val="6E6A60"/>
                </a:solidFill>
                <a:latin typeface="Noto Sans KR"/>
                <a:ea typeface="Noto Sans KR"/>
                <a:cs typeface="Noto Sans KR"/>
              </a:rPr>
              <a:t>Customer 360 · 리포트 정의</a:t>
            </a:r>
            <a:endParaRPr lang="en-US" sz="1313" dirty="0"/>
          </a:p>
        </p:txBody>
      </p:sp>
      <p:sp>
        <p:nvSpPr>
          <p:cNvPr id="267" name="Shape 74"/>
          <p:cNvSpPr/>
          <p:nvPr/>
        </p:nvSpPr>
        <p:spPr>
          <a:xfrm>
            <a:off x="990600" y="7864673"/>
            <a:ext cx="15849600" cy="528638"/>
          </a:xfrm>
          <a:prstGeom prst="roundRect">
            <a:avLst>
              <a:gd name="adj" fmla="val 21622"/>
            </a:avLst>
          </a:prstGeom>
          <a:gradFill rotWithShape="1">
            <a:gsLst>
              <a:gs pos="0">
                <a:srgbClr val="E4C57F">
                  <a:alpha val="10000"/>
                </a:srgbClr>
              </a:gs>
              <a:gs pos="100000">
                <a:srgbClr val="FFFFFF">
                  <a:alpha val="100000"/>
                </a:srgbClr>
              </a:gs>
            </a:gsLst>
            <a:lin ang="36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8" name="Shape 75"/>
          <p:cNvSpPr/>
          <p:nvPr/>
        </p:nvSpPr>
        <p:spPr>
          <a:xfrm>
            <a:off x="990600" y="8383785"/>
            <a:ext cx="15849600" cy="9525"/>
          </a:xfrm>
          <a:prstGeom prst="rect">
            <a:avLst/>
          </a:prstGeom>
          <a:solidFill>
            <a:srgbClr val="E7E1D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9" name="Shape 76"/>
          <p:cNvSpPr/>
          <p:nvPr/>
        </p:nvSpPr>
        <p:spPr>
          <a:xfrm>
            <a:off x="990600" y="7864673"/>
            <a:ext cx="15849600" cy="9525"/>
          </a:xfrm>
          <a:prstGeom prst="rect">
            <a:avLst/>
          </a:prstGeom>
          <a:solidFill>
            <a:srgbClr val="E7E1D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0" name="Shape 77"/>
          <p:cNvSpPr/>
          <p:nvPr/>
        </p:nvSpPr>
        <p:spPr>
          <a:xfrm>
            <a:off x="990600" y="7864673"/>
            <a:ext cx="38100" cy="528638"/>
          </a:xfrm>
          <a:prstGeom prst="rect">
            <a:avLst/>
          </a:prstGeom>
          <a:solidFill>
            <a:srgbClr val="C99B3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1" name="Shape 78"/>
          <p:cNvSpPr/>
          <p:nvPr/>
        </p:nvSpPr>
        <p:spPr>
          <a:xfrm>
            <a:off x="16830675" y="7864673"/>
            <a:ext cx="9525" cy="528638"/>
          </a:xfrm>
          <a:prstGeom prst="rect">
            <a:avLst/>
          </a:prstGeom>
          <a:solidFill>
            <a:srgbClr val="E7E1D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2" name="Text 79"/>
          <p:cNvSpPr/>
          <p:nvPr/>
        </p:nvSpPr>
        <p:spPr>
          <a:xfrm>
            <a:off x="1238250" y="8012310"/>
            <a:ext cx="3461095" cy="2714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38" b="1" dirty="0">
                <a:solidFill>
                  <a:srgbClr val="A8792B"/>
                </a:solidFill>
                <a:latin typeface="Noto Sans KR"/>
                <a:ea typeface="Noto Sans KR"/>
                <a:cs typeface="Noto Sans KR"/>
              </a:rPr>
              <a:t>리스크 5종 → AI Native CXM 대응 5종</a:t>
            </a:r>
            <a:endParaRPr lang="en-US" sz="1538" dirty="0"/>
          </a:p>
        </p:txBody>
      </p:sp>
      <p:sp>
        <p:nvSpPr>
          <p:cNvPr id="273" name="Shape 80"/>
          <p:cNvSpPr/>
          <p:nvPr/>
        </p:nvSpPr>
        <p:spPr>
          <a:xfrm>
            <a:off x="4518050" y="8033741"/>
            <a:ext cx="9525" cy="190500"/>
          </a:xfrm>
          <a:prstGeom prst="rect">
            <a:avLst/>
          </a:prstGeom>
          <a:solidFill>
            <a:srgbClr val="E0D6C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4" name="Shape 81"/>
          <p:cNvSpPr/>
          <p:nvPr/>
        </p:nvSpPr>
        <p:spPr>
          <a:xfrm>
            <a:off x="4660925" y="7988498"/>
            <a:ext cx="1010171" cy="2809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B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5" name="Text 82"/>
          <p:cNvSpPr/>
          <p:nvPr/>
        </p:nvSpPr>
        <p:spPr>
          <a:xfrm>
            <a:off x="4775225" y="8026598"/>
            <a:ext cx="85777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7C7460"/>
                </a:solidFill>
                <a:latin typeface="Noto Sans KR"/>
                <a:ea typeface="Noto Sans KR"/>
                <a:cs typeface="Noto Sans KR"/>
              </a:rPr>
              <a:t>사용자 경험</a:t>
            </a:r>
            <a:endParaRPr lang="en-US" sz="1350" dirty="0"/>
          </a:p>
        </p:txBody>
      </p:sp>
      <p:sp>
        <p:nvSpPr>
          <p:cNvPr id="276" name="Shape 83"/>
          <p:cNvSpPr/>
          <p:nvPr/>
        </p:nvSpPr>
        <p:spPr>
          <a:xfrm>
            <a:off x="5737771" y="7988498"/>
            <a:ext cx="862013" cy="2809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B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7" name="Text 84"/>
          <p:cNvSpPr/>
          <p:nvPr/>
        </p:nvSpPr>
        <p:spPr>
          <a:xfrm>
            <a:off x="5852071" y="8026598"/>
            <a:ext cx="70961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7C7460"/>
                </a:solidFill>
                <a:latin typeface="Noto Sans KR"/>
                <a:ea typeface="Noto Sans KR"/>
                <a:cs typeface="Noto Sans KR"/>
              </a:rPr>
              <a:t>외부 연동</a:t>
            </a:r>
            <a:endParaRPr lang="en-US" sz="1350" dirty="0"/>
          </a:p>
        </p:txBody>
      </p:sp>
      <p:sp>
        <p:nvSpPr>
          <p:cNvPr id="278" name="Shape 85"/>
          <p:cNvSpPr/>
          <p:nvPr/>
        </p:nvSpPr>
        <p:spPr>
          <a:xfrm>
            <a:off x="6666458" y="7988498"/>
            <a:ext cx="1158404" cy="2809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B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9" name="Text 86"/>
          <p:cNvSpPr/>
          <p:nvPr/>
        </p:nvSpPr>
        <p:spPr>
          <a:xfrm>
            <a:off x="6780758" y="8026598"/>
            <a:ext cx="100600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7C7460"/>
                </a:solidFill>
                <a:latin typeface="Noto Sans KR"/>
                <a:ea typeface="Noto Sans KR"/>
                <a:cs typeface="Noto Sans KR"/>
              </a:rPr>
              <a:t>데이터 정합성</a:t>
            </a:r>
            <a:endParaRPr lang="en-US" sz="1350" dirty="0"/>
          </a:p>
        </p:txBody>
      </p:sp>
      <p:sp>
        <p:nvSpPr>
          <p:cNvPr id="280" name="Shape 87"/>
          <p:cNvSpPr/>
          <p:nvPr/>
        </p:nvSpPr>
        <p:spPr>
          <a:xfrm>
            <a:off x="7891537" y="7988498"/>
            <a:ext cx="862013" cy="2809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B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1" name="Text 88"/>
          <p:cNvSpPr/>
          <p:nvPr/>
        </p:nvSpPr>
        <p:spPr>
          <a:xfrm>
            <a:off x="8005837" y="8026598"/>
            <a:ext cx="70961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7C7460"/>
                </a:solidFill>
                <a:latin typeface="Noto Sans KR"/>
                <a:ea typeface="Noto Sans KR"/>
                <a:cs typeface="Noto Sans KR"/>
              </a:rPr>
              <a:t>운영 통제</a:t>
            </a:r>
            <a:endParaRPr lang="en-US" sz="1350" dirty="0"/>
          </a:p>
        </p:txBody>
      </p:sp>
      <p:sp>
        <p:nvSpPr>
          <p:cNvPr id="282" name="Shape 89"/>
          <p:cNvSpPr/>
          <p:nvPr/>
        </p:nvSpPr>
        <p:spPr>
          <a:xfrm>
            <a:off x="8820224" y="7988498"/>
            <a:ext cx="673150" cy="2809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B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3" name="Text 90"/>
          <p:cNvSpPr/>
          <p:nvPr/>
        </p:nvSpPr>
        <p:spPr>
          <a:xfrm>
            <a:off x="8934524" y="8026598"/>
            <a:ext cx="5207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7C7460"/>
                </a:solidFill>
                <a:latin typeface="Noto Sans KR"/>
                <a:ea typeface="Noto Sans KR"/>
                <a:cs typeface="Noto Sans KR"/>
              </a:rPr>
              <a:t>확장성</a:t>
            </a:r>
            <a:endParaRPr lang="en-US" sz="1350" dirty="0"/>
          </a:p>
        </p:txBody>
      </p:sp>
      <p:sp>
        <p:nvSpPr>
          <p:cNvPr id="284" name="Text 91"/>
          <p:cNvSpPr/>
          <p:nvPr/>
        </p:nvSpPr>
        <p:spPr>
          <a:xfrm>
            <a:off x="12787461" y="8014691"/>
            <a:ext cx="421703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792B"/>
                </a:solidFill>
                <a:latin typeface="Noto Sans KR"/>
                <a:ea typeface="Noto Sans KR"/>
                <a:cs typeface="Noto Sans KR"/>
              </a:rPr>
              <a:t>6요소 단일 운영 루프 → Phase 재설계 범위 최소화</a:t>
            </a:r>
            <a:endParaRPr lang="en-US" sz="1500" dirty="0"/>
          </a:p>
        </p:txBody>
      </p:sp>
      <p:sp>
        <p:nvSpPr>
          <p:cNvPr id="285" name="Shape 92"/>
          <p:cNvSpPr/>
          <p:nvPr/>
        </p:nvSpPr>
        <p:spPr>
          <a:xfrm>
            <a:off x="990600" y="8526660"/>
            <a:ext cx="3078435" cy="2058293"/>
          </a:xfrm>
          <a:prstGeom prst="roundRect">
            <a:avLst>
              <a:gd name="adj" fmla="val 5553"/>
            </a:avLst>
          </a:prstGeom>
          <a:solidFill>
            <a:srgbClr val="FFFFFF"/>
          </a:solidFill>
          <a:ln w="9525">
            <a:solidFill>
              <a:srgbClr val="E7E1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6" name="Text 93"/>
          <p:cNvSpPr/>
          <p:nvPr/>
        </p:nvSpPr>
        <p:spPr>
          <a:xfrm>
            <a:off x="1152525" y="8660010"/>
            <a:ext cx="3030044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C1E26"/>
                </a:solidFill>
                <a:latin typeface="Noto Sans KR"/>
                <a:ea typeface="Noto Sans KR"/>
                <a:cs typeface="Noto Sans KR"/>
              </a:rPr>
              <a:t>사용자 경험</a:t>
            </a:r>
            <a:endParaRPr lang="en-US" sz="1650" dirty="0"/>
          </a:p>
        </p:txBody>
      </p:sp>
      <p:sp>
        <p:nvSpPr>
          <p:cNvPr id="287" name="Text 94"/>
          <p:cNvSpPr/>
          <p:nvPr/>
        </p:nvSpPr>
        <p:spPr>
          <a:xfrm>
            <a:off x="1152525" y="8979098"/>
            <a:ext cx="2837223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313" dirty="0">
                <a:solidFill>
                  <a:srgbClr val="8E897A"/>
                </a:solidFill>
                <a:latin typeface="Noto Sans KR"/>
                <a:ea typeface="Noto Sans KR"/>
                <a:cs typeface="Noto Sans KR"/>
              </a:rPr>
              <a:t>이벤트 이후 사용 지속성 약화</a:t>
            </a:r>
            <a:endParaRPr lang="en-US" sz="1313" dirty="0"/>
          </a:p>
        </p:txBody>
      </p:sp>
      <p:sp>
        <p:nvSpPr>
          <p:cNvPr id="288" name="Shape 95"/>
          <p:cNvSpPr/>
          <p:nvPr/>
        </p:nvSpPr>
        <p:spPr>
          <a:xfrm>
            <a:off x="1152525" y="9624863"/>
            <a:ext cx="1237580" cy="9525"/>
          </a:xfrm>
          <a:prstGeom prst="rect">
            <a:avLst/>
          </a:prstGeom>
          <a:solidFill>
            <a:srgbClr val="EFEA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9" name="Text 96"/>
          <p:cNvSpPr/>
          <p:nvPr/>
        </p:nvSpPr>
        <p:spPr>
          <a:xfrm>
            <a:off x="2447255" y="9534375"/>
            <a:ext cx="2412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13" dirty="0">
                <a:solidFill>
                  <a:srgbClr val="CBAE6E"/>
                </a:solidFill>
                <a:latin typeface="Noto Sans KR"/>
                <a:ea typeface="Noto Sans KR"/>
                <a:cs typeface="Noto Sans KR"/>
              </a:rPr>
              <a:t>▼</a:t>
            </a:r>
            <a:endParaRPr lang="en-US" sz="1313" dirty="0"/>
          </a:p>
        </p:txBody>
      </p:sp>
      <p:sp>
        <p:nvSpPr>
          <p:cNvPr id="290" name="Shape 97"/>
          <p:cNvSpPr/>
          <p:nvPr/>
        </p:nvSpPr>
        <p:spPr>
          <a:xfrm>
            <a:off x="2669456" y="9624863"/>
            <a:ext cx="1237655" cy="9525"/>
          </a:xfrm>
          <a:prstGeom prst="rect">
            <a:avLst/>
          </a:prstGeom>
          <a:solidFill>
            <a:srgbClr val="EFEA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1" name="Shape 98"/>
          <p:cNvSpPr/>
          <p:nvPr/>
        </p:nvSpPr>
        <p:spPr>
          <a:xfrm>
            <a:off x="1152525" y="9801075"/>
            <a:ext cx="2754585" cy="650528"/>
          </a:xfrm>
          <a:prstGeom prst="roundRect">
            <a:avLst>
              <a:gd name="adj" fmla="val 13178"/>
            </a:avLst>
          </a:prstGeom>
          <a:solidFill>
            <a:srgbClr val="E4C57F">
              <a:alpha val="10000"/>
            </a:srgbClr>
          </a:solidFill>
          <a:ln w="9525">
            <a:solidFill>
              <a:srgbClr val="EBDD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2" name="Text 99"/>
          <p:cNvSpPr/>
          <p:nvPr/>
        </p:nvSpPr>
        <p:spPr>
          <a:xfrm>
            <a:off x="1266825" y="9896325"/>
            <a:ext cx="2608623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313" b="1" dirty="0">
                <a:solidFill>
                  <a:srgbClr val="A8792B"/>
                </a:solidFill>
                <a:latin typeface="Noto Sans KR"/>
                <a:ea typeface="Noto Sans KR"/>
                <a:cs typeface="Noto Sans KR"/>
              </a:rPr>
              <a:t>✓ </a:t>
            </a:r>
            <a:r>
              <a:rPr lang="en-US" sz="1313" b="1" dirty="0">
                <a:solidFill>
                  <a:srgbClr val="33312B"/>
                </a:solidFill>
                <a:highlight>
                  <a:srgbClr val="FCF9F2"/>
                </a:highlight>
                <a:latin typeface="Noto Sans KR"/>
                <a:ea typeface="Noto Sans KR"/>
                <a:cs typeface="Noto Sans KR"/>
              </a:rPr>
              <a:t>챌린지·쿠폰·활동점수·매장 혜택 여정화</a:t>
            </a:r>
            <a:endParaRPr lang="en-US" sz="1313" dirty="0"/>
          </a:p>
        </p:txBody>
      </p:sp>
      <p:sp>
        <p:nvSpPr>
          <p:cNvPr id="293" name="Shape 100"/>
          <p:cNvSpPr/>
          <p:nvPr/>
        </p:nvSpPr>
        <p:spPr>
          <a:xfrm>
            <a:off x="4183335" y="8526660"/>
            <a:ext cx="3078510" cy="2058293"/>
          </a:xfrm>
          <a:prstGeom prst="roundRect">
            <a:avLst>
              <a:gd name="adj" fmla="val 5553"/>
            </a:avLst>
          </a:prstGeom>
          <a:solidFill>
            <a:srgbClr val="FFFFFF"/>
          </a:solidFill>
          <a:ln w="9525">
            <a:solidFill>
              <a:srgbClr val="E7E1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4" name="Text 101"/>
          <p:cNvSpPr/>
          <p:nvPr/>
        </p:nvSpPr>
        <p:spPr>
          <a:xfrm>
            <a:off x="4345260" y="8660010"/>
            <a:ext cx="3030126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C1E26"/>
                </a:solidFill>
                <a:latin typeface="Noto Sans KR"/>
                <a:ea typeface="Noto Sans KR"/>
                <a:cs typeface="Noto Sans KR"/>
              </a:rPr>
              <a:t>외부 연동</a:t>
            </a:r>
            <a:endParaRPr lang="en-US" sz="1650" dirty="0"/>
          </a:p>
        </p:txBody>
      </p:sp>
      <p:sp>
        <p:nvSpPr>
          <p:cNvPr id="295" name="Text 102"/>
          <p:cNvSpPr/>
          <p:nvPr/>
        </p:nvSpPr>
        <p:spPr>
          <a:xfrm>
            <a:off x="4345260" y="8979098"/>
            <a:ext cx="283730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313" dirty="0">
                <a:solidFill>
                  <a:srgbClr val="8E897A"/>
                </a:solidFill>
                <a:latin typeface="Noto Sans KR"/>
                <a:ea typeface="Noto Sans KR"/>
                <a:cs typeface="Noto Sans KR"/>
              </a:rPr>
              <a:t>POS·쿠폰·본인인증·회원원장 지연</a:t>
            </a:r>
            <a:endParaRPr lang="en-US" sz="1313" dirty="0"/>
          </a:p>
        </p:txBody>
      </p:sp>
      <p:sp>
        <p:nvSpPr>
          <p:cNvPr id="296" name="Shape 103"/>
          <p:cNvSpPr/>
          <p:nvPr/>
        </p:nvSpPr>
        <p:spPr>
          <a:xfrm>
            <a:off x="4345260" y="9624863"/>
            <a:ext cx="1237655" cy="9525"/>
          </a:xfrm>
          <a:prstGeom prst="rect">
            <a:avLst/>
          </a:prstGeom>
          <a:solidFill>
            <a:srgbClr val="EFEA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7" name="Text 104"/>
          <p:cNvSpPr/>
          <p:nvPr/>
        </p:nvSpPr>
        <p:spPr>
          <a:xfrm>
            <a:off x="5640065" y="9534375"/>
            <a:ext cx="2412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13" dirty="0">
                <a:solidFill>
                  <a:srgbClr val="CBAE6E"/>
                </a:solidFill>
                <a:latin typeface="Noto Sans KR"/>
                <a:ea typeface="Noto Sans KR"/>
                <a:cs typeface="Noto Sans KR"/>
              </a:rPr>
              <a:t>▼</a:t>
            </a:r>
            <a:endParaRPr lang="en-US" sz="1313" dirty="0"/>
          </a:p>
        </p:txBody>
      </p:sp>
      <p:sp>
        <p:nvSpPr>
          <p:cNvPr id="298" name="Shape 105"/>
          <p:cNvSpPr/>
          <p:nvPr/>
        </p:nvSpPr>
        <p:spPr>
          <a:xfrm>
            <a:off x="5862265" y="9624863"/>
            <a:ext cx="1237655" cy="9525"/>
          </a:xfrm>
          <a:prstGeom prst="rect">
            <a:avLst/>
          </a:prstGeom>
          <a:solidFill>
            <a:srgbClr val="EFEA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9" name="Shape 106"/>
          <p:cNvSpPr/>
          <p:nvPr/>
        </p:nvSpPr>
        <p:spPr>
          <a:xfrm>
            <a:off x="4345260" y="9801075"/>
            <a:ext cx="2754660" cy="650528"/>
          </a:xfrm>
          <a:prstGeom prst="roundRect">
            <a:avLst>
              <a:gd name="adj" fmla="val 13178"/>
            </a:avLst>
          </a:prstGeom>
          <a:solidFill>
            <a:srgbClr val="E4C57F">
              <a:alpha val="10000"/>
            </a:srgbClr>
          </a:solidFill>
          <a:ln w="9525">
            <a:solidFill>
              <a:srgbClr val="EBDD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0" name="Text 107"/>
          <p:cNvSpPr/>
          <p:nvPr/>
        </p:nvSpPr>
        <p:spPr>
          <a:xfrm>
            <a:off x="4459560" y="9896325"/>
            <a:ext cx="26087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313" b="1" dirty="0">
                <a:solidFill>
                  <a:srgbClr val="A8792B"/>
                </a:solidFill>
                <a:latin typeface="Noto Sans KR"/>
                <a:ea typeface="Noto Sans KR"/>
                <a:cs typeface="Noto Sans KR"/>
              </a:rPr>
              <a:t>✓ </a:t>
            </a:r>
            <a:r>
              <a:rPr lang="en-US" sz="1313" b="1" dirty="0">
                <a:solidFill>
                  <a:srgbClr val="33312B"/>
                </a:solidFill>
                <a:highlight>
                  <a:srgbClr val="FCF9F2"/>
                </a:highlight>
                <a:latin typeface="Noto Sans KR"/>
                <a:ea typeface="Noto Sans KR"/>
                <a:cs typeface="Noto Sans KR"/>
              </a:rPr>
              <a:t>Integration Gateway · 모의 연동 · Plan B · RACI</a:t>
            </a:r>
            <a:endParaRPr lang="en-US" sz="1313" dirty="0"/>
          </a:p>
        </p:txBody>
      </p:sp>
      <p:sp>
        <p:nvSpPr>
          <p:cNvPr id="301" name="Shape 108"/>
          <p:cNvSpPr/>
          <p:nvPr/>
        </p:nvSpPr>
        <p:spPr>
          <a:xfrm>
            <a:off x="7376145" y="8526660"/>
            <a:ext cx="3078435" cy="2058293"/>
          </a:xfrm>
          <a:prstGeom prst="roundRect">
            <a:avLst>
              <a:gd name="adj" fmla="val 5553"/>
            </a:avLst>
          </a:prstGeom>
          <a:solidFill>
            <a:srgbClr val="FFFFFF"/>
          </a:solidFill>
          <a:ln w="9525">
            <a:solidFill>
              <a:srgbClr val="E7E1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2" name="Text 109"/>
          <p:cNvSpPr/>
          <p:nvPr/>
        </p:nvSpPr>
        <p:spPr>
          <a:xfrm>
            <a:off x="7538070" y="8660010"/>
            <a:ext cx="3030044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C1E26"/>
                </a:solidFill>
                <a:latin typeface="Noto Sans KR"/>
                <a:ea typeface="Noto Sans KR"/>
                <a:cs typeface="Noto Sans KR"/>
              </a:rPr>
              <a:t>데이터 정합성</a:t>
            </a:r>
            <a:endParaRPr lang="en-US" sz="1650" dirty="0"/>
          </a:p>
        </p:txBody>
      </p:sp>
      <p:sp>
        <p:nvSpPr>
          <p:cNvPr id="303" name="Text 110"/>
          <p:cNvSpPr/>
          <p:nvPr/>
        </p:nvSpPr>
        <p:spPr>
          <a:xfrm>
            <a:off x="7538070" y="8979098"/>
            <a:ext cx="2837223" cy="73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313" dirty="0">
                <a:solidFill>
                  <a:srgbClr val="8E897A"/>
                </a:solidFill>
                <a:latin typeface="Noto Sans KR"/>
                <a:ea typeface="Noto Sans KR"/>
                <a:cs typeface="Noto Sans KR"/>
              </a:rPr>
              <a:t>누락 · 중복 · 대사 불일치</a:t>
            </a:r>
            <a:endParaRPr lang="en-US" sz="1313" dirty="0"/>
          </a:p>
        </p:txBody>
      </p:sp>
      <p:sp>
        <p:nvSpPr>
          <p:cNvPr id="304" name="Shape 111"/>
          <p:cNvSpPr/>
          <p:nvPr/>
        </p:nvSpPr>
        <p:spPr>
          <a:xfrm>
            <a:off x="7538070" y="9854877"/>
            <a:ext cx="1237580" cy="9525"/>
          </a:xfrm>
          <a:prstGeom prst="rect">
            <a:avLst/>
          </a:prstGeom>
          <a:solidFill>
            <a:srgbClr val="EFEA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5" name="Text 112"/>
          <p:cNvSpPr/>
          <p:nvPr/>
        </p:nvSpPr>
        <p:spPr>
          <a:xfrm>
            <a:off x="8832800" y="9764389"/>
            <a:ext cx="2412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13" dirty="0">
                <a:solidFill>
                  <a:srgbClr val="CBAE6E"/>
                </a:solidFill>
                <a:latin typeface="Noto Sans KR"/>
                <a:ea typeface="Noto Sans KR"/>
                <a:cs typeface="Noto Sans KR"/>
              </a:rPr>
              <a:t>▼</a:t>
            </a:r>
            <a:endParaRPr lang="en-US" sz="1313" dirty="0"/>
          </a:p>
        </p:txBody>
      </p:sp>
      <p:sp>
        <p:nvSpPr>
          <p:cNvPr id="306" name="Shape 113"/>
          <p:cNvSpPr/>
          <p:nvPr/>
        </p:nvSpPr>
        <p:spPr>
          <a:xfrm>
            <a:off x="9055001" y="9854877"/>
            <a:ext cx="1237655" cy="9525"/>
          </a:xfrm>
          <a:prstGeom prst="rect">
            <a:avLst/>
          </a:prstGeom>
          <a:solidFill>
            <a:srgbClr val="EFEA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7" name="Shape 114"/>
          <p:cNvSpPr/>
          <p:nvPr/>
        </p:nvSpPr>
        <p:spPr>
          <a:xfrm>
            <a:off x="7538070" y="10031089"/>
            <a:ext cx="2754585" cy="420514"/>
          </a:xfrm>
          <a:prstGeom prst="roundRect">
            <a:avLst>
              <a:gd name="adj" fmla="val 20386"/>
            </a:avLst>
          </a:prstGeom>
          <a:solidFill>
            <a:srgbClr val="E4C57F">
              <a:alpha val="10000"/>
            </a:srgbClr>
          </a:solidFill>
          <a:ln w="9525">
            <a:solidFill>
              <a:srgbClr val="EBDD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8" name="Text 115"/>
          <p:cNvSpPr/>
          <p:nvPr/>
        </p:nvSpPr>
        <p:spPr>
          <a:xfrm>
            <a:off x="7652370" y="10126339"/>
            <a:ext cx="2608623" cy="26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313" b="1" dirty="0">
                <a:solidFill>
                  <a:srgbClr val="A8792B"/>
                </a:solidFill>
                <a:latin typeface="Noto Sans KR"/>
                <a:ea typeface="Noto Sans KR"/>
                <a:cs typeface="Noto Sans KR"/>
              </a:rPr>
              <a:t>✓ </a:t>
            </a:r>
            <a:r>
              <a:rPr lang="en-US" sz="1313" b="1" dirty="0">
                <a:solidFill>
                  <a:srgbClr val="33312B"/>
                </a:solidFill>
                <a:highlight>
                  <a:srgbClr val="FCF9F2"/>
                </a:highlight>
                <a:latin typeface="Noto Sans KR"/>
                <a:ea typeface="Noto Sans KR"/>
                <a:cs typeface="Noto Sans KR"/>
              </a:rPr>
              <a:t>이벤트 멱등키 · 재처리 큐 · 대사 배치</a:t>
            </a:r>
            <a:endParaRPr lang="en-US" sz="1313" dirty="0"/>
          </a:p>
        </p:txBody>
      </p:sp>
      <p:sp>
        <p:nvSpPr>
          <p:cNvPr id="309" name="Shape 116"/>
          <p:cNvSpPr/>
          <p:nvPr/>
        </p:nvSpPr>
        <p:spPr>
          <a:xfrm>
            <a:off x="10568880" y="8526660"/>
            <a:ext cx="3078510" cy="2058293"/>
          </a:xfrm>
          <a:prstGeom prst="roundRect">
            <a:avLst>
              <a:gd name="adj" fmla="val 5553"/>
            </a:avLst>
          </a:prstGeom>
          <a:solidFill>
            <a:srgbClr val="FFFFFF"/>
          </a:solidFill>
          <a:ln w="9525">
            <a:solidFill>
              <a:srgbClr val="E7E1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0" name="Text 117"/>
          <p:cNvSpPr/>
          <p:nvPr/>
        </p:nvSpPr>
        <p:spPr>
          <a:xfrm>
            <a:off x="10730805" y="8660010"/>
            <a:ext cx="3030126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C1E26"/>
                </a:solidFill>
                <a:latin typeface="Noto Sans KR"/>
                <a:ea typeface="Noto Sans KR"/>
                <a:cs typeface="Noto Sans KR"/>
              </a:rPr>
              <a:t>운영 통제</a:t>
            </a:r>
            <a:endParaRPr lang="en-US" sz="1650" dirty="0"/>
          </a:p>
        </p:txBody>
      </p:sp>
      <p:sp>
        <p:nvSpPr>
          <p:cNvPr id="311" name="Text 118"/>
          <p:cNvSpPr/>
          <p:nvPr/>
        </p:nvSpPr>
        <p:spPr>
          <a:xfrm>
            <a:off x="10730805" y="8979098"/>
            <a:ext cx="283730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313" dirty="0">
                <a:solidFill>
                  <a:srgbClr val="8E897A"/>
                </a:solidFill>
                <a:latin typeface="Noto Sans KR"/>
                <a:ea typeface="Noto Sans KR"/>
                <a:cs typeface="Noto Sans KR"/>
              </a:rPr>
              <a:t>CS · 개인정보 · 수동 보정 리스크</a:t>
            </a:r>
            <a:endParaRPr lang="en-US" sz="1313" dirty="0"/>
          </a:p>
        </p:txBody>
      </p:sp>
      <p:sp>
        <p:nvSpPr>
          <p:cNvPr id="312" name="Shape 119"/>
          <p:cNvSpPr/>
          <p:nvPr/>
        </p:nvSpPr>
        <p:spPr>
          <a:xfrm>
            <a:off x="10730805" y="9624863"/>
            <a:ext cx="1237655" cy="9525"/>
          </a:xfrm>
          <a:prstGeom prst="rect">
            <a:avLst/>
          </a:prstGeom>
          <a:solidFill>
            <a:srgbClr val="EFEA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3" name="Text 120"/>
          <p:cNvSpPr/>
          <p:nvPr/>
        </p:nvSpPr>
        <p:spPr>
          <a:xfrm>
            <a:off x="12025610" y="9534375"/>
            <a:ext cx="2412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13" dirty="0">
                <a:solidFill>
                  <a:srgbClr val="CBAE6E"/>
                </a:solidFill>
                <a:latin typeface="Noto Sans KR"/>
                <a:ea typeface="Noto Sans KR"/>
                <a:cs typeface="Noto Sans KR"/>
              </a:rPr>
              <a:t>▼</a:t>
            </a:r>
            <a:endParaRPr lang="en-US" sz="1313" dirty="0"/>
          </a:p>
        </p:txBody>
      </p:sp>
      <p:sp>
        <p:nvSpPr>
          <p:cNvPr id="314" name="Shape 121"/>
          <p:cNvSpPr/>
          <p:nvPr/>
        </p:nvSpPr>
        <p:spPr>
          <a:xfrm>
            <a:off x="12247811" y="9624863"/>
            <a:ext cx="1237655" cy="9525"/>
          </a:xfrm>
          <a:prstGeom prst="rect">
            <a:avLst/>
          </a:prstGeom>
          <a:solidFill>
            <a:srgbClr val="EFEA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5" name="Shape 122"/>
          <p:cNvSpPr/>
          <p:nvPr/>
        </p:nvSpPr>
        <p:spPr>
          <a:xfrm>
            <a:off x="10730805" y="9801075"/>
            <a:ext cx="2754660" cy="650528"/>
          </a:xfrm>
          <a:prstGeom prst="roundRect">
            <a:avLst>
              <a:gd name="adj" fmla="val 13178"/>
            </a:avLst>
          </a:prstGeom>
          <a:solidFill>
            <a:srgbClr val="E4C57F">
              <a:alpha val="10000"/>
            </a:srgbClr>
          </a:solidFill>
          <a:ln w="9525">
            <a:solidFill>
              <a:srgbClr val="EBDD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6" name="Text 123"/>
          <p:cNvSpPr/>
          <p:nvPr/>
        </p:nvSpPr>
        <p:spPr>
          <a:xfrm>
            <a:off x="10845105" y="9896325"/>
            <a:ext cx="26087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313" b="1" dirty="0">
                <a:solidFill>
                  <a:srgbClr val="A8792B"/>
                </a:solidFill>
                <a:latin typeface="Noto Sans KR"/>
                <a:ea typeface="Noto Sans KR"/>
                <a:cs typeface="Noto Sans KR"/>
              </a:rPr>
              <a:t>✓ </a:t>
            </a:r>
            <a:r>
              <a:rPr lang="en-US" sz="1313" b="1" dirty="0">
                <a:solidFill>
                  <a:srgbClr val="33312B"/>
                </a:solidFill>
                <a:highlight>
                  <a:srgbClr val="FCF9F2"/>
                </a:highlight>
                <a:latin typeface="Noto Sans KR"/>
                <a:ea typeface="Noto Sans KR"/>
                <a:cs typeface="Noto Sans KR"/>
              </a:rPr>
              <a:t>Admin 권한 · 마스킹 · 감사로그 · 승인</a:t>
            </a:r>
            <a:endParaRPr lang="en-US" sz="1313" dirty="0"/>
          </a:p>
        </p:txBody>
      </p:sp>
      <p:sp>
        <p:nvSpPr>
          <p:cNvPr id="317" name="Shape 124"/>
          <p:cNvSpPr/>
          <p:nvPr/>
        </p:nvSpPr>
        <p:spPr>
          <a:xfrm>
            <a:off x="13761690" y="8526660"/>
            <a:ext cx="3078510" cy="2058293"/>
          </a:xfrm>
          <a:prstGeom prst="roundRect">
            <a:avLst>
              <a:gd name="adj" fmla="val 5553"/>
            </a:avLst>
          </a:prstGeom>
          <a:gradFill rotWithShape="1">
            <a:gsLst>
              <a:gs pos="0">
                <a:srgbClr val="E4C57F">
                  <a:alpha val="10000"/>
                </a:srgbClr>
              </a:gs>
              <a:gs pos="100000">
                <a:srgbClr val="FFFFFF">
                  <a:alpha val="100000"/>
                </a:srgbClr>
              </a:gs>
            </a:gsLst>
            <a:lin ang="3600000" scaled="0"/>
          </a:gradFill>
          <a:ln w="14288">
            <a:solidFill>
              <a:srgbClr val="C99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8" name="Text 125"/>
          <p:cNvSpPr/>
          <p:nvPr/>
        </p:nvSpPr>
        <p:spPr>
          <a:xfrm>
            <a:off x="13928378" y="8664773"/>
            <a:ext cx="3019648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A8792B"/>
                </a:solidFill>
                <a:latin typeface="Noto Sans KR"/>
                <a:ea typeface="Noto Sans KR"/>
                <a:cs typeface="Noto Sans KR"/>
              </a:rPr>
              <a:t>확장성</a:t>
            </a:r>
            <a:endParaRPr lang="en-US" sz="1650" dirty="0"/>
          </a:p>
        </p:txBody>
      </p:sp>
      <p:sp>
        <p:nvSpPr>
          <p:cNvPr id="319" name="Text 126"/>
          <p:cNvSpPr/>
          <p:nvPr/>
        </p:nvSpPr>
        <p:spPr>
          <a:xfrm>
            <a:off x="13928378" y="8983860"/>
            <a:ext cx="3019648" cy="26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313" dirty="0">
                <a:solidFill>
                  <a:srgbClr val="8E897A"/>
                </a:solidFill>
                <a:latin typeface="Noto Sans KR"/>
                <a:ea typeface="Noto Sans KR"/>
                <a:cs typeface="Noto Sans KR"/>
              </a:rPr>
              <a:t>Phase 3~4 재설계 범위 확대 가능성</a:t>
            </a:r>
            <a:endParaRPr lang="en-US" sz="1313" dirty="0"/>
          </a:p>
        </p:txBody>
      </p:sp>
      <p:sp>
        <p:nvSpPr>
          <p:cNvPr id="320" name="Shape 127"/>
          <p:cNvSpPr/>
          <p:nvPr/>
        </p:nvSpPr>
        <p:spPr>
          <a:xfrm>
            <a:off x="13928378" y="9390086"/>
            <a:ext cx="1232892" cy="9525"/>
          </a:xfrm>
          <a:prstGeom prst="rect">
            <a:avLst/>
          </a:prstGeom>
          <a:solidFill>
            <a:srgbClr val="EBDD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1" name="Text 128"/>
          <p:cNvSpPr/>
          <p:nvPr/>
        </p:nvSpPr>
        <p:spPr>
          <a:xfrm>
            <a:off x="15218420" y="9299599"/>
            <a:ext cx="2412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13" dirty="0">
                <a:solidFill>
                  <a:srgbClr val="CBAE6E"/>
                </a:solidFill>
                <a:latin typeface="Noto Sans KR"/>
                <a:ea typeface="Noto Sans KR"/>
                <a:cs typeface="Noto Sans KR"/>
              </a:rPr>
              <a:t>▼</a:t>
            </a:r>
            <a:endParaRPr lang="en-US" sz="1313" dirty="0"/>
          </a:p>
        </p:txBody>
      </p:sp>
      <p:sp>
        <p:nvSpPr>
          <p:cNvPr id="322" name="Shape 129"/>
          <p:cNvSpPr/>
          <p:nvPr/>
        </p:nvSpPr>
        <p:spPr>
          <a:xfrm>
            <a:off x="15440620" y="9390086"/>
            <a:ext cx="1232892" cy="9525"/>
          </a:xfrm>
          <a:prstGeom prst="rect">
            <a:avLst/>
          </a:prstGeom>
          <a:solidFill>
            <a:srgbClr val="EBDD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3" name="Shape 130"/>
          <p:cNvSpPr/>
          <p:nvPr/>
        </p:nvSpPr>
        <p:spPr>
          <a:xfrm>
            <a:off x="13928378" y="9566299"/>
            <a:ext cx="2745135" cy="880542"/>
          </a:xfrm>
          <a:prstGeom prst="roundRect">
            <a:avLst>
              <a:gd name="adj" fmla="val 9735"/>
            </a:avLst>
          </a:prstGeom>
          <a:solidFill>
            <a:srgbClr val="E4C57F">
              <a:alpha val="16000"/>
            </a:srgbClr>
          </a:solidFill>
          <a:ln w="9525">
            <a:solidFill>
              <a:srgbClr val="E0C9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4" name="Text 131"/>
          <p:cNvSpPr/>
          <p:nvPr/>
        </p:nvSpPr>
        <p:spPr>
          <a:xfrm>
            <a:off x="14042678" y="9661549"/>
            <a:ext cx="2598889" cy="728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313" b="1" dirty="0">
                <a:solidFill>
                  <a:srgbClr val="A8792B"/>
                </a:solidFill>
                <a:latin typeface="Noto Sans KR"/>
                <a:ea typeface="Noto Sans KR"/>
                <a:cs typeface="Noto Sans KR"/>
              </a:rPr>
              <a:t>✓ </a:t>
            </a:r>
            <a:r>
              <a:rPr lang="en-US" sz="1313" b="1" dirty="0">
                <a:solidFill>
                  <a:srgbClr val="33312B"/>
                </a:solidFill>
                <a:highlight>
                  <a:srgbClr val="FBF6EB"/>
                </a:highlight>
                <a:latin typeface="Noto Sans KR"/>
                <a:ea typeface="Noto Sans KR"/>
                <a:cs typeface="Noto Sans KR"/>
              </a:rPr>
              <a:t>모듈형 CMS·Campaign·CRM·Commerce 확장</a:t>
            </a:r>
            <a:endParaRPr lang="en-US" sz="1313" dirty="0"/>
          </a:p>
        </p:txBody>
      </p:sp>
    </p:spTree>
    <p:extLst>
      <p:ext uri="{BB962C8B-B14F-4D97-AF65-F5344CB8AC3E}">
        <p14:creationId xmlns:p14="http://schemas.microsoft.com/office/powerpoint/2010/main" val="1528337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일반 앱 개발과의 구조적 차이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같은 ‘앱’처럼 보여도</a:t>
            </a:r>
            <a:r>
              <a:rPr lang="en-US" altLang="ko-KR"/>
              <a:t>, </a:t>
            </a:r>
            <a:r>
              <a:rPr lang="ko-KR" altLang="en-US"/>
              <a:t>성공 기준이 화면이 아니라 운영 구조에 있습니다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01 </a:t>
            </a:r>
            <a:r>
              <a:rPr lang="ko-KR" altLang="en-US"/>
              <a:t>제안 개요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rgbClr val="9C9789"/>
                </a:solidFill>
                <a:latin typeface="Noto Sans KR"/>
                <a:ea typeface="Noto Sans KR"/>
                <a:cs typeface="Noto Sans KR"/>
              </a:rPr>
              <a:t>1.4 </a:t>
            </a:r>
            <a:r>
              <a:rPr lang="ko-KR" altLang="en-US">
                <a:solidFill>
                  <a:srgbClr val="9C9789"/>
                </a:solidFill>
                <a:latin typeface="Noto Sans KR"/>
                <a:ea typeface="Noto Sans KR"/>
                <a:cs typeface="Noto Sans KR"/>
              </a:rPr>
              <a:t>사업 이해 </a:t>
            </a:r>
            <a:r>
              <a:rPr lang="en-US" altLang="ko-KR">
                <a:solidFill>
                  <a:srgbClr val="9C9789"/>
                </a:solidFill>
                <a:latin typeface="Noto Sans KR"/>
                <a:ea typeface="Noto Sans KR"/>
                <a:cs typeface="Noto Sans KR"/>
              </a:rPr>
              <a:t>· </a:t>
            </a:r>
            <a:r>
              <a:rPr lang="ko-KR" altLang="en-US">
                <a:solidFill>
                  <a:srgbClr val="9C9789"/>
                </a:solidFill>
                <a:latin typeface="Noto Sans KR"/>
                <a:ea typeface="Noto Sans KR"/>
                <a:cs typeface="Noto Sans KR"/>
              </a:rPr>
              <a:t>앱 </a:t>
            </a:r>
            <a:r>
              <a:rPr lang="en-US" altLang="ko-KR">
                <a:solidFill>
                  <a:srgbClr val="9C9789"/>
                </a:solidFill>
                <a:latin typeface="Noto Sans KR"/>
                <a:ea typeface="Noto Sans KR"/>
                <a:cs typeface="Noto Sans KR"/>
              </a:rPr>
              <a:t>vs </a:t>
            </a:r>
            <a:r>
              <a:rPr lang="ko-KR" altLang="en-US">
                <a:solidFill>
                  <a:srgbClr val="9C9789"/>
                </a:solidFill>
                <a:latin typeface="Noto Sans KR"/>
                <a:ea typeface="Noto Sans KR"/>
                <a:cs typeface="Noto Sans KR"/>
              </a:rPr>
              <a:t>플랫폼</a:t>
            </a:r>
            <a:endParaRPr lang="en-US" altLang="ko-KR" dirty="0"/>
          </a:p>
        </p:txBody>
      </p:sp>
      <p:sp>
        <p:nvSpPr>
          <p:cNvPr id="136" name="Shape 11"/>
          <p:cNvSpPr/>
          <p:nvPr/>
        </p:nvSpPr>
        <p:spPr>
          <a:xfrm>
            <a:off x="990600" y="2433712"/>
            <a:ext cx="741759" cy="261937"/>
          </a:xfrm>
          <a:prstGeom prst="roundRect">
            <a:avLst>
              <a:gd name="adj" fmla="val 50000"/>
            </a:avLst>
          </a:prstGeom>
          <a:ln w="9525">
            <a:solidFill>
              <a:srgbClr val="DCD5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0" name="Text 12"/>
          <p:cNvSpPr/>
          <p:nvPr/>
        </p:nvSpPr>
        <p:spPr>
          <a:xfrm>
            <a:off x="1095375" y="2462287"/>
            <a:ext cx="60638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13" b="1" kern="0" spc="105" dirty="0">
                <a:solidFill>
                  <a:srgbClr val="9A9588"/>
                </a:solidFill>
                <a:latin typeface="Noto Sans KR"/>
                <a:ea typeface="Noto Sans KR"/>
                <a:cs typeface="Noto Sans KR"/>
              </a:rPr>
              <a:t>앱 관점</a:t>
            </a:r>
            <a:endParaRPr lang="en-US" sz="1313" dirty="0"/>
          </a:p>
        </p:txBody>
      </p:sp>
      <p:sp>
        <p:nvSpPr>
          <p:cNvPr id="141" name="Text 13"/>
          <p:cNvSpPr/>
          <p:nvPr/>
        </p:nvSpPr>
        <p:spPr>
          <a:xfrm>
            <a:off x="1827609" y="2421806"/>
            <a:ext cx="199031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38" b="1" dirty="0">
                <a:solidFill>
                  <a:srgbClr val="8E897A"/>
                </a:solidFill>
                <a:latin typeface="Noto Sans KR"/>
                <a:ea typeface="Noto Sans KR"/>
                <a:cs typeface="Noto Sans KR"/>
              </a:rPr>
              <a:t>단일 앱 중심 멤버십</a:t>
            </a:r>
            <a:endParaRPr lang="en-US" sz="1838" dirty="0"/>
          </a:p>
        </p:txBody>
      </p:sp>
      <p:sp>
        <p:nvSpPr>
          <p:cNvPr id="142" name="Shape 14"/>
          <p:cNvSpPr/>
          <p:nvPr/>
        </p:nvSpPr>
        <p:spPr>
          <a:xfrm>
            <a:off x="8266658" y="2433712"/>
            <a:ext cx="1056829" cy="261937"/>
          </a:xfrm>
          <a:prstGeom prst="roundRect">
            <a:avLst>
              <a:gd name="adj" fmla="val 50000"/>
            </a:avLst>
          </a:prstGeom>
          <a:solidFill>
            <a:srgbClr val="E4C57F">
              <a:alpha val="14000"/>
            </a:srgbClr>
          </a:solidFill>
          <a:ln w="9525">
            <a:solidFill>
              <a:srgbClr val="D9C08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3" name="Text 15"/>
          <p:cNvSpPr/>
          <p:nvPr/>
        </p:nvSpPr>
        <p:spPr>
          <a:xfrm>
            <a:off x="8371433" y="2462287"/>
            <a:ext cx="9529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13" b="1" kern="0" spc="105" dirty="0">
                <a:solidFill>
                  <a:srgbClr val="A8792B"/>
                </a:solidFill>
                <a:latin typeface="Noto Sans KR"/>
                <a:ea typeface="Noto Sans KR"/>
                <a:cs typeface="Noto Sans KR"/>
              </a:rPr>
              <a:t>플랫폼 관점</a:t>
            </a:r>
            <a:endParaRPr lang="en-US" sz="1313" dirty="0"/>
          </a:p>
        </p:txBody>
      </p:sp>
      <p:sp>
        <p:nvSpPr>
          <p:cNvPr id="144" name="Text 16"/>
          <p:cNvSpPr/>
          <p:nvPr/>
        </p:nvSpPr>
        <p:spPr>
          <a:xfrm>
            <a:off x="9418737" y="2421806"/>
            <a:ext cx="29487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38" b="1" dirty="0">
                <a:solidFill>
                  <a:srgbClr val="A8792B"/>
                </a:solidFill>
                <a:latin typeface="Noto Sans KR"/>
                <a:ea typeface="Noto Sans KR"/>
                <a:cs typeface="Noto Sans KR"/>
              </a:rPr>
              <a:t>LIFEPLUS 63 CXM 플랫폼</a:t>
            </a:r>
            <a:endParaRPr lang="en-US" sz="1838" dirty="0"/>
          </a:p>
        </p:txBody>
      </p:sp>
      <p:sp>
        <p:nvSpPr>
          <p:cNvPr id="145" name="Shape 17"/>
          <p:cNvSpPr/>
          <p:nvPr/>
        </p:nvSpPr>
        <p:spPr>
          <a:xfrm>
            <a:off x="990600" y="2831381"/>
            <a:ext cx="6495008" cy="1920999"/>
          </a:xfrm>
          <a:prstGeom prst="roundRect">
            <a:avLst>
              <a:gd name="adj" fmla="val 5950"/>
            </a:avLst>
          </a:prstGeom>
          <a:solidFill>
            <a:srgbClr val="FBF9F4"/>
          </a:solidFill>
          <a:ln w="9525">
            <a:solidFill>
              <a:srgbClr val="E7E1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6" name="Text 18"/>
          <p:cNvSpPr/>
          <p:nvPr/>
        </p:nvSpPr>
        <p:spPr>
          <a:xfrm>
            <a:off x="1209675" y="3358455"/>
            <a:ext cx="666254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7C7868"/>
                </a:solidFill>
                <a:latin typeface="Noto Sans KR"/>
                <a:ea typeface="Noto Sans KR"/>
                <a:cs typeface="Noto Sans KR"/>
              </a:rPr>
              <a:t>화면 중심</a:t>
            </a:r>
            <a:endParaRPr lang="en-US" sz="1725" dirty="0"/>
          </a:p>
        </p:txBody>
      </p:sp>
      <p:sp>
        <p:nvSpPr>
          <p:cNvPr id="147" name="Text 19"/>
          <p:cNvSpPr/>
          <p:nvPr/>
        </p:nvSpPr>
        <p:spPr>
          <a:xfrm>
            <a:off x="1209675" y="3658493"/>
            <a:ext cx="6662544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38" dirty="0">
                <a:solidFill>
                  <a:srgbClr val="9A9588"/>
                </a:solidFill>
                <a:latin typeface="Noto Sans KR"/>
                <a:ea typeface="Noto Sans KR"/>
                <a:cs typeface="Noto Sans KR"/>
              </a:rPr>
              <a:t>UI 완성을 목표로 함</a:t>
            </a:r>
            <a:endParaRPr lang="en-US" sz="1538" dirty="0"/>
          </a:p>
        </p:txBody>
      </p:sp>
      <p:sp>
        <p:nvSpPr>
          <p:cNvPr id="148" name="Shape 20"/>
          <p:cNvSpPr/>
          <p:nvPr/>
        </p:nvSpPr>
        <p:spPr>
          <a:xfrm>
            <a:off x="1209675" y="3977580"/>
            <a:ext cx="777999" cy="247650"/>
          </a:xfrm>
          <a:prstGeom prst="roundRect">
            <a:avLst>
              <a:gd name="adj" fmla="val 50000"/>
            </a:avLst>
          </a:prstGeom>
          <a:ln w="9525">
            <a:solidFill>
              <a:srgbClr val="DCD5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9" name="Text 21"/>
          <p:cNvSpPr/>
          <p:nvPr/>
        </p:nvSpPr>
        <p:spPr>
          <a:xfrm>
            <a:off x="1304925" y="4006155"/>
            <a:ext cx="66529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38" dirty="0">
                <a:solidFill>
                  <a:srgbClr val="9A9588"/>
                </a:solidFill>
                <a:latin typeface="Noto Sans KR"/>
                <a:ea typeface="Noto Sans KR"/>
                <a:cs typeface="Noto Sans KR"/>
              </a:rPr>
              <a:t>정적 화면</a:t>
            </a:r>
            <a:endParaRPr lang="en-US" sz="1238" dirty="0"/>
          </a:p>
        </p:txBody>
      </p:sp>
      <p:sp>
        <p:nvSpPr>
          <p:cNvPr id="150" name="Shape 22"/>
          <p:cNvSpPr/>
          <p:nvPr/>
        </p:nvSpPr>
        <p:spPr>
          <a:xfrm>
            <a:off x="2044824" y="3977580"/>
            <a:ext cx="598363" cy="247650"/>
          </a:xfrm>
          <a:prstGeom prst="roundRect">
            <a:avLst>
              <a:gd name="adj" fmla="val 50000"/>
            </a:avLst>
          </a:prstGeom>
          <a:ln w="9525">
            <a:solidFill>
              <a:srgbClr val="DCD5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1" name="Text 23"/>
          <p:cNvSpPr/>
          <p:nvPr/>
        </p:nvSpPr>
        <p:spPr>
          <a:xfrm>
            <a:off x="2140074" y="4006155"/>
            <a:ext cx="467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38" dirty="0">
                <a:solidFill>
                  <a:srgbClr val="9A9588"/>
                </a:solidFill>
                <a:latin typeface="Noto Sans KR"/>
                <a:ea typeface="Noto Sans KR"/>
                <a:cs typeface="Noto Sans KR"/>
              </a:rPr>
              <a:t>단방향</a:t>
            </a:r>
            <a:endParaRPr lang="en-US" sz="1238" dirty="0"/>
          </a:p>
        </p:txBody>
      </p:sp>
      <p:sp>
        <p:nvSpPr>
          <p:cNvPr id="152" name="Shape 24"/>
          <p:cNvSpPr/>
          <p:nvPr/>
        </p:nvSpPr>
        <p:spPr>
          <a:xfrm>
            <a:off x="7742783" y="3545681"/>
            <a:ext cx="266700" cy="266700"/>
          </a:xfrm>
          <a:prstGeom prst="ellipse">
            <a:avLst/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" name="Text 25"/>
          <p:cNvSpPr/>
          <p:nvPr/>
        </p:nvSpPr>
        <p:spPr>
          <a:xfrm>
            <a:off x="7704683" y="3545681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  <a:endParaRPr lang="en-US" sz="1500" dirty="0"/>
          </a:p>
        </p:txBody>
      </p:sp>
      <p:sp>
        <p:nvSpPr>
          <p:cNvPr id="154" name="Text 26"/>
          <p:cNvSpPr/>
          <p:nvPr/>
        </p:nvSpPr>
        <p:spPr>
          <a:xfrm>
            <a:off x="7570961" y="3869531"/>
            <a:ext cx="610270" cy="206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25" b="1" dirty="0">
                <a:solidFill>
                  <a:srgbClr val="A8792B"/>
                </a:solidFill>
                <a:latin typeface="Noto Sans KR"/>
                <a:ea typeface="Noto Sans KR"/>
                <a:cs typeface="Noto Sans KR"/>
              </a:rPr>
              <a:t>성공 기준</a:t>
            </a:r>
            <a:endParaRPr lang="en-US" sz="1125" dirty="0"/>
          </a:p>
        </p:txBody>
      </p:sp>
      <p:sp>
        <p:nvSpPr>
          <p:cNvPr id="155" name="Shape 27"/>
          <p:cNvSpPr/>
          <p:nvPr/>
        </p:nvSpPr>
        <p:spPr>
          <a:xfrm>
            <a:off x="8266658" y="2831381"/>
            <a:ext cx="8573467" cy="1920999"/>
          </a:xfrm>
          <a:prstGeom prst="roundRect">
            <a:avLst>
              <a:gd name="adj" fmla="val 5950"/>
            </a:avLst>
          </a:prstGeom>
          <a:gradFill rotWithShape="1">
            <a:gsLst>
              <a:gs pos="0">
                <a:srgbClr val="E4C57F">
                  <a:alpha val="12000"/>
                </a:srgbClr>
              </a:gs>
              <a:gs pos="100000">
                <a:srgbClr val="FFFFFF">
                  <a:alpha val="100000"/>
                </a:srgbClr>
              </a:gs>
            </a:gsLst>
            <a:lin ang="3600000" scaled="0"/>
          </a:gradFill>
          <a:ln w="14288">
            <a:solidFill>
              <a:srgbClr val="D9C08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6" name="Text 28"/>
          <p:cNvSpPr/>
          <p:nvPr/>
        </p:nvSpPr>
        <p:spPr>
          <a:xfrm>
            <a:off x="8509546" y="3491805"/>
            <a:ext cx="889646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C1E26"/>
                </a:solidFill>
                <a:latin typeface="Noto Sans KR"/>
                <a:ea typeface="Noto Sans KR"/>
                <a:cs typeface="Noto Sans KR"/>
              </a:rPr>
              <a:t>방문·결제·혜택·CRM 데이터 루프</a:t>
            </a:r>
            <a:endParaRPr lang="en-US" sz="1725" dirty="0"/>
          </a:p>
        </p:txBody>
      </p:sp>
      <p:sp>
        <p:nvSpPr>
          <p:cNvPr id="157" name="Shape 29"/>
          <p:cNvSpPr/>
          <p:nvPr/>
        </p:nvSpPr>
        <p:spPr>
          <a:xfrm>
            <a:off x="8509546" y="3848993"/>
            <a:ext cx="462186" cy="242888"/>
          </a:xfrm>
          <a:prstGeom prst="roundRect">
            <a:avLst>
              <a:gd name="adj" fmla="val 50000"/>
            </a:avLst>
          </a:prstGeom>
          <a:solidFill>
            <a:srgbClr val="E4C57F">
              <a:alpha val="16000"/>
            </a:srgbClr>
          </a:solidFill>
          <a:ln w="9525">
            <a:solidFill>
              <a:srgbClr val="D9C08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8" name="Text 30"/>
          <p:cNvSpPr/>
          <p:nvPr/>
        </p:nvSpPr>
        <p:spPr>
          <a:xfrm>
            <a:off x="8604796" y="3877568"/>
            <a:ext cx="31790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90672A"/>
                </a:solidFill>
                <a:latin typeface="Noto Sans KR"/>
                <a:ea typeface="Noto Sans KR"/>
                <a:cs typeface="Noto Sans KR"/>
              </a:rPr>
              <a:t>방문</a:t>
            </a:r>
            <a:endParaRPr lang="en-US" sz="1238" dirty="0"/>
          </a:p>
        </p:txBody>
      </p:sp>
      <p:sp>
        <p:nvSpPr>
          <p:cNvPr id="159" name="Shape 31"/>
          <p:cNvSpPr/>
          <p:nvPr/>
        </p:nvSpPr>
        <p:spPr>
          <a:xfrm>
            <a:off x="9028881" y="3848993"/>
            <a:ext cx="462186" cy="242888"/>
          </a:xfrm>
          <a:prstGeom prst="roundRect">
            <a:avLst>
              <a:gd name="adj" fmla="val 50000"/>
            </a:avLst>
          </a:prstGeom>
          <a:solidFill>
            <a:srgbClr val="E4C57F">
              <a:alpha val="16000"/>
            </a:srgbClr>
          </a:solidFill>
          <a:ln w="9525">
            <a:solidFill>
              <a:srgbClr val="D9C08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0" name="Text 32"/>
          <p:cNvSpPr/>
          <p:nvPr/>
        </p:nvSpPr>
        <p:spPr>
          <a:xfrm>
            <a:off x="9124131" y="3877568"/>
            <a:ext cx="31790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90672A"/>
                </a:solidFill>
                <a:latin typeface="Noto Sans KR"/>
                <a:ea typeface="Noto Sans KR"/>
                <a:cs typeface="Noto Sans KR"/>
              </a:rPr>
              <a:t>결제</a:t>
            </a:r>
            <a:endParaRPr lang="en-US" sz="1238" dirty="0"/>
          </a:p>
        </p:txBody>
      </p:sp>
      <p:sp>
        <p:nvSpPr>
          <p:cNvPr id="161" name="Shape 33"/>
          <p:cNvSpPr/>
          <p:nvPr/>
        </p:nvSpPr>
        <p:spPr>
          <a:xfrm>
            <a:off x="9548217" y="3848993"/>
            <a:ext cx="462186" cy="242888"/>
          </a:xfrm>
          <a:prstGeom prst="roundRect">
            <a:avLst>
              <a:gd name="adj" fmla="val 50000"/>
            </a:avLst>
          </a:prstGeom>
          <a:solidFill>
            <a:srgbClr val="E4C57F">
              <a:alpha val="16000"/>
            </a:srgbClr>
          </a:solidFill>
          <a:ln w="9525">
            <a:solidFill>
              <a:srgbClr val="D9C08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2" name="Text 34"/>
          <p:cNvSpPr/>
          <p:nvPr/>
        </p:nvSpPr>
        <p:spPr>
          <a:xfrm>
            <a:off x="9643467" y="3877568"/>
            <a:ext cx="31790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90672A"/>
                </a:solidFill>
                <a:latin typeface="Noto Sans KR"/>
                <a:ea typeface="Noto Sans KR"/>
                <a:cs typeface="Noto Sans KR"/>
              </a:rPr>
              <a:t>혜택</a:t>
            </a:r>
            <a:endParaRPr lang="en-US" sz="1238" dirty="0"/>
          </a:p>
        </p:txBody>
      </p:sp>
      <p:sp>
        <p:nvSpPr>
          <p:cNvPr id="163" name="Shape 35"/>
          <p:cNvSpPr/>
          <p:nvPr/>
        </p:nvSpPr>
        <p:spPr>
          <a:xfrm>
            <a:off x="10067553" y="3848993"/>
            <a:ext cx="537865" cy="242888"/>
          </a:xfrm>
          <a:prstGeom prst="roundRect">
            <a:avLst>
              <a:gd name="adj" fmla="val 50000"/>
            </a:avLst>
          </a:prstGeom>
          <a:solidFill>
            <a:srgbClr val="E4C57F">
              <a:alpha val="16000"/>
            </a:srgbClr>
          </a:solidFill>
          <a:ln w="9525">
            <a:solidFill>
              <a:srgbClr val="D9C08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4" name="Text 36"/>
          <p:cNvSpPr/>
          <p:nvPr/>
        </p:nvSpPr>
        <p:spPr>
          <a:xfrm>
            <a:off x="10162803" y="3877568"/>
            <a:ext cx="40115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90672A"/>
                </a:solidFill>
                <a:latin typeface="Noto Sans KR"/>
                <a:ea typeface="Noto Sans KR"/>
                <a:cs typeface="Noto Sans KR"/>
              </a:rPr>
              <a:t>CRM</a:t>
            </a:r>
            <a:endParaRPr lang="en-US" sz="1238" dirty="0"/>
          </a:p>
        </p:txBody>
      </p:sp>
      <p:sp>
        <p:nvSpPr>
          <p:cNvPr id="165" name="Shape 37"/>
          <p:cNvSpPr/>
          <p:nvPr/>
        </p:nvSpPr>
        <p:spPr>
          <a:xfrm>
            <a:off x="990600" y="4857155"/>
            <a:ext cx="6495008" cy="1921073"/>
          </a:xfrm>
          <a:prstGeom prst="roundRect">
            <a:avLst>
              <a:gd name="adj" fmla="val 5950"/>
            </a:avLst>
          </a:prstGeom>
          <a:solidFill>
            <a:srgbClr val="FBF9F4"/>
          </a:solidFill>
          <a:ln w="9525">
            <a:solidFill>
              <a:srgbClr val="E7E1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6" name="Text 38"/>
          <p:cNvSpPr/>
          <p:nvPr/>
        </p:nvSpPr>
        <p:spPr>
          <a:xfrm>
            <a:off x="1209675" y="5384304"/>
            <a:ext cx="666254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7C7868"/>
                </a:solidFill>
                <a:latin typeface="Noto Sans KR"/>
                <a:ea typeface="Noto Sans KR"/>
                <a:cs typeface="Noto Sans KR"/>
              </a:rPr>
              <a:t>내부 기능 중심</a:t>
            </a:r>
            <a:endParaRPr lang="en-US" sz="1725" dirty="0"/>
          </a:p>
        </p:txBody>
      </p:sp>
      <p:sp>
        <p:nvSpPr>
          <p:cNvPr id="167" name="Text 39"/>
          <p:cNvSpPr/>
          <p:nvPr/>
        </p:nvSpPr>
        <p:spPr>
          <a:xfrm>
            <a:off x="1209675" y="5684341"/>
            <a:ext cx="6662544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38" dirty="0">
                <a:solidFill>
                  <a:srgbClr val="9A9588"/>
                </a:solidFill>
                <a:latin typeface="Noto Sans KR"/>
                <a:ea typeface="Noto Sans KR"/>
                <a:cs typeface="Noto Sans KR"/>
              </a:rPr>
              <a:t>앱 내부에서 기능 완결</a:t>
            </a:r>
            <a:endParaRPr lang="en-US" sz="1538" dirty="0"/>
          </a:p>
        </p:txBody>
      </p:sp>
      <p:sp>
        <p:nvSpPr>
          <p:cNvPr id="168" name="Shape 40"/>
          <p:cNvSpPr/>
          <p:nvPr/>
        </p:nvSpPr>
        <p:spPr>
          <a:xfrm>
            <a:off x="1209675" y="6003429"/>
            <a:ext cx="462409" cy="247650"/>
          </a:xfrm>
          <a:prstGeom prst="roundRect">
            <a:avLst>
              <a:gd name="adj" fmla="val 50000"/>
            </a:avLst>
          </a:prstGeom>
          <a:ln w="9525">
            <a:solidFill>
              <a:srgbClr val="DCD5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9" name="Text 41"/>
          <p:cNvSpPr/>
          <p:nvPr/>
        </p:nvSpPr>
        <p:spPr>
          <a:xfrm>
            <a:off x="1304925" y="6032004"/>
            <a:ext cx="3181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38" dirty="0">
                <a:solidFill>
                  <a:srgbClr val="9A9588"/>
                </a:solidFill>
                <a:latin typeface="Noto Sans KR"/>
                <a:ea typeface="Noto Sans KR"/>
                <a:cs typeface="Noto Sans KR"/>
              </a:rPr>
              <a:t>폐쇄</a:t>
            </a:r>
            <a:endParaRPr lang="en-US" sz="1238" dirty="0"/>
          </a:p>
        </p:txBody>
      </p:sp>
      <p:sp>
        <p:nvSpPr>
          <p:cNvPr id="170" name="Shape 42"/>
          <p:cNvSpPr/>
          <p:nvPr/>
        </p:nvSpPr>
        <p:spPr>
          <a:xfrm>
            <a:off x="1729234" y="6003429"/>
            <a:ext cx="734318" cy="247650"/>
          </a:xfrm>
          <a:prstGeom prst="roundRect">
            <a:avLst>
              <a:gd name="adj" fmla="val 50000"/>
            </a:avLst>
          </a:prstGeom>
          <a:ln w="9525">
            <a:solidFill>
              <a:srgbClr val="DCD5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1" name="Text 43"/>
          <p:cNvSpPr/>
          <p:nvPr/>
        </p:nvSpPr>
        <p:spPr>
          <a:xfrm>
            <a:off x="1824484" y="6032004"/>
            <a:ext cx="6172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38" dirty="0">
                <a:solidFill>
                  <a:srgbClr val="9A9588"/>
                </a:solidFill>
                <a:latin typeface="Noto Sans KR"/>
                <a:ea typeface="Noto Sans KR"/>
                <a:cs typeface="Noto Sans KR"/>
              </a:rPr>
              <a:t>자체완결</a:t>
            </a:r>
            <a:endParaRPr lang="en-US" sz="1238" dirty="0"/>
          </a:p>
        </p:txBody>
      </p:sp>
      <p:sp>
        <p:nvSpPr>
          <p:cNvPr id="172" name="Shape 44"/>
          <p:cNvSpPr/>
          <p:nvPr/>
        </p:nvSpPr>
        <p:spPr>
          <a:xfrm>
            <a:off x="7742783" y="5571455"/>
            <a:ext cx="266700" cy="266700"/>
          </a:xfrm>
          <a:prstGeom prst="ellipse">
            <a:avLst/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3" name="Text 45"/>
          <p:cNvSpPr/>
          <p:nvPr/>
        </p:nvSpPr>
        <p:spPr>
          <a:xfrm>
            <a:off x="7704683" y="557145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  <a:endParaRPr lang="en-US" sz="1500" dirty="0"/>
          </a:p>
        </p:txBody>
      </p:sp>
      <p:sp>
        <p:nvSpPr>
          <p:cNvPr id="174" name="Text 46"/>
          <p:cNvSpPr/>
          <p:nvPr/>
        </p:nvSpPr>
        <p:spPr>
          <a:xfrm>
            <a:off x="7505254" y="5895305"/>
            <a:ext cx="741759" cy="206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25" b="1" dirty="0">
                <a:solidFill>
                  <a:srgbClr val="A8792B"/>
                </a:solidFill>
                <a:latin typeface="Noto Sans KR"/>
                <a:ea typeface="Noto Sans KR"/>
                <a:cs typeface="Noto Sans KR"/>
              </a:rPr>
              <a:t>데이터·연동</a:t>
            </a:r>
            <a:endParaRPr lang="en-US" sz="1125" dirty="0"/>
          </a:p>
        </p:txBody>
      </p:sp>
      <p:sp>
        <p:nvSpPr>
          <p:cNvPr id="175" name="Shape 47"/>
          <p:cNvSpPr/>
          <p:nvPr/>
        </p:nvSpPr>
        <p:spPr>
          <a:xfrm>
            <a:off x="8266658" y="4857155"/>
            <a:ext cx="8573467" cy="1921073"/>
          </a:xfrm>
          <a:prstGeom prst="roundRect">
            <a:avLst>
              <a:gd name="adj" fmla="val 5950"/>
            </a:avLst>
          </a:prstGeom>
          <a:gradFill rotWithShape="1">
            <a:gsLst>
              <a:gs pos="0">
                <a:srgbClr val="E4C57F">
                  <a:alpha val="12000"/>
                </a:srgbClr>
              </a:gs>
              <a:gs pos="100000">
                <a:srgbClr val="FFFFFF">
                  <a:alpha val="100000"/>
                </a:srgbClr>
              </a:gs>
            </a:gsLst>
            <a:lin ang="3600000" scaled="0"/>
          </a:gradFill>
          <a:ln w="14288">
            <a:solidFill>
              <a:srgbClr val="D9C08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6" name="Text 48"/>
          <p:cNvSpPr/>
          <p:nvPr/>
        </p:nvSpPr>
        <p:spPr>
          <a:xfrm>
            <a:off x="8509546" y="5517654"/>
            <a:ext cx="889646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C1E26"/>
                </a:solidFill>
                <a:latin typeface="Noto Sans KR"/>
                <a:ea typeface="Noto Sans KR"/>
                <a:cs typeface="Noto Sans KR"/>
              </a:rPr>
              <a:t>POS·쿠폰·본인인증·회원원장 외부 연동</a:t>
            </a:r>
            <a:endParaRPr lang="en-US" sz="1725" dirty="0"/>
          </a:p>
        </p:txBody>
      </p:sp>
      <p:sp>
        <p:nvSpPr>
          <p:cNvPr id="177" name="Shape 49"/>
          <p:cNvSpPr/>
          <p:nvPr/>
        </p:nvSpPr>
        <p:spPr>
          <a:xfrm>
            <a:off x="8509546" y="5874841"/>
            <a:ext cx="502221" cy="242888"/>
          </a:xfrm>
          <a:prstGeom prst="roundRect">
            <a:avLst>
              <a:gd name="adj" fmla="val 50000"/>
            </a:avLst>
          </a:prstGeom>
          <a:solidFill>
            <a:srgbClr val="E4C57F">
              <a:alpha val="16000"/>
            </a:srgbClr>
          </a:solidFill>
          <a:ln w="9525">
            <a:solidFill>
              <a:srgbClr val="D9C08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8" name="Text 50"/>
          <p:cNvSpPr/>
          <p:nvPr/>
        </p:nvSpPr>
        <p:spPr>
          <a:xfrm>
            <a:off x="8604796" y="5903416"/>
            <a:ext cx="36194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90672A"/>
                </a:solidFill>
                <a:latin typeface="Noto Sans KR"/>
                <a:ea typeface="Noto Sans KR"/>
                <a:cs typeface="Noto Sans KR"/>
              </a:rPr>
              <a:t>POS</a:t>
            </a:r>
            <a:endParaRPr lang="en-US" sz="1238" dirty="0"/>
          </a:p>
        </p:txBody>
      </p:sp>
      <p:sp>
        <p:nvSpPr>
          <p:cNvPr id="179" name="Shape 51"/>
          <p:cNvSpPr/>
          <p:nvPr/>
        </p:nvSpPr>
        <p:spPr>
          <a:xfrm>
            <a:off x="9068916" y="5874841"/>
            <a:ext cx="462186" cy="242888"/>
          </a:xfrm>
          <a:prstGeom prst="roundRect">
            <a:avLst>
              <a:gd name="adj" fmla="val 50000"/>
            </a:avLst>
          </a:prstGeom>
          <a:solidFill>
            <a:srgbClr val="E4C57F">
              <a:alpha val="16000"/>
            </a:srgbClr>
          </a:solidFill>
          <a:ln w="9525">
            <a:solidFill>
              <a:srgbClr val="D9C08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0" name="Text 52"/>
          <p:cNvSpPr/>
          <p:nvPr/>
        </p:nvSpPr>
        <p:spPr>
          <a:xfrm>
            <a:off x="9164166" y="5903416"/>
            <a:ext cx="31790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90672A"/>
                </a:solidFill>
                <a:latin typeface="Noto Sans KR"/>
                <a:ea typeface="Noto Sans KR"/>
                <a:cs typeface="Noto Sans KR"/>
              </a:rPr>
              <a:t>쿠폰</a:t>
            </a:r>
            <a:endParaRPr lang="en-US" sz="1238" dirty="0"/>
          </a:p>
        </p:txBody>
      </p:sp>
      <p:sp>
        <p:nvSpPr>
          <p:cNvPr id="181" name="Shape 53"/>
          <p:cNvSpPr/>
          <p:nvPr/>
        </p:nvSpPr>
        <p:spPr>
          <a:xfrm>
            <a:off x="9588252" y="5874841"/>
            <a:ext cx="733871" cy="242888"/>
          </a:xfrm>
          <a:prstGeom prst="roundRect">
            <a:avLst>
              <a:gd name="adj" fmla="val 50000"/>
            </a:avLst>
          </a:prstGeom>
          <a:solidFill>
            <a:srgbClr val="E4C57F">
              <a:alpha val="16000"/>
            </a:srgbClr>
          </a:solidFill>
          <a:ln w="9525">
            <a:solidFill>
              <a:srgbClr val="D9C08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2" name="Text 54"/>
          <p:cNvSpPr/>
          <p:nvPr/>
        </p:nvSpPr>
        <p:spPr>
          <a:xfrm>
            <a:off x="9683502" y="5903416"/>
            <a:ext cx="61675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90672A"/>
                </a:solidFill>
                <a:latin typeface="Noto Sans KR"/>
                <a:ea typeface="Noto Sans KR"/>
                <a:cs typeface="Noto Sans KR"/>
              </a:rPr>
              <a:t>본인인증</a:t>
            </a:r>
            <a:endParaRPr lang="en-US" sz="1238" dirty="0"/>
          </a:p>
        </p:txBody>
      </p:sp>
      <p:sp>
        <p:nvSpPr>
          <p:cNvPr id="183" name="Shape 55"/>
          <p:cNvSpPr/>
          <p:nvPr/>
        </p:nvSpPr>
        <p:spPr>
          <a:xfrm>
            <a:off x="10379273" y="5874841"/>
            <a:ext cx="771153" cy="242888"/>
          </a:xfrm>
          <a:prstGeom prst="roundRect">
            <a:avLst>
              <a:gd name="adj" fmla="val 50000"/>
            </a:avLst>
          </a:prstGeom>
          <a:solidFill>
            <a:srgbClr val="E4C57F">
              <a:alpha val="16000"/>
            </a:srgbClr>
          </a:solidFill>
          <a:ln w="9525">
            <a:solidFill>
              <a:srgbClr val="D9C08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4" name="Text 56"/>
          <p:cNvSpPr/>
          <p:nvPr/>
        </p:nvSpPr>
        <p:spPr>
          <a:xfrm>
            <a:off x="10474523" y="5903416"/>
            <a:ext cx="65776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90672A"/>
                </a:solidFill>
                <a:latin typeface="Noto Sans KR"/>
                <a:ea typeface="Noto Sans KR"/>
                <a:cs typeface="Noto Sans KR"/>
              </a:rPr>
              <a:t>원장 대사</a:t>
            </a:r>
            <a:endParaRPr lang="en-US" sz="1238" dirty="0"/>
          </a:p>
        </p:txBody>
      </p:sp>
      <p:sp>
        <p:nvSpPr>
          <p:cNvPr id="185" name="Shape 57"/>
          <p:cNvSpPr/>
          <p:nvPr/>
        </p:nvSpPr>
        <p:spPr>
          <a:xfrm>
            <a:off x="990600" y="6883003"/>
            <a:ext cx="6495008" cy="1921073"/>
          </a:xfrm>
          <a:prstGeom prst="roundRect">
            <a:avLst>
              <a:gd name="adj" fmla="val 5950"/>
            </a:avLst>
          </a:prstGeom>
          <a:solidFill>
            <a:srgbClr val="FBF9F4"/>
          </a:solidFill>
          <a:ln w="9525">
            <a:solidFill>
              <a:srgbClr val="E7E1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6" name="Text 58"/>
          <p:cNvSpPr/>
          <p:nvPr/>
        </p:nvSpPr>
        <p:spPr>
          <a:xfrm>
            <a:off x="1209675" y="7410152"/>
            <a:ext cx="666254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7C7868"/>
                </a:solidFill>
                <a:latin typeface="Noto Sans KR"/>
                <a:ea typeface="Noto Sans KR"/>
                <a:cs typeface="Noto Sans KR"/>
              </a:rPr>
              <a:t>릴리즈 후 종료</a:t>
            </a:r>
            <a:endParaRPr lang="en-US" sz="1725" dirty="0"/>
          </a:p>
        </p:txBody>
      </p:sp>
      <p:sp>
        <p:nvSpPr>
          <p:cNvPr id="187" name="Text 59"/>
          <p:cNvSpPr/>
          <p:nvPr/>
        </p:nvSpPr>
        <p:spPr>
          <a:xfrm>
            <a:off x="1209675" y="7710190"/>
            <a:ext cx="6662544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38" dirty="0">
                <a:solidFill>
                  <a:srgbClr val="9A9588"/>
                </a:solidFill>
                <a:latin typeface="Noto Sans KR"/>
                <a:ea typeface="Noto Sans KR"/>
                <a:cs typeface="Noto Sans KR"/>
              </a:rPr>
              <a:t>배포 시점이 종료 시점</a:t>
            </a:r>
            <a:endParaRPr lang="en-US" sz="1538" dirty="0"/>
          </a:p>
        </p:txBody>
      </p:sp>
      <p:sp>
        <p:nvSpPr>
          <p:cNvPr id="188" name="Shape 60"/>
          <p:cNvSpPr/>
          <p:nvPr/>
        </p:nvSpPr>
        <p:spPr>
          <a:xfrm>
            <a:off x="1209675" y="8029277"/>
            <a:ext cx="549846" cy="247650"/>
          </a:xfrm>
          <a:prstGeom prst="roundRect">
            <a:avLst>
              <a:gd name="adj" fmla="val 50000"/>
            </a:avLst>
          </a:prstGeom>
          <a:ln w="9525">
            <a:solidFill>
              <a:srgbClr val="DCD5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9" name="Text 61"/>
          <p:cNvSpPr/>
          <p:nvPr/>
        </p:nvSpPr>
        <p:spPr>
          <a:xfrm>
            <a:off x="1304925" y="8057852"/>
            <a:ext cx="4143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38" dirty="0">
                <a:solidFill>
                  <a:srgbClr val="9A9588"/>
                </a:solidFill>
                <a:latin typeface="Noto Sans KR"/>
                <a:ea typeface="Noto Sans KR"/>
                <a:cs typeface="Noto Sans KR"/>
              </a:rPr>
              <a:t>1회성</a:t>
            </a:r>
            <a:endParaRPr lang="en-US" sz="1238" dirty="0"/>
          </a:p>
        </p:txBody>
      </p:sp>
      <p:sp>
        <p:nvSpPr>
          <p:cNvPr id="190" name="Shape 62"/>
          <p:cNvSpPr/>
          <p:nvPr/>
        </p:nvSpPr>
        <p:spPr>
          <a:xfrm>
            <a:off x="1816671" y="8029277"/>
            <a:ext cx="598363" cy="247650"/>
          </a:xfrm>
          <a:prstGeom prst="roundRect">
            <a:avLst>
              <a:gd name="adj" fmla="val 50000"/>
            </a:avLst>
          </a:prstGeom>
          <a:ln w="9525">
            <a:solidFill>
              <a:srgbClr val="DCD5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1" name="Text 63"/>
          <p:cNvSpPr/>
          <p:nvPr/>
        </p:nvSpPr>
        <p:spPr>
          <a:xfrm>
            <a:off x="1911921" y="8057852"/>
            <a:ext cx="467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38" dirty="0">
                <a:solidFill>
                  <a:srgbClr val="9A9588"/>
                </a:solidFill>
                <a:latin typeface="Noto Sans KR"/>
                <a:ea typeface="Noto Sans KR"/>
                <a:cs typeface="Noto Sans KR"/>
              </a:rPr>
              <a:t>무운영</a:t>
            </a:r>
            <a:endParaRPr lang="en-US" sz="1238" dirty="0"/>
          </a:p>
        </p:txBody>
      </p:sp>
      <p:sp>
        <p:nvSpPr>
          <p:cNvPr id="192" name="Shape 64"/>
          <p:cNvSpPr/>
          <p:nvPr/>
        </p:nvSpPr>
        <p:spPr>
          <a:xfrm>
            <a:off x="7742783" y="7597304"/>
            <a:ext cx="266700" cy="266700"/>
          </a:xfrm>
          <a:prstGeom prst="ellipse">
            <a:avLst/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3" name="Text 65"/>
          <p:cNvSpPr/>
          <p:nvPr/>
        </p:nvSpPr>
        <p:spPr>
          <a:xfrm>
            <a:off x="7704683" y="7597304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  <a:endParaRPr lang="en-US" sz="1500" dirty="0"/>
          </a:p>
        </p:txBody>
      </p:sp>
      <p:sp>
        <p:nvSpPr>
          <p:cNvPr id="194" name="Text 66"/>
          <p:cNvSpPr/>
          <p:nvPr/>
        </p:nvSpPr>
        <p:spPr>
          <a:xfrm>
            <a:off x="7570961" y="7921154"/>
            <a:ext cx="610270" cy="206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25" b="1" dirty="0">
                <a:solidFill>
                  <a:srgbClr val="A8792B"/>
                </a:solidFill>
                <a:latin typeface="Noto Sans KR"/>
                <a:ea typeface="Noto Sans KR"/>
                <a:cs typeface="Noto Sans KR"/>
              </a:rPr>
              <a:t>운영 지속</a:t>
            </a:r>
            <a:endParaRPr lang="en-US" sz="1125" dirty="0"/>
          </a:p>
        </p:txBody>
      </p:sp>
      <p:sp>
        <p:nvSpPr>
          <p:cNvPr id="195" name="Shape 67"/>
          <p:cNvSpPr/>
          <p:nvPr/>
        </p:nvSpPr>
        <p:spPr>
          <a:xfrm>
            <a:off x="8266658" y="6883003"/>
            <a:ext cx="8573467" cy="1921073"/>
          </a:xfrm>
          <a:prstGeom prst="roundRect">
            <a:avLst>
              <a:gd name="adj" fmla="val 5950"/>
            </a:avLst>
          </a:prstGeom>
          <a:gradFill rotWithShape="1">
            <a:gsLst>
              <a:gs pos="0">
                <a:srgbClr val="E4C57F">
                  <a:alpha val="12000"/>
                </a:srgbClr>
              </a:gs>
              <a:gs pos="100000">
                <a:srgbClr val="FFFFFF">
                  <a:alpha val="100000"/>
                </a:srgbClr>
              </a:gs>
            </a:gsLst>
            <a:lin ang="3600000" scaled="0"/>
          </a:gradFill>
          <a:ln w="14288">
            <a:solidFill>
              <a:srgbClr val="D9C08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6" name="Text 68"/>
          <p:cNvSpPr/>
          <p:nvPr/>
        </p:nvSpPr>
        <p:spPr>
          <a:xfrm>
            <a:off x="8509546" y="7543502"/>
            <a:ext cx="889646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C1E26"/>
                </a:solidFill>
                <a:latin typeface="Noto Sans KR"/>
                <a:ea typeface="Noto Sans KR"/>
                <a:cs typeface="Noto Sans KR"/>
              </a:rPr>
              <a:t>운영·대사·재처리·CS가 지속</a:t>
            </a:r>
            <a:endParaRPr lang="en-US" sz="1725" dirty="0"/>
          </a:p>
        </p:txBody>
      </p:sp>
      <p:sp>
        <p:nvSpPr>
          <p:cNvPr id="197" name="Shape 69"/>
          <p:cNvSpPr/>
          <p:nvPr/>
        </p:nvSpPr>
        <p:spPr>
          <a:xfrm>
            <a:off x="8509546" y="7900690"/>
            <a:ext cx="462186" cy="242888"/>
          </a:xfrm>
          <a:prstGeom prst="roundRect">
            <a:avLst>
              <a:gd name="adj" fmla="val 50000"/>
            </a:avLst>
          </a:prstGeom>
          <a:solidFill>
            <a:srgbClr val="E4C57F">
              <a:alpha val="16000"/>
            </a:srgbClr>
          </a:solidFill>
          <a:ln w="9525">
            <a:solidFill>
              <a:srgbClr val="D9C08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8" name="Text 70"/>
          <p:cNvSpPr/>
          <p:nvPr/>
        </p:nvSpPr>
        <p:spPr>
          <a:xfrm>
            <a:off x="8604796" y="7929265"/>
            <a:ext cx="31790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90672A"/>
                </a:solidFill>
                <a:latin typeface="Noto Sans KR"/>
                <a:ea typeface="Noto Sans KR"/>
                <a:cs typeface="Noto Sans KR"/>
              </a:rPr>
              <a:t>대사</a:t>
            </a:r>
            <a:endParaRPr lang="en-US" sz="1238" dirty="0"/>
          </a:p>
        </p:txBody>
      </p:sp>
      <p:sp>
        <p:nvSpPr>
          <p:cNvPr id="199" name="Shape 71"/>
          <p:cNvSpPr/>
          <p:nvPr/>
        </p:nvSpPr>
        <p:spPr>
          <a:xfrm>
            <a:off x="9028881" y="7900690"/>
            <a:ext cx="597991" cy="242888"/>
          </a:xfrm>
          <a:prstGeom prst="roundRect">
            <a:avLst>
              <a:gd name="adj" fmla="val 50000"/>
            </a:avLst>
          </a:prstGeom>
          <a:solidFill>
            <a:srgbClr val="E4C57F">
              <a:alpha val="16000"/>
            </a:srgbClr>
          </a:solidFill>
          <a:ln w="9525">
            <a:solidFill>
              <a:srgbClr val="D9C08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0" name="Text 72"/>
          <p:cNvSpPr/>
          <p:nvPr/>
        </p:nvSpPr>
        <p:spPr>
          <a:xfrm>
            <a:off x="9124131" y="7929265"/>
            <a:ext cx="46729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90672A"/>
                </a:solidFill>
                <a:latin typeface="Noto Sans KR"/>
                <a:ea typeface="Noto Sans KR"/>
                <a:cs typeface="Noto Sans KR"/>
              </a:rPr>
              <a:t>재처리</a:t>
            </a:r>
            <a:endParaRPr lang="en-US" sz="1238" dirty="0"/>
          </a:p>
        </p:txBody>
      </p:sp>
      <p:sp>
        <p:nvSpPr>
          <p:cNvPr id="201" name="Shape 73"/>
          <p:cNvSpPr/>
          <p:nvPr/>
        </p:nvSpPr>
        <p:spPr>
          <a:xfrm>
            <a:off x="9684023" y="7900690"/>
            <a:ext cx="400496" cy="242888"/>
          </a:xfrm>
          <a:prstGeom prst="roundRect">
            <a:avLst>
              <a:gd name="adj" fmla="val 50000"/>
            </a:avLst>
          </a:prstGeom>
          <a:solidFill>
            <a:srgbClr val="E4C57F">
              <a:alpha val="16000"/>
            </a:srgbClr>
          </a:solidFill>
          <a:ln w="9525">
            <a:solidFill>
              <a:srgbClr val="D9C08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2" name="Text 74"/>
          <p:cNvSpPr/>
          <p:nvPr/>
        </p:nvSpPr>
        <p:spPr>
          <a:xfrm>
            <a:off x="9779273" y="7929265"/>
            <a:ext cx="25004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90672A"/>
                </a:solidFill>
                <a:latin typeface="Noto Sans KR"/>
                <a:ea typeface="Noto Sans KR"/>
                <a:cs typeface="Noto Sans KR"/>
              </a:rPr>
              <a:t>CS</a:t>
            </a:r>
            <a:endParaRPr lang="en-US" sz="1238" dirty="0"/>
          </a:p>
        </p:txBody>
      </p:sp>
      <p:sp>
        <p:nvSpPr>
          <p:cNvPr id="203" name="Shape 75"/>
          <p:cNvSpPr/>
          <p:nvPr/>
        </p:nvSpPr>
        <p:spPr>
          <a:xfrm>
            <a:off x="10141669" y="7900690"/>
            <a:ext cx="733871" cy="242888"/>
          </a:xfrm>
          <a:prstGeom prst="roundRect">
            <a:avLst>
              <a:gd name="adj" fmla="val 50000"/>
            </a:avLst>
          </a:prstGeom>
          <a:solidFill>
            <a:srgbClr val="E4C57F">
              <a:alpha val="16000"/>
            </a:srgbClr>
          </a:solidFill>
          <a:ln w="9525">
            <a:solidFill>
              <a:srgbClr val="D9C08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Text 76"/>
          <p:cNvSpPr/>
          <p:nvPr/>
        </p:nvSpPr>
        <p:spPr>
          <a:xfrm>
            <a:off x="10236919" y="7929265"/>
            <a:ext cx="61675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90672A"/>
                </a:solidFill>
                <a:latin typeface="Noto Sans KR"/>
                <a:ea typeface="Noto Sans KR"/>
                <a:cs typeface="Noto Sans KR"/>
              </a:rPr>
              <a:t>모니터링</a:t>
            </a:r>
            <a:endParaRPr lang="en-US" sz="1238" dirty="0"/>
          </a:p>
        </p:txBody>
      </p:sp>
      <p:sp>
        <p:nvSpPr>
          <p:cNvPr id="205" name="Shape 77"/>
          <p:cNvSpPr/>
          <p:nvPr/>
        </p:nvSpPr>
        <p:spPr>
          <a:xfrm>
            <a:off x="990600" y="8908852"/>
            <a:ext cx="6495008" cy="1921073"/>
          </a:xfrm>
          <a:prstGeom prst="roundRect">
            <a:avLst>
              <a:gd name="adj" fmla="val 5950"/>
            </a:avLst>
          </a:prstGeom>
          <a:solidFill>
            <a:srgbClr val="FBF9F4"/>
          </a:solidFill>
          <a:ln w="9525">
            <a:solidFill>
              <a:srgbClr val="E7E1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6" name="Text 78"/>
          <p:cNvSpPr/>
          <p:nvPr/>
        </p:nvSpPr>
        <p:spPr>
          <a:xfrm>
            <a:off x="1209675" y="9436001"/>
            <a:ext cx="666254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7C7868"/>
                </a:solidFill>
                <a:latin typeface="Noto Sans KR"/>
                <a:ea typeface="Noto Sans KR"/>
                <a:cs typeface="Noto Sans KR"/>
              </a:rPr>
              <a:t>단일 사용자</a:t>
            </a:r>
            <a:endParaRPr lang="en-US" sz="1725" dirty="0"/>
          </a:p>
        </p:txBody>
      </p:sp>
      <p:sp>
        <p:nvSpPr>
          <p:cNvPr id="207" name="Text 79"/>
          <p:cNvSpPr/>
          <p:nvPr/>
        </p:nvSpPr>
        <p:spPr>
          <a:xfrm>
            <a:off x="1209675" y="9736038"/>
            <a:ext cx="6662544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38" dirty="0">
                <a:solidFill>
                  <a:srgbClr val="9A9588"/>
                </a:solidFill>
                <a:latin typeface="Noto Sans KR"/>
                <a:ea typeface="Noto Sans KR"/>
                <a:cs typeface="Noto Sans KR"/>
              </a:rPr>
              <a:t>1인 고객 시점만 가정</a:t>
            </a:r>
            <a:endParaRPr lang="en-US" sz="1538" dirty="0"/>
          </a:p>
        </p:txBody>
      </p:sp>
      <p:sp>
        <p:nvSpPr>
          <p:cNvPr id="208" name="Shape 80"/>
          <p:cNvSpPr/>
          <p:nvPr/>
        </p:nvSpPr>
        <p:spPr>
          <a:xfrm>
            <a:off x="1209675" y="10055126"/>
            <a:ext cx="462409" cy="247650"/>
          </a:xfrm>
          <a:prstGeom prst="roundRect">
            <a:avLst>
              <a:gd name="adj" fmla="val 50000"/>
            </a:avLst>
          </a:prstGeom>
          <a:ln w="9525">
            <a:solidFill>
              <a:srgbClr val="DCD5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9" name="Text 81"/>
          <p:cNvSpPr/>
          <p:nvPr/>
        </p:nvSpPr>
        <p:spPr>
          <a:xfrm>
            <a:off x="1304925" y="10083701"/>
            <a:ext cx="3181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38" dirty="0">
                <a:solidFill>
                  <a:srgbClr val="9A9588"/>
                </a:solidFill>
                <a:latin typeface="Noto Sans KR"/>
                <a:ea typeface="Noto Sans KR"/>
                <a:cs typeface="Noto Sans KR"/>
              </a:rPr>
              <a:t>단면</a:t>
            </a:r>
            <a:endParaRPr lang="en-US" sz="1238" dirty="0"/>
          </a:p>
        </p:txBody>
      </p:sp>
      <p:sp>
        <p:nvSpPr>
          <p:cNvPr id="210" name="Shape 82"/>
          <p:cNvSpPr/>
          <p:nvPr/>
        </p:nvSpPr>
        <p:spPr>
          <a:xfrm>
            <a:off x="1729234" y="10055126"/>
            <a:ext cx="598363" cy="247650"/>
          </a:xfrm>
          <a:prstGeom prst="roundRect">
            <a:avLst>
              <a:gd name="adj" fmla="val 50000"/>
            </a:avLst>
          </a:prstGeom>
          <a:ln w="9525">
            <a:solidFill>
              <a:srgbClr val="DCD5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1" name="Text 83"/>
          <p:cNvSpPr/>
          <p:nvPr/>
        </p:nvSpPr>
        <p:spPr>
          <a:xfrm>
            <a:off x="1824484" y="10083701"/>
            <a:ext cx="467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38" dirty="0">
                <a:solidFill>
                  <a:srgbClr val="9A9588"/>
                </a:solidFill>
                <a:latin typeface="Noto Sans KR"/>
                <a:ea typeface="Noto Sans KR"/>
                <a:cs typeface="Noto Sans KR"/>
              </a:rPr>
              <a:t>개인용</a:t>
            </a:r>
            <a:endParaRPr lang="en-US" sz="1238" dirty="0"/>
          </a:p>
        </p:txBody>
      </p:sp>
      <p:sp>
        <p:nvSpPr>
          <p:cNvPr id="212" name="Shape 84"/>
          <p:cNvSpPr/>
          <p:nvPr/>
        </p:nvSpPr>
        <p:spPr>
          <a:xfrm>
            <a:off x="7742783" y="9623152"/>
            <a:ext cx="266700" cy="266700"/>
          </a:xfrm>
          <a:prstGeom prst="ellipse">
            <a:avLst/>
          </a:prstGeom>
          <a:gradFill rotWithShape="1">
            <a:gsLst>
              <a:gs pos="0">
                <a:srgbClr val="E4C57F">
                  <a:alpha val="100000"/>
                </a:srgbClr>
              </a:gs>
              <a:gs pos="100000">
                <a:srgbClr val="BE883A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3" name="Text 85"/>
          <p:cNvSpPr/>
          <p:nvPr/>
        </p:nvSpPr>
        <p:spPr>
          <a:xfrm>
            <a:off x="7704683" y="9623152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  <a:endParaRPr lang="en-US" sz="1500" dirty="0"/>
          </a:p>
        </p:txBody>
      </p:sp>
      <p:sp>
        <p:nvSpPr>
          <p:cNvPr id="214" name="Text 86"/>
          <p:cNvSpPr/>
          <p:nvPr/>
        </p:nvSpPr>
        <p:spPr>
          <a:xfrm>
            <a:off x="7567017" y="9947002"/>
            <a:ext cx="618158" cy="206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25" b="1" dirty="0">
                <a:solidFill>
                  <a:srgbClr val="A8792B"/>
                </a:solidFill>
                <a:latin typeface="Noto Sans KR"/>
                <a:ea typeface="Noto Sans KR"/>
                <a:cs typeface="Noto Sans KR"/>
              </a:rPr>
              <a:t>주체·확장</a:t>
            </a:r>
            <a:endParaRPr lang="en-US" sz="1125" dirty="0"/>
          </a:p>
        </p:txBody>
      </p:sp>
      <p:sp>
        <p:nvSpPr>
          <p:cNvPr id="215" name="Shape 87"/>
          <p:cNvSpPr/>
          <p:nvPr/>
        </p:nvSpPr>
        <p:spPr>
          <a:xfrm>
            <a:off x="8266658" y="8908852"/>
            <a:ext cx="8573467" cy="1921073"/>
          </a:xfrm>
          <a:prstGeom prst="roundRect">
            <a:avLst>
              <a:gd name="adj" fmla="val 5950"/>
            </a:avLst>
          </a:prstGeom>
          <a:gradFill rotWithShape="1">
            <a:gsLst>
              <a:gs pos="0">
                <a:srgbClr val="E4C57F">
                  <a:alpha val="12000"/>
                </a:srgbClr>
              </a:gs>
              <a:gs pos="100000">
                <a:srgbClr val="FFFFFF">
                  <a:alpha val="100000"/>
                </a:srgbClr>
              </a:gs>
            </a:gsLst>
            <a:lin ang="3600000" scaled="0"/>
          </a:gradFill>
          <a:ln w="14288">
            <a:solidFill>
              <a:srgbClr val="D9C08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6" name="Text 88"/>
          <p:cNvSpPr/>
          <p:nvPr/>
        </p:nvSpPr>
        <p:spPr>
          <a:xfrm>
            <a:off x="8509546" y="9569351"/>
            <a:ext cx="889646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C1E26"/>
                </a:solidFill>
                <a:latin typeface="Noto Sans KR"/>
                <a:ea typeface="Noto Sans KR"/>
                <a:cs typeface="Noto Sans KR"/>
              </a:rPr>
              <a:t>고객·매장·운영자·브랜드 다면 구조</a:t>
            </a:r>
            <a:endParaRPr lang="en-US" sz="1725" dirty="0"/>
          </a:p>
        </p:txBody>
      </p:sp>
      <p:sp>
        <p:nvSpPr>
          <p:cNvPr id="217" name="Shape 89"/>
          <p:cNvSpPr/>
          <p:nvPr/>
        </p:nvSpPr>
        <p:spPr>
          <a:xfrm>
            <a:off x="8509546" y="9926538"/>
            <a:ext cx="462186" cy="242888"/>
          </a:xfrm>
          <a:prstGeom prst="roundRect">
            <a:avLst>
              <a:gd name="adj" fmla="val 50000"/>
            </a:avLst>
          </a:prstGeom>
          <a:solidFill>
            <a:srgbClr val="E4C57F">
              <a:alpha val="16000"/>
            </a:srgbClr>
          </a:solidFill>
          <a:ln w="9525">
            <a:solidFill>
              <a:srgbClr val="D9C08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8" name="Text 90"/>
          <p:cNvSpPr/>
          <p:nvPr/>
        </p:nvSpPr>
        <p:spPr>
          <a:xfrm>
            <a:off x="8604796" y="9955113"/>
            <a:ext cx="31790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90672A"/>
                </a:solidFill>
                <a:latin typeface="Noto Sans KR"/>
                <a:ea typeface="Noto Sans KR"/>
                <a:cs typeface="Noto Sans KR"/>
              </a:rPr>
              <a:t>고객</a:t>
            </a:r>
            <a:endParaRPr lang="en-US" sz="1238" dirty="0"/>
          </a:p>
        </p:txBody>
      </p:sp>
      <p:sp>
        <p:nvSpPr>
          <p:cNvPr id="219" name="Shape 91"/>
          <p:cNvSpPr/>
          <p:nvPr/>
        </p:nvSpPr>
        <p:spPr>
          <a:xfrm>
            <a:off x="9028881" y="9926538"/>
            <a:ext cx="462186" cy="242888"/>
          </a:xfrm>
          <a:prstGeom prst="roundRect">
            <a:avLst>
              <a:gd name="adj" fmla="val 50000"/>
            </a:avLst>
          </a:prstGeom>
          <a:solidFill>
            <a:srgbClr val="E4C57F">
              <a:alpha val="16000"/>
            </a:srgbClr>
          </a:solidFill>
          <a:ln w="9525">
            <a:solidFill>
              <a:srgbClr val="D9C08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0" name="Text 92"/>
          <p:cNvSpPr/>
          <p:nvPr/>
        </p:nvSpPr>
        <p:spPr>
          <a:xfrm>
            <a:off x="9124131" y="9955113"/>
            <a:ext cx="31790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90672A"/>
                </a:solidFill>
                <a:latin typeface="Noto Sans KR"/>
                <a:ea typeface="Noto Sans KR"/>
                <a:cs typeface="Noto Sans KR"/>
              </a:rPr>
              <a:t>매장</a:t>
            </a:r>
            <a:endParaRPr lang="en-US" sz="1238" dirty="0"/>
          </a:p>
        </p:txBody>
      </p:sp>
      <p:sp>
        <p:nvSpPr>
          <p:cNvPr id="221" name="Shape 93"/>
          <p:cNvSpPr/>
          <p:nvPr/>
        </p:nvSpPr>
        <p:spPr>
          <a:xfrm>
            <a:off x="9548217" y="9926538"/>
            <a:ext cx="597991" cy="242888"/>
          </a:xfrm>
          <a:prstGeom prst="roundRect">
            <a:avLst>
              <a:gd name="adj" fmla="val 50000"/>
            </a:avLst>
          </a:prstGeom>
          <a:solidFill>
            <a:srgbClr val="E4C57F">
              <a:alpha val="16000"/>
            </a:srgbClr>
          </a:solidFill>
          <a:ln w="9525">
            <a:solidFill>
              <a:srgbClr val="D9C08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2" name="Text 94"/>
          <p:cNvSpPr/>
          <p:nvPr/>
        </p:nvSpPr>
        <p:spPr>
          <a:xfrm>
            <a:off x="9643467" y="9955113"/>
            <a:ext cx="46729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90672A"/>
                </a:solidFill>
                <a:latin typeface="Noto Sans KR"/>
                <a:ea typeface="Noto Sans KR"/>
                <a:cs typeface="Noto Sans KR"/>
              </a:rPr>
              <a:t>운영자</a:t>
            </a:r>
            <a:endParaRPr lang="en-US" sz="1238" dirty="0"/>
          </a:p>
        </p:txBody>
      </p:sp>
      <p:sp>
        <p:nvSpPr>
          <p:cNvPr id="223" name="Shape 95"/>
          <p:cNvSpPr/>
          <p:nvPr/>
        </p:nvSpPr>
        <p:spPr>
          <a:xfrm>
            <a:off x="10203359" y="9926538"/>
            <a:ext cx="597991" cy="242888"/>
          </a:xfrm>
          <a:prstGeom prst="roundRect">
            <a:avLst>
              <a:gd name="adj" fmla="val 50000"/>
            </a:avLst>
          </a:prstGeom>
          <a:solidFill>
            <a:srgbClr val="E4C57F">
              <a:alpha val="16000"/>
            </a:srgbClr>
          </a:solidFill>
          <a:ln w="9525">
            <a:solidFill>
              <a:srgbClr val="D9C08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4" name="Text 96"/>
          <p:cNvSpPr/>
          <p:nvPr/>
        </p:nvSpPr>
        <p:spPr>
          <a:xfrm>
            <a:off x="10298609" y="9955113"/>
            <a:ext cx="46729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90672A"/>
                </a:solidFill>
                <a:latin typeface="Noto Sans KR"/>
                <a:ea typeface="Noto Sans KR"/>
                <a:cs typeface="Noto Sans KR"/>
              </a:rPr>
              <a:t>브랜드</a:t>
            </a:r>
            <a:endParaRPr lang="en-US" sz="1238" dirty="0"/>
          </a:p>
        </p:txBody>
      </p:sp>
      <p:sp>
        <p:nvSpPr>
          <p:cNvPr id="225" name="Shape 97"/>
          <p:cNvSpPr/>
          <p:nvPr/>
        </p:nvSpPr>
        <p:spPr>
          <a:xfrm>
            <a:off x="990600" y="10963275"/>
            <a:ext cx="15849600" cy="581025"/>
          </a:xfrm>
          <a:prstGeom prst="roundRect">
            <a:avLst>
              <a:gd name="adj" fmla="val 21311"/>
            </a:avLst>
          </a:prstGeom>
          <a:solidFill>
            <a:srgbClr val="12141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7" name="Text 99"/>
          <p:cNvSpPr/>
          <p:nvPr/>
        </p:nvSpPr>
        <p:spPr>
          <a:xfrm>
            <a:off x="1276350" y="11115675"/>
            <a:ext cx="1089177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그래서 화면 완성이 아니라, </a:t>
            </a:r>
            <a:r>
              <a:rPr lang="en-US" sz="1800" b="1" dirty="0">
                <a:solidFill>
                  <a:srgbClr val="E2BE73"/>
                </a:solidFill>
                <a:latin typeface="Noto Sans KR"/>
                <a:ea typeface="Noto Sans KR"/>
                <a:cs typeface="Noto Sans KR"/>
              </a:rPr>
              <a:t>방문–혜택–CRM–재방문으로 이어지는 운영 순환 구조</a:t>
            </a:r>
            <a:r>
              <a:rPr lang="en-US" sz="18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 본 사업의 성공 기준입니다.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10692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985</Words>
  <Application>Microsoft Office PowerPoint</Application>
  <PresentationFormat>사용자 지정</PresentationFormat>
  <Paragraphs>269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Noto Sans KR</vt:lpstr>
      <vt:lpstr>맑은 고딕</vt:lpstr>
      <vt:lpstr>Arial</vt:lpstr>
      <vt:lpstr>Calibri</vt:lpstr>
      <vt:lpstr>Calibri Light</vt:lpstr>
      <vt:lpstr>Courier New</vt:lpstr>
      <vt:lpstr>Office Theme</vt:lpstr>
      <vt:lpstr>PowerPoint 프레젠테이션</vt:lpstr>
      <vt:lpstr>PowerPoint 프레젠테이션</vt:lpstr>
      <vt:lpstr>PowerPoint 프레젠테이션</vt:lpstr>
      <vt:lpstr>01</vt:lpstr>
      <vt:lpstr>63빌딩, 오프라인 공간을 데이터 플랫폼으로</vt:lpstr>
      <vt:lpstr>고객 행동의 데이터 전환 구조</vt:lpstr>
      <vt:lpstr>여섯 요소가 결합된 통합 사업</vt:lpstr>
      <vt:lpstr>일반 앱 개발과의 구조적 차이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디자이너</cp:lastModifiedBy>
  <cp:revision>10</cp:revision>
  <dcterms:created xsi:type="dcterms:W3CDTF">2026-06-29T06:20:13Z</dcterms:created>
  <dcterms:modified xsi:type="dcterms:W3CDTF">2026-06-29T07:26:54Z</dcterms:modified>
</cp:coreProperties>
</file>